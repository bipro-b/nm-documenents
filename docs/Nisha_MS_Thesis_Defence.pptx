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Inhibition (%)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T. asperellum</c:v>
                  </c:pt>
                  <c:pt idx="1">
                    <c:v>T. harzianum</c:v>
                  </c:pt>
                  <c:pt idx="2">
                    <c:v>T. viride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90.74</c:v>
                </c:pt>
                <c:pt idx="1">
                  <c:v>88.15</c:v>
                </c:pt>
                <c:pt idx="2">
                  <c:v>65.93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F2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3DED7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9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6B66"/>
                    </a:solidFill>
                    <a:latin typeface="Calibri"/>
                  </a:defRPr>
                </a:pPr>
                <a:r>
                  <a:rPr sz="1200" b="0" i="0" u="none" strike="noStrike">
                    <a:solidFill>
                      <a:srgbClr val="5F6B66"/>
                    </a:solidFill>
                    <a:latin typeface="Calibri"/>
                  </a:rPr>
                  <a:t>Mycelial growth inhibition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5596128" y="411480"/>
            <a:ext cx="1005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logo</a:t>
            </a:r>
            <a:endParaRPr lang="en-US" sz="1100" dirty="0"/>
          </a:p>
        </p:txBody>
      </p:sp>
      <p:sp>
        <p:nvSpPr>
          <p:cNvPr id="3" name="Text 0"/>
          <p:cNvSpPr/>
          <p:nvPr>
            <p:ph type="pic" idx="101" hasCustomPrompt="1"/>
          </p:nvPr>
        </p:nvSpPr>
        <p:spPr>
          <a:xfrm>
            <a:off x="731520" y="4315968"/>
            <a:ext cx="1143000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E4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OW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548640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4" name="Text 1"/>
          <p:cNvSpPr/>
          <p:nvPr>
            <p:ph type="pic" idx="102" hasCustomPrompt="1"/>
          </p:nvPr>
        </p:nvSpPr>
        <p:spPr>
          <a:xfrm>
            <a:off x="2807208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5" name="Text 1"/>
          <p:cNvSpPr/>
          <p:nvPr>
            <p:ph type="pic" idx="103" hasCustomPrompt="1"/>
          </p:nvPr>
        </p:nvSpPr>
        <p:spPr>
          <a:xfrm>
            <a:off x="5065776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6" name="Text 1"/>
          <p:cNvSpPr/>
          <p:nvPr>
            <p:ph type="pic" idx="104" hasCustomPrompt="1"/>
          </p:nvPr>
        </p:nvSpPr>
        <p:spPr>
          <a:xfrm>
            <a:off x="7324344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7" name="Text 1"/>
          <p:cNvSpPr/>
          <p:nvPr>
            <p:ph type="pic" idx="105" hasCustomPrompt="1"/>
          </p:nvPr>
        </p:nvSpPr>
        <p:spPr>
          <a:xfrm>
            <a:off x="9582912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ID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548640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4" name="Text 1"/>
          <p:cNvSpPr/>
          <p:nvPr>
            <p:ph type="pic" idx="102" hasCustomPrompt="1"/>
          </p:nvPr>
        </p:nvSpPr>
        <p:spPr>
          <a:xfrm>
            <a:off x="3447288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5" name="Text 1"/>
          <p:cNvSpPr/>
          <p:nvPr>
            <p:ph type="pic" idx="103" hasCustomPrompt="1"/>
          </p:nvPr>
        </p:nvSpPr>
        <p:spPr>
          <a:xfrm>
            <a:off x="548640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6" name="Text 1"/>
          <p:cNvSpPr/>
          <p:nvPr>
            <p:ph type="pic" idx="104" hasCustomPrompt="1"/>
          </p:nvPr>
        </p:nvSpPr>
        <p:spPr>
          <a:xfrm>
            <a:off x="3447288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OW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548640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4" name="Text 1"/>
          <p:cNvSpPr/>
          <p:nvPr>
            <p:ph type="pic" idx="102" hasCustomPrompt="1"/>
          </p:nvPr>
        </p:nvSpPr>
        <p:spPr>
          <a:xfrm>
            <a:off x="3364992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5" name="Text 1"/>
          <p:cNvSpPr/>
          <p:nvPr>
            <p:ph type="pic" idx="103" hasCustomPrompt="1"/>
          </p:nvPr>
        </p:nvSpPr>
        <p:spPr>
          <a:xfrm>
            <a:off x="6181344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6" name="Text 1"/>
          <p:cNvSpPr/>
          <p:nvPr>
            <p:ph type="pic" idx="104" hasCustomPrompt="1"/>
          </p:nvPr>
        </p:nvSpPr>
        <p:spPr>
          <a:xfrm>
            <a:off x="8997696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548640" y="1481328"/>
            <a:ext cx="6492240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I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548640" y="1481328"/>
            <a:ext cx="315468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4" name="Text 1"/>
          <p:cNvSpPr/>
          <p:nvPr>
            <p:ph type="pic" idx="102" hasCustomPrompt="1"/>
          </p:nvPr>
        </p:nvSpPr>
        <p:spPr>
          <a:xfrm>
            <a:off x="3886200" y="1481328"/>
            <a:ext cx="315468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IR_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00" dirty="0"/>
          </a:p>
        </p:txBody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5623560" y="1481328"/>
            <a:ext cx="292608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4" name="Text 1"/>
          <p:cNvSpPr/>
          <p:nvPr>
            <p:ph type="pic" idx="102" hasCustomPrompt="1"/>
          </p:nvPr>
        </p:nvSpPr>
        <p:spPr>
          <a:xfrm>
            <a:off x="8714232" y="1481328"/>
            <a:ext cx="292608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60520"/>
            <a:ext cx="3611880" cy="17830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3" name="Text 0"/>
          <p:cNvSpPr/>
          <p:nvPr>
            <p:ph type="pic" idx="100" hasCustomPrompt="1"/>
          </p:nvPr>
        </p:nvSpPr>
        <p:spPr>
          <a:xfrm>
            <a:off x="5596128" y="411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type="pic" idx="101" hasCustomPrompt="1"/>
          </p:nvPr>
        </p:nvSpPr>
        <p:spPr>
          <a:xfrm>
            <a:off x="731520" y="4315968"/>
            <a:ext cx="1143000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27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THESIS DEFENCE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0195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Plant Pathology  ·  Bangladesh Agricultural University, Mymensingh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86000"/>
            <a:ext cx="9994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AND CHARACTERIZATION OF </a:t>
            </a:r>
            <a:r>
              <a:rPr lang="en-US" sz="2700" b="1" i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Cercospora</a:t>
            </a:r>
            <a:r>
              <a:rPr lang="en-US" sz="2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sp. CAUSING LEAF SPOT ON ROSELLE (</a:t>
            </a:r>
            <a:r>
              <a:rPr lang="en-US" sz="2700" b="1" i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Hibiscus sabdariffa</a:t>
            </a:r>
            <a:r>
              <a:rPr lang="en-US" sz="2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L.) AND ITS MANAGEMENT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2029968" y="4315968"/>
            <a:ext cx="2057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Nisha Mazumder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No.: 24120508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No.: 49427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2018–19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4160520"/>
            <a:ext cx="3566160" cy="17830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4568" y="4315968"/>
            <a:ext cx="3200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Prof. Dr. Mohammad Delwar Hossain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Professor, Department of Plant Pathology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Agricultural University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Mymensingh-2202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74152" y="4160520"/>
            <a:ext cx="3566160" cy="17830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4315968"/>
            <a:ext cx="3200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CO-SUPERVISOR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Prof. Dr. Islam Hamim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and Head, Department of Plant Pathology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Agricultural University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Mymensingh-2202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1600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Background, significance of the study and objectives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874520" y="2551176"/>
            <a:ext cx="8686800" cy="0"/>
          </a:xfrm>
          <a:prstGeom prst="line">
            <a:avLst/>
          </a:prstGeom>
          <a:noFill/>
          <a:ln w="9525">
            <a:solidFill>
              <a:srgbClr val="D3DED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79192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267919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and Methods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Laboratory, pot and field experiments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874520" y="3630168"/>
            <a:ext cx="8686800" cy="0"/>
          </a:xfrm>
          <a:prstGeom prst="line">
            <a:avLst/>
          </a:prstGeom>
          <a:noFill/>
          <a:ln w="9525">
            <a:solidFill>
              <a:srgbClr val="D3DED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758184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375818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Identification, in vitro evaluation, pot and field evaluation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874520" y="4709160"/>
            <a:ext cx="8686800" cy="0"/>
          </a:xfrm>
          <a:prstGeom prst="line">
            <a:avLst/>
          </a:prstGeom>
          <a:noFill/>
          <a:ln w="9525">
            <a:solidFill>
              <a:srgbClr val="D3DE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837176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483717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and Conclusions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Discussion, conclusions and recommendations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23444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9BC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 ·  Significance  ·  Objectives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Roselle: a multipurpose crop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38728" cy="420624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20240"/>
            <a:ext cx="731520" cy="73152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031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crop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3375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Roselle (</a:t>
            </a:r>
            <a:r>
              <a:rPr lang="en-US" sz="15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Hibiscus sabdariffa</a:t>
            </a:r>
            <a:r>
              <a:rPr lang="en-US" sz="15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L.) is a multipurpose annual crop of the family Malvaceae, locally known as ‘Chukur’ or ‘Mesta’ (Islam, 2019).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325112" y="1600200"/>
            <a:ext cx="3538728" cy="420624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45152" y="1920240"/>
            <a:ext cx="731520" cy="73152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21031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45152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uses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45152" y="33375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Grown for bast fibre, calyces (tea, jam and syrup), edible leaves and seed oil (Chew et al., 2024).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8101584" y="1600200"/>
            <a:ext cx="3538728" cy="420624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21624" y="1920240"/>
            <a:ext cx="731520" cy="73152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1031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21624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value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21624" y="33375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Calyces are rich in anthocyanins and phenolics with antihypertensive, antioxidant and antimicrobial activity (Da-Costa-Rocha et al., 2014).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Significance of the study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20840" cy="420624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6263640" cy="38404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Foliar diseases reduce photosynthetic leaf area, calyx number and fibre quality.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spot fungi of different genera (</a:t>
            </a: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Corynespora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Coniella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produce near-identical lesions, so symptoms alone cannot confirm the cause.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spots occur on 17 </a:t>
            </a: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Hibiscus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species and can cause complete crop loss (Park et al., 2017).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leaf spot of uncertain cause appeared in roselle fields of Mymensingh and Tangail.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543800" y="1600200"/>
            <a:ext cx="4096512" cy="2011680"/>
          </a:xfrm>
          <a:prstGeom prst="rect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18120" y="17830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818120" y="25603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 of </a:t>
            </a:r>
            <a:r>
              <a:rPr lang="en-US" sz="1350" i="1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Corynespora</a:t>
            </a:r>
            <a:r>
              <a:rPr lang="en-US" sz="135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and calyx spot of roselle in Mexico (Ortega-Acosta et al., 2016)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543800" y="3794760"/>
            <a:ext cx="4096512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D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18120" y="39776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prior report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46634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 of roselle, its identity or its management in Bangladesh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present study was undertaken with the following objectives: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150876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78608"/>
            <a:ext cx="658368" cy="65836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578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148840"/>
            <a:ext cx="95371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isolate and identify the causal fungus of leaf spot disease of roselle on the basis of its cultural and morphological characteristics.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91672" cy="150876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4361688"/>
            <a:ext cx="658368" cy="65836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3616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931920"/>
            <a:ext cx="95371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the efficacy of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spp. (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selected fungicides in the management of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 of roselle.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23444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9BC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and Methods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 ·  Pot experiment  ·  Field experiment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approach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38728" cy="45262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19072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860804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6192" y="1673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Laboratory</a:t>
            </a:r>
            <a:endParaRPr lang="en-US" sz="1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CRD  ·  3 replications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60320"/>
            <a:ext cx="3200400" cy="33832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diseased leaves from Mymensingh and Tangail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on PDA and single-spore purification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and morphological identification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at 10, 15, 20, 25 and 30 °C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Pathogenicity test (Koch’s postulates)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Poisoned food: 4 fungicides × 5 doses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culture: 3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spp.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25112" y="1508760"/>
            <a:ext cx="3538728" cy="45262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99432" y="1719072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164" y="1860804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12664" y="1673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 experiment</a:t>
            </a:r>
            <a:endParaRPr lang="en-US" sz="1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house, SPC, BAU  ·  CRD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07992" y="2560320"/>
            <a:ext cx="3200400" cy="33832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Sterilized clay loam soil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red roselle variety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treatments (T0–T6)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and growth data at 90 and 180 DAS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101584" y="1508760"/>
            <a:ext cx="3538728" cy="45262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75904" y="1719072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7636" y="186080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89136" y="1673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experiment</a:t>
            </a:r>
            <a:endParaRPr lang="en-US" sz="1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Pathology field, BAU  ·  RCBD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284464" y="2560320"/>
            <a:ext cx="3200400" cy="33832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Sown on 30 March 2025, line sowing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manures and fertilizers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7 treatments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Disease, growth and yield data at 90 and 180 DAS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548640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type="pic" idx="102" hasCustomPrompt="1"/>
          </p:nvPr>
        </p:nvSpPr>
        <p:spPr>
          <a:xfrm>
            <a:off x="2807208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type="pic" idx="103" hasCustomPrompt="1"/>
          </p:nvPr>
        </p:nvSpPr>
        <p:spPr>
          <a:xfrm>
            <a:off x="5065776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type="pic" idx="104" hasCustomPrompt="1"/>
          </p:nvPr>
        </p:nvSpPr>
        <p:spPr>
          <a:xfrm>
            <a:off x="7324344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1"/>
          <p:cNvSpPr/>
          <p:nvPr>
            <p:ph type="pic" idx="105" hasCustomPrompt="1"/>
          </p:nvPr>
        </p:nvSpPr>
        <p:spPr>
          <a:xfrm>
            <a:off x="9582912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Isolation and identification of the pathogen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Infected leaves collected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807208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Surface sterilization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Plating on PDA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24344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Single-spore pure culture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82912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Microscopic observation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11091672" cy="150876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Infected leaves collected from Mymensingh and Tangail; surface sterilized with 70% ethanol and 1% NaOCl.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Plated on PDA at 30 ± 2 °C for 7–9 days; pure culture obtained by single-spore isolation.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on the basis of colony characters, conidiophores and conidia (Chupp, 1954; Crous and Braun, 2003).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150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and identification of the pathogen (Park et al., 2017)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548640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type="pic" idx="102" hasCustomPrompt="1"/>
          </p:nvPr>
        </p:nvSpPr>
        <p:spPr>
          <a:xfrm>
            <a:off x="2807208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type="pic" idx="103" hasCustomPrompt="1"/>
          </p:nvPr>
        </p:nvSpPr>
        <p:spPr>
          <a:xfrm>
            <a:off x="5065776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type="pic" idx="104" hasCustomPrompt="1"/>
          </p:nvPr>
        </p:nvSpPr>
        <p:spPr>
          <a:xfrm>
            <a:off x="7324344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1"/>
          <p:cNvSpPr/>
          <p:nvPr>
            <p:ph type="pic" idx="105" hasCustomPrompt="1"/>
          </p:nvPr>
        </p:nvSpPr>
        <p:spPr>
          <a:xfrm>
            <a:off x="9582912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Pathogenicity test and effect of temperature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Culture on PDA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807208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Mycelial disc cut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Disc on attached leaf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24344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Control: sterile PDA disc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82912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Re-isolation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11091672" cy="160020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grown on PDA at 25 ± 2 °C for 7 days; mycelial disc cut with a cork borer and placed on a non-wounded attached leaf, secured with moist cotton and cellophane tape.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Sterile PDA disc used as the control; pathogen re-isolated from lesions to fulfil Koch’s postulates.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temperature: mycelial discs on PDA incubated at 10, 15, 20, 25 and 30 °C; radial growth measured at 10 DAI.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150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Pathogenicity test on 2-month-old pot-grown roselle plants (3 replications)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vitro evaluation of fungicides and bioagents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9824" cy="3429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Fungicides</a:t>
            </a:r>
            <a:endParaRPr lang="en-US" sz="2000" dirty="0"/>
          </a:p>
          <a:p>
            <a:pPr indent="0" marL="0">
              <a:buNone/>
            </a:pPr>
            <a:r>
              <a:rPr lang="en-US" sz="1300" b="1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Poisoned food technique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23160"/>
            <a:ext cx="5074920" cy="160020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Nativo 75 WG (Tebuconazole 50% + Trifloxystrobin 25%)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250 EC (Propiconazole 25%)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Bavistin 50 WP (Carbendazim 50%)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Folicur 250 EC (Tebuconazole 25%)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69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50, 100, 250, 500 and 1000 ppm in PDA; 5 mm pathogen disc; 30 ± 2 °C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508760"/>
            <a:ext cx="5449824" cy="3429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64808" y="1645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Bioagents</a:t>
            </a:r>
            <a:endParaRPr lang="en-US" sz="2000" dirty="0"/>
          </a:p>
          <a:p>
            <a:pPr indent="0" marL="0">
              <a:buNone/>
            </a:pPr>
            <a:r>
              <a:rPr lang="en-US" sz="1300" b="1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culture technique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373368" y="2423160"/>
            <a:ext cx="5074920" cy="160020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 asperellum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(AB935955)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 harzianum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(AB935952)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 viride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(TV6)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4069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mm discs of pathogen and antagonist on opposite sides of a PDA plate; 25 ± 2 °C until control plates were full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4D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12064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 inhibition,  L = [(C − T) / C] × 100</a:t>
            </a:r>
            <a:endParaRPr lang="en-US" sz="19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 = radial growth in the control and T = radial growth in the treatment (Vincent, 1947)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5623560" y="1481328"/>
            <a:ext cx="29260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type="pic" idx="102" hasCustomPrompt="1"/>
          </p:nvPr>
        </p:nvSpPr>
        <p:spPr>
          <a:xfrm>
            <a:off x="8714232" y="1481328"/>
            <a:ext cx="29260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 and field experiments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sites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20240"/>
            <a:ext cx="4846320" cy="210312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Pot: net house, Prof. Golam Ali Fakir Seed Pathology Center, BAU (CRD).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Field: Plant Pathology field laboratory, BAU (RCBD); clay loam soil, pH 6.5.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Variety: deep red plant with deep red calyx; sown on 30 March 2025.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4846320" cy="1069848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160520"/>
            <a:ext cx="448056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Fungicides @ 500 ppm;  bioagents @ 10⁸ CFU/ml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Pot experiment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714232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 Field experiment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Treatments and spray schedule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480560"/>
                <a:gridCol w="14630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control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Nativo 75 WG (tebuconazole + trifloxystrobin)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ppm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Tilt 250 EC (propiconazole)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ppm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Folicur 250 EC (tebuconazole)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ppm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Trichoderma harzianum</a:t>
                      </a: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(AB935952)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10⁸ CFU/ml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Trichoderma viride</a:t>
                      </a: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(TV6)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10⁸ CFU/ml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Trichoderma asperellum</a:t>
                      </a: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(AB935955)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10⁸ CFU/ml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589520" y="1508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sequence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781544" y="2377440"/>
            <a:ext cx="0" cy="402336"/>
          </a:xfrm>
          <a:prstGeom prst="line">
            <a:avLst/>
          </a:prstGeom>
          <a:noFill/>
          <a:ln w="19050">
            <a:solidFill>
              <a:srgbClr val="D3DED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89520" y="1993392"/>
            <a:ext cx="384048" cy="38404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952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193852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DAS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spray of treatments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81544" y="3163824"/>
            <a:ext cx="0" cy="402336"/>
          </a:xfrm>
          <a:prstGeom prst="line">
            <a:avLst/>
          </a:prstGeom>
          <a:noFill/>
          <a:ln w="19050">
            <a:solidFill>
              <a:srgbClr val="D3DED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589520" y="2779776"/>
            <a:ext cx="384048" cy="38404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2724912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+ 48 h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spore suspension applied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81544" y="3950208"/>
            <a:ext cx="0" cy="402336"/>
          </a:xfrm>
          <a:prstGeom prst="line">
            <a:avLst/>
          </a:prstGeom>
          <a:noFill/>
          <a:ln w="19050">
            <a:solidFill>
              <a:srgbClr val="D3DED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589520" y="3566160"/>
            <a:ext cx="384048" cy="38404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8952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0" y="351129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+ 48 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spray of treatments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589520" y="4352544"/>
            <a:ext cx="384048" cy="38404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8952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0" y="429768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25 days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sprays until harvest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51663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after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Abo-Elyousr et al. (2017)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4406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Recorded: disease incidence and severity (0–5 scale) on leaves and calyces; growth and yield traits.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assessment and data collection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rating scale (0–5)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(Apeyuan et al., 2017)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9456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area infected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infection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&gt;0–4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mild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&gt;4–12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&gt;12–29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&gt;29–57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&gt;57–100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severe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828800"/>
            <a:ext cx="5605272" cy="1143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63640" y="1828800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incidence (%)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(Number of infected leaves or calyces ÷ Total number examined) × 100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35040" y="3127248"/>
            <a:ext cx="5605272" cy="1143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63640" y="3127248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severity (%)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Σ(Rating × Number in that rating) ÷ (Maximum rating × Total number) × 100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035040" y="4425696"/>
            <a:ext cx="5605272" cy="1143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3640" y="4425696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and yield (90 and 180 DAS)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height, base diameter, branches, leaves, leaf weight, fruit number, capsule and calyx weight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23444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9BC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 ·  In vitro evaluation  ·  Pot and field evaluation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548640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type="pic" idx="102" hasCustomPrompt="1"/>
          </p:nvPr>
        </p:nvSpPr>
        <p:spPr>
          <a:xfrm>
            <a:off x="3447288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type="pic" idx="103" hasCustomPrompt="1"/>
          </p:nvPr>
        </p:nvSpPr>
        <p:spPr>
          <a:xfrm>
            <a:off x="548640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type="pic" idx="104" hasCustomPrompt="1"/>
          </p:nvPr>
        </p:nvSpPr>
        <p:spPr>
          <a:xfrm>
            <a:off x="3447288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IDENTIFICATION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 Symptoms of the disease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Early symptom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Developed spot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13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Coalesced spots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5513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Defoliation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46520" y="1481328"/>
            <a:ext cx="5193792" cy="425196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1691640"/>
            <a:ext cx="4846320" cy="393192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circular to irregular, brown to reddish-brown necrotic spots, often restricted by leaf veins.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enlarged to about 10 mm, with pale brown to greyish-white centres and a dark reddish-purple margin.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humid conditions, centres turned grey from abundant conidiophores and conidia.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advanced stage, spots coalesced; leaves became chlorotic, dried and dropped prematurely.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436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  </a:t>
            </a:r>
            <a:r>
              <a:rPr lang="en-US" sz="110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 symptoms on roselle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548640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type="pic" idx="102" hasCustomPrompt="1"/>
          </p:nvPr>
        </p:nvSpPr>
        <p:spPr>
          <a:xfrm>
            <a:off x="3447288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type="pic" idx="103" hasCustomPrompt="1"/>
          </p:nvPr>
        </p:nvSpPr>
        <p:spPr>
          <a:xfrm>
            <a:off x="548640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type="pic" idx="104" hasCustomPrompt="1"/>
          </p:nvPr>
        </p:nvSpPr>
        <p:spPr>
          <a:xfrm>
            <a:off x="3447288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IDENTIFICATION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 Isolation and morphological identification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Diseased leaves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Upper view of colony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13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Mycelium and conidiophores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5513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Conidia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46520" y="1481328"/>
            <a:ext cx="5193792" cy="9144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148132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Colony on PDA</a:t>
            </a:r>
            <a:endParaRPr lang="en-US" sz="150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to moderate growth; greyish-white, olive-grey to dark grey mycelium of branched, septate hyphae.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46520" y="2505456"/>
            <a:ext cx="5193792" cy="9144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29400" y="2505456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Conidiophores</a:t>
            </a:r>
            <a:endParaRPr lang="en-US" sz="150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Pigmented, septate, arising in fascicles.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46520" y="3529584"/>
            <a:ext cx="5193792" cy="9144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9400" y="352958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Conidia</a:t>
            </a:r>
            <a:endParaRPr lang="en-US" sz="150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Hyaline to pale olivaceous, cylindrical to obclavate, multiseptate.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46520" y="4572000"/>
            <a:ext cx="5193792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1E4D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29400" y="4572000"/>
            <a:ext cx="484632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Provisionally identified as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(Crous and Braun, 2003). Conidial size suggests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malayensis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multilocus sequencing is needed for species-level identification.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436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structures of </a:t>
            </a:r>
            <a:r>
              <a:rPr lang="en-US" sz="110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548640" y="1481328"/>
            <a:ext cx="6492240" cy="416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IDENTIFICATION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Effect of temperature on mycelial growth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0" y="1481328"/>
            <a:ext cx="4325112" cy="1600200"/>
          </a:xfrm>
          <a:prstGeom prst="rect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0" y="1481328"/>
            <a:ext cx="3840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90.00 mm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radial growth at 20 °C (10 DAI)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3291840"/>
            <a:ext cx="4325112" cy="237744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Temperatures tested: 10, 15, 20, 25 and 30 °C.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at 20 °C was significantly higher than at the other temperatures at 10 DAI.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Optimum range for radial growth: 20–22 °C; lowest growth at 10 °C.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7607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temperature on the radial mycelial growth of </a:t>
            </a:r>
            <a:r>
              <a:rPr lang="en-US" sz="110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on PDA at 10 DAI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548640" y="1481328"/>
            <a:ext cx="31546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type="pic" idx="102" hasCustomPrompt="1"/>
          </p:nvPr>
        </p:nvSpPr>
        <p:spPr>
          <a:xfrm>
            <a:off x="3886200" y="1481328"/>
            <a:ext cx="31546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IDENTIFICATION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 Pathogenicity test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2852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Healthy leaves (control)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52852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Infected leaves, 4 DAI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0" y="1481328"/>
            <a:ext cx="4325112" cy="40690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0" y="1691640"/>
            <a:ext cx="3977640" cy="374904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Conducted on non-detached leaves of pot-grown plants, without wounding the tissue.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brown necrotic lesions appeared 4 days after inoculation.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leaves remained healthy.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twice with similar results; the pathogen was re-isolated, fulfilling Koch’s postulates.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6.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Pathogenicity test of </a:t>
            </a:r>
            <a:r>
              <a:rPr lang="en-US" sz="110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on roselle: (a) healthy leaves; (b) infected leaves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548640" y="1481328"/>
            <a:ext cx="6492240" cy="416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IN VITRO EVALUATION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Effect of fungicides on mycelial growth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0" y="1481328"/>
            <a:ext cx="4325112" cy="41605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0" y="1691640"/>
            <a:ext cx="3977640" cy="38404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showed the highest growth (90.00 mm) at 10 DAI.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inhibition (0.00 mm growth): Nativo 75 WG @ 250, 500 and 1000 ppm; Tilt 250 EC @ 500 and 1000 ppm; Bavistin @ 500 and 1000 ppm; Folicur @ 1000 ppm.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inhibition: Folicur @ 50 ppm (25.66%, 43.15% and 49.08% at 6, 8 and 10 DAI).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7607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7.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fungicides and doses on radial mycelial growth inhibition of </a:t>
            </a:r>
            <a:r>
              <a:rPr lang="en-US" sz="110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at (a) 6, (b) 8 and (c) 10 DAI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548640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type="pic" idx="102" hasCustomPrompt="1"/>
          </p:nvPr>
        </p:nvSpPr>
        <p:spPr>
          <a:xfrm>
            <a:off x="2807208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type="pic" idx="103" hasCustomPrompt="1"/>
          </p:nvPr>
        </p:nvSpPr>
        <p:spPr>
          <a:xfrm>
            <a:off x="5065776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type="pic" idx="104" hasCustomPrompt="1"/>
          </p:nvPr>
        </p:nvSpPr>
        <p:spPr>
          <a:xfrm>
            <a:off x="7324344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1"/>
          <p:cNvSpPr/>
          <p:nvPr>
            <p:ph type="pic" idx="105" hasCustomPrompt="1"/>
          </p:nvPr>
        </p:nvSpPr>
        <p:spPr>
          <a:xfrm>
            <a:off x="9582912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IN VITRO EVALUATION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Fungicides at 500 ppm on PDA (10 DAI)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Control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807208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Nativo 75 WG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Tilt 250 EC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24344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Bavistin 50 WP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82912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Folicur 250 EC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11091672" cy="13258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160520"/>
            <a:ext cx="10725912" cy="10972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untreated control plate was fully covered (90.00 mm) at 10 DAI.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Nativo 75 WG, Tilt 250 EC and Bavistin at 500 ppm completely inhibited mycelial growth.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150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8.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fungicides at 500 ppm on radial mycelial growth of </a:t>
            </a:r>
            <a:r>
              <a:rPr lang="en-US" sz="110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at 10 DAI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IN VITRO EVALUATION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 Antagonistic effect of bioagents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81328"/>
          <a:ext cx="64922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15200" y="1481328"/>
            <a:ext cx="4325112" cy="41605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0" y="1691640"/>
            <a:ext cx="3977640" cy="38404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Mycelial growth at 10 DAI ranged from 8.33 mm to 90.00 mm (control).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inhibition by </a:t>
            </a:r>
            <a:r>
              <a:rPr lang="en-US" sz="16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(90.74%), statistically similar to </a:t>
            </a:r>
            <a:r>
              <a:rPr lang="en-US" sz="16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(88.15%).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the lowest inhibition (65.93%) and was moderately effective.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607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9.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Antagonistic effect of fungal bioagents on radial mycelial growth inhibition (%) of </a:t>
            </a:r>
            <a:r>
              <a:rPr lang="en-US" sz="110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at 10 DAI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type="pic" idx="101" hasCustomPrompt="1"/>
          </p:nvPr>
        </p:nvSpPr>
        <p:spPr>
          <a:xfrm>
            <a:off x="548640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type="pic" idx="102" hasCustomPrompt="1"/>
          </p:nvPr>
        </p:nvSpPr>
        <p:spPr>
          <a:xfrm>
            <a:off x="3364992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type="pic" idx="103" hasCustomPrompt="1"/>
          </p:nvPr>
        </p:nvSpPr>
        <p:spPr>
          <a:xfrm>
            <a:off x="6181344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type="pic" idx="104" hasCustomPrompt="1"/>
          </p:nvPr>
        </p:nvSpPr>
        <p:spPr>
          <a:xfrm>
            <a:off x="8997696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IN VITRO EVALUATION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 Dual culture plates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60520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(AB935952) vs </a:t>
            </a: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4160520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(TV6) vs </a:t>
            </a: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181344" y="4160520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(AB935955) vs </a:t>
            </a: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97696" y="4160520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</a:t>
            </a: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572000"/>
            <a:ext cx="11091672" cy="6858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5720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Mycelial growth inhibition at 10 DAI:  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90.74%   ·  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88.15%   ·  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65.93%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5321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10.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Antagonistic effect of fungal bioagents on radial mycelial growth of </a:t>
            </a:r>
            <a:r>
              <a:rPr lang="en-US" sz="110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causing leaf spot of roselle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POT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 Leaf disease incidence and severity (pot)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disease incidence (DI) and disease severity (DS) percentage of roselle plant under pot experiment</a:t>
            </a:r>
            <a:endParaRPr lang="en-US" sz="1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53.91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14.04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21.93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12.10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15.98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25.65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22.67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31.36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26.48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38.62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20.89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29.69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gave the lowest leaf disease incidence and severity at both 90 and 180 DAS; among the bioagents,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(T6) was the most effective.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POT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 Plant growth at 90 DAS (pot)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6.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90 DAS under pot experiment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leaf weight 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55.20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17.67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35.33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40.61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44.15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76.81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35.19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28.14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66.30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24.44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71.17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31.37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highest values for all growth parameters, statistically at par with T1 (Nativo 75 WG);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best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POT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 Plant growth at 180 DAS (pot)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7.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180 DAS under pot experiment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69694"/>
                <a:gridCol w="1669694"/>
                <a:gridCol w="1669694"/>
                <a:gridCol w="1669694"/>
                <a:gridCol w="166969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branch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leaf weight 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105.77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28.17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43.33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152.77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43.33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7.67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146.41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167.86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138.13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130.13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35.33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58.00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103.91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121.09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87.61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138.38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36.67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114.82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highest values for all growth parameters at 180 DAS;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performed best among the bioagents.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 Leaf disease incidence and severity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8.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disease incidence (DI) and disease severity (DS) percentage of roselle plant under field condition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18.24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24.79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14.59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17.46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19.64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11.33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15.33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35.34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23.70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32.71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39.51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again gave the lowest leaf disease incidence and severity; among the bioagents,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(T5) performed best under field conditions.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4.10 Plant growth at 90 DAS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9.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90 DAS under field experiment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69694"/>
                <a:gridCol w="1669694"/>
                <a:gridCol w="1669694"/>
                <a:gridCol w="1669694"/>
                <a:gridCol w="166969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branch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 of leaves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fresh weight 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70.55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46.67 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35.33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72.60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103.05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93.49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70.60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80.17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28.67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54.33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76.44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28.67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52.00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64.50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68.60 abc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highest values for all growth parameters at 90 DAS;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generally the best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4.10 Plant growth at 180 DAS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10.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180 DAS under field experiment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69694"/>
                <a:gridCol w="1669694"/>
                <a:gridCol w="1669694"/>
                <a:gridCol w="1669694"/>
                <a:gridCol w="166969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branch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 of leaves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fresh weight 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118.64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124.00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154.47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184.23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172.88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196.28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148.30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179.72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129.74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171.13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124.73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140.44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144.67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175.91 bcd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highest values for all growth parameters at 180 DAS;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best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POT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4.11 Calyx disease incidence and severity (pot)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11.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disease incidence (DI) and disease severity (DS) percentage of roselle calyx under pot experiment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lowest calyx disease incidence and severity at both stages;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(T4) was the most effective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4.12 Calyx disease incidence and severity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12.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disease incidence (DI) and disease severity (DS) percentage of roselle calyx under field condition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gave the lowest calyx disease incidence at both stages and the lowest severity at 180 DAS; at 90 DAS, severity did not differ among the treatments.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4.13 Yield attributes at 90 DAS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13.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90 DAS under field condition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82824"/>
                <a:gridCol w="2782824"/>
                <a:gridCol w="278282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Fruit no./plant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Capsule fresh weight (g/plant)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Calyx fresh weight (g/plant)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21.61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15.56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41.25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55.45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45.14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40.26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29.55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31.28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28.66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23.09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gave the highest yield attributes, at par with T1 (Nativo 75 WG); its calyx weight was about 2.9 times that of the control.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4.13 Yield attributes at 180 DAS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14.  </a:t>
            </a:r>
            <a:r>
              <a:rPr lang="en-US" sz="1100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180 DAS under field condition</a:t>
            </a:r>
            <a:endParaRPr lang="en-US" sz="11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82824"/>
                <a:gridCol w="2782824"/>
                <a:gridCol w="278282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Fruit no./plant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Capsule fresh weight (g/plant)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Calyx fresh weight (g/plant)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605.20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377.31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926.70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677.82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1071.30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820.14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894.30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628.64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786.20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530.98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710.44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451.23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831.60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549.51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F6B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gave the highest yield; calyx weight (820.14 g/plant) was more than double the control (377.31 g/plant).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best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23444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9BC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and Conclusions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 ·  Conclusions  ·  Recommendations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discussion points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737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vitro versus in planta efficacy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3172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250 EC needed a higher dose than Nativo 75 WG for complete inhibition in vitro, but gave the best control on plants, consistent with Teramoto et al. (2011).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190488" y="1508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783080"/>
            <a:ext cx="457200" cy="45720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48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04888" y="1737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Variation in bioagent performance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233172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most effective bioagent in dual culture and in pots, whereas </a:t>
            </a: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performed better in the field.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069080"/>
            <a:ext cx="457200" cy="45720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023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promotion by </a:t>
            </a:r>
            <a:r>
              <a:rPr lang="en-US" sz="1700" b="1" i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Trichoderma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61772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the best growth and yield among the bioagents, possibly through root colonization and induced resistance.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90488" y="3794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4069080"/>
            <a:ext cx="457200" cy="45720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64808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04888" y="4023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Species identity unresolved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104888" y="461772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Conidial size points to </a:t>
            </a: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malayensis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sequencing of ITS, tef1 and actin or calmodulin genes is required for confirmation.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55064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55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81328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spot of roselle in Mymensingh and Tangail is caused by </a:t>
            </a:r>
            <a:r>
              <a:rPr lang="en-US" sz="16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sp.; this is the first such study in Bangladesh.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368296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542032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542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68296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pathogen grows best at 20–22 °C and infects intact leaves within 4 days.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255264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3429000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255264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vitro, Nativo 75 WG, Tilt 250 EC and Bavistin 50 WP gave 100% inhibition at ≤ 500 ppm; </a:t>
            </a:r>
            <a:r>
              <a:rPr lang="en-US" sz="16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about 90% inhibition.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315968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" y="4315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142232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250 EC @ 500 ppm, sprayed from 60 DAS at 25-day intervals, gave the best control and more than doubled calyx yield.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5202936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52029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029200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spp. are promising, farmer-friendly options for integrated management.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and future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9248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830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identification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4231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Multilocus sequencing (ITS, tef1, actin or calmodulin) to identify the species.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90488" y="1508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64808" y="1783080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19248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42048" y="17830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Integrated management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242048" y="24231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reduced fungicide programmes to limit fungicide resistance.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3794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4069080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421081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0690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 resistance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47091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roselle varieties for resistance to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90488" y="3794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64808" y="4069080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21081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42048" y="40690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assessment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242048" y="47091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diagrammatic severity scale; multi-season, multi-location trials.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23444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154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B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suggestions are welcome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394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research was supported by BAURES Project No. 111/BAU/2024 and the NST Fellowship, Ministry of Science and Technology.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Department of Plant Pathology, Bangladesh Agricultural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 Thesis Defence: Cercospora leaf spot of roselle</dc:title>
  <dc:subject>PptxGenJS Presentation</dc:subject>
  <dc:creator>Nisha Mazumder</dc:creator>
  <cp:lastModifiedBy>Nisha Mazumder</cp:lastModifiedBy>
  <cp:revision>1</cp:revision>
  <dcterms:created xsi:type="dcterms:W3CDTF">2026-10-27T09:50:14Z</dcterms:created>
  <dcterms:modified xsi:type="dcterms:W3CDTF">2026-10-27T09:50:14Z</dcterms:modified>
</cp:coreProperties>
</file>