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jpe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rawings/drawing1.xml" ContentType="application/vnd.openxmlformats-officedocument.drawingml.chartshapes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rawings/drawing2.xml" ContentType="application/vnd.openxmlformats-officedocument.drawingml.chartshapes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drawings/drawing3.xml" ContentType="application/vnd.openxmlformats-officedocument.drawingml.chartshape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8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 /><Relationship Id="rId2" Type="http://schemas.openxmlformats.org/package/2006/relationships/metadata/core-properties" Target="docProps/core.xml" /><Relationship Id="rId1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7" r:id="rId2"/>
    <p:sldId id="296" r:id="rId3"/>
    <p:sldId id="300" r:id="rId4"/>
    <p:sldId id="301" r:id="rId5"/>
    <p:sldId id="302" r:id="rId6"/>
    <p:sldId id="308" r:id="rId7"/>
    <p:sldId id="263" r:id="rId8"/>
    <p:sldId id="266" r:id="rId9"/>
    <p:sldId id="262" r:id="rId10"/>
    <p:sldId id="267" r:id="rId11"/>
    <p:sldId id="304" r:id="rId12"/>
    <p:sldId id="272" r:id="rId13"/>
    <p:sldId id="274" r:id="rId14"/>
    <p:sldId id="275" r:id="rId15"/>
    <p:sldId id="276" r:id="rId16"/>
    <p:sldId id="265" r:id="rId17"/>
    <p:sldId id="277" r:id="rId18"/>
    <p:sldId id="278" r:id="rId19"/>
    <p:sldId id="279" r:id="rId20"/>
    <p:sldId id="281" r:id="rId21"/>
    <p:sldId id="284" r:id="rId22"/>
    <p:sldId id="287" r:id="rId23"/>
    <p:sldId id="288" r:id="rId24"/>
    <p:sldId id="282" r:id="rId25"/>
    <p:sldId id="283" r:id="rId26"/>
    <p:sldId id="285" r:id="rId27"/>
    <p:sldId id="286" r:id="rId28"/>
    <p:sldId id="289" r:id="rId29"/>
    <p:sldId id="290" r:id="rId30"/>
    <p:sldId id="291" r:id="rId31"/>
    <p:sldId id="292" r:id="rId32"/>
    <p:sldId id="293" r:id="rId33"/>
    <p:sldId id="307" r:id="rId34"/>
    <p:sldId id="294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5196864-507A-E6AF-B769-FA3BD453063D}">
          <p14:sldIdLst>
            <p14:sldId id="257"/>
            <p14:sldId id="296"/>
            <p14:sldId id="300"/>
            <p14:sldId id="301"/>
            <p14:sldId id="302"/>
          </p14:sldIdLst>
        </p14:section>
        <p14:section name="Materials and methods" id="{70621B69-BDB2-4D24-236B-F8C2045CBBAC}">
          <p14:sldIdLst>
            <p14:sldId id="308"/>
            <p14:sldId id="263"/>
            <p14:sldId id="266"/>
            <p14:sldId id="262"/>
            <p14:sldId id="267"/>
          </p14:sldIdLst>
        </p14:section>
        <p14:section name="Results I · Identification" id="{1D296300-A139-B012-46F6-B95924B07485}">
          <p14:sldIdLst>
            <p14:sldId id="304"/>
            <p14:sldId id="272"/>
            <p14:sldId id="274"/>
            <p14:sldId id="275"/>
          </p14:sldIdLst>
        </p14:section>
        <p14:section name="Results II · In vitro" id="{5E126F28-55B0-AA0A-368D-D8A30D707BF0}">
          <p14:sldIdLst>
            <p14:sldId id="276"/>
            <p14:sldId id="265"/>
            <p14:sldId id="277"/>
            <p14:sldId id="278"/>
            <p14:sldId id="279"/>
          </p14:sldIdLst>
        </p14:section>
        <p14:section name="Results III · Pot &amp; field" id="{780849A7-1634-A598-2E89-C695C85D7C3E}">
          <p14:sldIdLst>
            <p14:sldId id="281"/>
            <p14:sldId id="284"/>
            <p14:sldId id="287"/>
            <p14:sldId id="288"/>
            <p14:sldId id="282"/>
            <p14:sldId id="283"/>
            <p14:sldId id="285"/>
            <p14:sldId id="286"/>
            <p14:sldId id="289"/>
            <p14:sldId id="290"/>
          </p14:sldIdLst>
        </p14:section>
        <p14:section name="Discussion and conclusions" id="{77C64525-DDFE-15C7-09E9-760BF3667220}">
          <p14:sldIdLst>
            <p14:sldId id="291"/>
            <p14:sldId id="292"/>
            <p14:sldId id="293"/>
            <p14:sldId id="307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47" d="100"/>
          <a:sy n="47" d="100"/>
        </p:scale>
        <p:origin x="1392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slide" Target="slides/slide12.xml" /><Relationship Id="rId18" Type="http://schemas.openxmlformats.org/officeDocument/2006/relationships/slide" Target="slides/slide17.xml" /><Relationship Id="rId26" Type="http://schemas.openxmlformats.org/officeDocument/2006/relationships/slide" Target="slides/slide25.xml" /><Relationship Id="rId39" Type="http://schemas.openxmlformats.org/officeDocument/2006/relationships/theme" Target="theme/theme1.xml" /><Relationship Id="rId3" Type="http://schemas.openxmlformats.org/officeDocument/2006/relationships/slide" Target="slides/slide2.xml" /><Relationship Id="rId21" Type="http://schemas.openxmlformats.org/officeDocument/2006/relationships/slide" Target="slides/slide20.xml" /><Relationship Id="rId34" Type="http://schemas.openxmlformats.org/officeDocument/2006/relationships/slide" Target="slides/slide33.xml" /><Relationship Id="rId7" Type="http://schemas.openxmlformats.org/officeDocument/2006/relationships/slide" Target="slides/slide6.xml" /><Relationship Id="rId12" Type="http://schemas.openxmlformats.org/officeDocument/2006/relationships/slide" Target="slides/slide11.xml" /><Relationship Id="rId17" Type="http://schemas.openxmlformats.org/officeDocument/2006/relationships/slide" Target="slides/slide16.xml" /><Relationship Id="rId25" Type="http://schemas.openxmlformats.org/officeDocument/2006/relationships/slide" Target="slides/slide24.xml" /><Relationship Id="rId33" Type="http://schemas.openxmlformats.org/officeDocument/2006/relationships/slide" Target="slides/slide32.xml" /><Relationship Id="rId38" Type="http://schemas.openxmlformats.org/officeDocument/2006/relationships/viewProps" Target="viewProps.xml" /><Relationship Id="rId2" Type="http://schemas.openxmlformats.org/officeDocument/2006/relationships/slide" Target="slides/slide1.xml" /><Relationship Id="rId16" Type="http://schemas.openxmlformats.org/officeDocument/2006/relationships/slide" Target="slides/slide15.xml" /><Relationship Id="rId20" Type="http://schemas.openxmlformats.org/officeDocument/2006/relationships/slide" Target="slides/slide19.xml" /><Relationship Id="rId29" Type="http://schemas.openxmlformats.org/officeDocument/2006/relationships/slide" Target="slides/slide28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slide" Target="slides/slide10.xml" /><Relationship Id="rId24" Type="http://schemas.openxmlformats.org/officeDocument/2006/relationships/slide" Target="slides/slide23.xml" /><Relationship Id="rId32" Type="http://schemas.openxmlformats.org/officeDocument/2006/relationships/slide" Target="slides/slide31.xml" /><Relationship Id="rId37" Type="http://schemas.openxmlformats.org/officeDocument/2006/relationships/presProps" Target="presProps.xml" /><Relationship Id="rId40" Type="http://schemas.openxmlformats.org/officeDocument/2006/relationships/tableStyles" Target="tableStyles.xml" /><Relationship Id="rId5" Type="http://schemas.openxmlformats.org/officeDocument/2006/relationships/slide" Target="slides/slide4.xml" /><Relationship Id="rId15" Type="http://schemas.openxmlformats.org/officeDocument/2006/relationships/slide" Target="slides/slide14.xml" /><Relationship Id="rId23" Type="http://schemas.openxmlformats.org/officeDocument/2006/relationships/slide" Target="slides/slide22.xml" /><Relationship Id="rId28" Type="http://schemas.openxmlformats.org/officeDocument/2006/relationships/slide" Target="slides/slide27.xml" /><Relationship Id="rId36" Type="http://schemas.openxmlformats.org/officeDocument/2006/relationships/notesMaster" Target="notesMasters/notesMaster1.xml" /><Relationship Id="rId10" Type="http://schemas.openxmlformats.org/officeDocument/2006/relationships/slide" Target="slides/slide9.xml" /><Relationship Id="rId19" Type="http://schemas.openxmlformats.org/officeDocument/2006/relationships/slide" Target="slides/slide18.xml" /><Relationship Id="rId31" Type="http://schemas.openxmlformats.org/officeDocument/2006/relationships/slide" Target="slides/slide30.xml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slide" Target="slides/slide13.xml" /><Relationship Id="rId22" Type="http://schemas.openxmlformats.org/officeDocument/2006/relationships/slide" Target="slides/slide21.xml" /><Relationship Id="rId27" Type="http://schemas.openxmlformats.org/officeDocument/2006/relationships/slide" Target="slides/slide26.xml" /><Relationship Id="rId30" Type="http://schemas.openxmlformats.org/officeDocument/2006/relationships/slide" Target="slides/slide29.xml" /><Relationship Id="rId35" Type="http://schemas.openxmlformats.org/officeDocument/2006/relationships/slide" Target="slides/slide34.xml" 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chartUserShapes" Target="../drawings/drawing1.xml" /><Relationship Id="rId2" Type="http://schemas.microsoft.com/office/2011/relationships/chartColorStyle" Target="colors1.xml" /><Relationship Id="rId1" Type="http://schemas.microsoft.com/office/2011/relationships/chartStyle" Target="style1.xml" 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chartUserShapes" Target="../drawings/drawing2.xml" /><Relationship Id="rId2" Type="http://schemas.microsoft.com/office/2011/relationships/chartColorStyle" Target="colors2.xml" /><Relationship Id="rId1" Type="http://schemas.microsoft.com/office/2011/relationships/chartStyle" Target="style2.xml" 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chartUserShapes" Target="../drawings/drawing3.xml" /><Relationship Id="rId2" Type="http://schemas.microsoft.com/office/2011/relationships/chartColorStyle" Target="colors3.xml" /><Relationship Id="rId1" Type="http://schemas.microsoft.com/office/2011/relationships/chartStyle" Target="style3.xml" 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'Poison food'!$AV$69</c:f>
              <c:strCache>
                <c:ptCount val="1"/>
                <c:pt idx="0">
                  <c:v>Nativo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food'!$AZ$70:$AZ$74</c:f>
                <c:numCache>
                  <c:formatCode>General</c:formatCode>
                  <c:ptCount val="5"/>
                  <c:pt idx="0">
                    <c:v>0.97</c:v>
                  </c:pt>
                  <c:pt idx="1">
                    <c:v>0.96</c:v>
                  </c:pt>
                  <c:pt idx="2">
                    <c:v>0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food'!$AZ$70:$AZ$74</c:f>
                <c:numCache>
                  <c:formatCode>General</c:formatCode>
                  <c:ptCount val="5"/>
                  <c:pt idx="0">
                    <c:v>0.97</c:v>
                  </c:pt>
                  <c:pt idx="1">
                    <c:v>0.96</c:v>
                  </c:pt>
                  <c:pt idx="2">
                    <c:v>0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food'!$AV$70:$AV$74</c:f>
              <c:numCache>
                <c:formatCode>General</c:formatCode>
                <c:ptCount val="5"/>
                <c:pt idx="0">
                  <c:v>67.73</c:v>
                </c:pt>
                <c:pt idx="1">
                  <c:v>73.09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3D6-8849-B290-784D269BBC02}"/>
            </c:ext>
          </c:extLst>
        </c:ser>
        <c:ser>
          <c:idx val="1"/>
          <c:order val="1"/>
          <c:tx>
            <c:strRef>
              <c:f>'Poison food'!$AW$69</c:f>
              <c:strCache>
                <c:ptCount val="1"/>
                <c:pt idx="0">
                  <c:v>Tilt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food'!$BA$70:$BA$74</c:f>
                <c:numCache>
                  <c:formatCode>General</c:formatCode>
                  <c:ptCount val="5"/>
                  <c:pt idx="0">
                    <c:v>1.32</c:v>
                  </c:pt>
                  <c:pt idx="1">
                    <c:v>2</c:v>
                  </c:pt>
                  <c:pt idx="2">
                    <c:v>0.55000000000000004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food'!$BA$70:$BA$74</c:f>
                <c:numCache>
                  <c:formatCode>General</c:formatCode>
                  <c:ptCount val="5"/>
                  <c:pt idx="0">
                    <c:v>1.32</c:v>
                  </c:pt>
                  <c:pt idx="1">
                    <c:v>2</c:v>
                  </c:pt>
                  <c:pt idx="2">
                    <c:v>0.55000000000000004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food'!$AW$70:$AW$74</c:f>
              <c:numCache>
                <c:formatCode>General</c:formatCode>
                <c:ptCount val="5"/>
                <c:pt idx="0">
                  <c:v>53.18</c:v>
                </c:pt>
                <c:pt idx="1">
                  <c:v>59.88</c:v>
                </c:pt>
                <c:pt idx="2">
                  <c:v>73.38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3D6-8849-B290-784D269BBC02}"/>
            </c:ext>
          </c:extLst>
        </c:ser>
        <c:ser>
          <c:idx val="2"/>
          <c:order val="2"/>
          <c:tx>
            <c:strRef>
              <c:f>'Poison food'!$AX$69</c:f>
              <c:strCache>
                <c:ptCount val="1"/>
                <c:pt idx="0">
                  <c:v>Bavistin 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food'!$BB$70:$BB$74</c:f>
                <c:numCache>
                  <c:formatCode>General</c:formatCode>
                  <c:ptCount val="5"/>
                  <c:pt idx="0">
                    <c:v>1.55</c:v>
                  </c:pt>
                  <c:pt idx="1">
                    <c:v>0.89</c:v>
                  </c:pt>
                  <c:pt idx="2">
                    <c:v>2.7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food'!$BB$70:$BB$74</c:f>
                <c:numCache>
                  <c:formatCode>General</c:formatCode>
                  <c:ptCount val="5"/>
                  <c:pt idx="0">
                    <c:v>1.55</c:v>
                  </c:pt>
                  <c:pt idx="1">
                    <c:v>0.89</c:v>
                  </c:pt>
                  <c:pt idx="2">
                    <c:v>2.7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food'!$AX$70:$AX$74</c:f>
              <c:numCache>
                <c:formatCode>General</c:formatCode>
                <c:ptCount val="5"/>
                <c:pt idx="0">
                  <c:v>65.400000000000006</c:v>
                </c:pt>
                <c:pt idx="1">
                  <c:v>69.760000000000005</c:v>
                </c:pt>
                <c:pt idx="2">
                  <c:v>70.95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3D6-8849-B290-784D269BBC02}"/>
            </c:ext>
          </c:extLst>
        </c:ser>
        <c:ser>
          <c:idx val="3"/>
          <c:order val="3"/>
          <c:tx>
            <c:strRef>
              <c:f>'Poison food'!$AY$69</c:f>
              <c:strCache>
                <c:ptCount val="1"/>
                <c:pt idx="0">
                  <c:v>Folicur 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food'!$BC$70:$BC$74</c:f>
                <c:numCache>
                  <c:formatCode>General</c:formatCode>
                  <c:ptCount val="5"/>
                  <c:pt idx="0">
                    <c:v>3.28</c:v>
                  </c:pt>
                  <c:pt idx="1">
                    <c:v>2.2000000000000002</c:v>
                  </c:pt>
                  <c:pt idx="2">
                    <c:v>0.61</c:v>
                  </c:pt>
                  <c:pt idx="3">
                    <c:v>2.1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food'!$BC$70:$BC$74</c:f>
                <c:numCache>
                  <c:formatCode>General</c:formatCode>
                  <c:ptCount val="5"/>
                  <c:pt idx="0">
                    <c:v>3.28</c:v>
                  </c:pt>
                  <c:pt idx="1">
                    <c:v>2.2000000000000002</c:v>
                  </c:pt>
                  <c:pt idx="2">
                    <c:v>0.61</c:v>
                  </c:pt>
                  <c:pt idx="3">
                    <c:v>2.1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food'!$AY$70:$AY$74</c:f>
              <c:numCache>
                <c:formatCode>General</c:formatCode>
                <c:ptCount val="5"/>
                <c:pt idx="0">
                  <c:v>42.96</c:v>
                </c:pt>
                <c:pt idx="1">
                  <c:v>49.01</c:v>
                </c:pt>
                <c:pt idx="2">
                  <c:v>55.83</c:v>
                </c:pt>
                <c:pt idx="3">
                  <c:v>58.83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3D6-8849-B290-784D269BBC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97545552"/>
        <c:axId val="297550544"/>
      </c:barChart>
      <c:catAx>
        <c:axId val="29754555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ysClr val="windowText" lastClr="000000"/>
                    </a:solidFill>
                    <a:latin typeface="Book Antiqua" panose="02040602050305030304" pitchFamily="18" charset="0"/>
                    <a:ea typeface="+mn-ea"/>
                    <a:cs typeface="+mn-cs"/>
                  </a:defRPr>
                </a:pPr>
                <a:r>
                  <a:rPr lang="en-US" sz="1200"/>
                  <a:t>Concentration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ysClr val="windowText" lastClr="000000"/>
                  </a:solidFill>
                  <a:latin typeface="Book Antiqua" panose="02040602050305030304" pitchFamily="18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ysClr val="windowText" lastClr="000000"/>
                </a:solidFill>
                <a:latin typeface="Book Antiqua" panose="02040602050305030304" pitchFamily="18" charset="0"/>
                <a:ea typeface="+mn-ea"/>
                <a:cs typeface="+mn-cs"/>
              </a:defRPr>
            </a:pPr>
            <a:endParaRPr lang="en-US"/>
          </a:p>
        </c:txPr>
        <c:crossAx val="297550544"/>
        <c:crosses val="autoZero"/>
        <c:auto val="1"/>
        <c:lblAlgn val="ctr"/>
        <c:lblOffset val="100"/>
        <c:noMultiLvlLbl val="0"/>
      </c:catAx>
      <c:valAx>
        <c:axId val="297550544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ysClr val="windowText" lastClr="000000"/>
                    </a:solidFill>
                    <a:latin typeface="Book Antiqua" panose="02040602050305030304" pitchFamily="18" charset="0"/>
                    <a:ea typeface="+mn-ea"/>
                    <a:cs typeface="+mn-cs"/>
                  </a:defRPr>
                </a:pPr>
                <a:r>
                  <a:rPr lang="en-US"/>
                  <a:t>Growth inhibition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ysClr val="windowText" lastClr="000000"/>
                  </a:solidFill>
                  <a:latin typeface="Book Antiqua" panose="02040602050305030304" pitchFamily="18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ysClr val="windowText" lastClr="000000"/>
                </a:solidFill>
                <a:latin typeface="Book Antiqua" panose="02040602050305030304" pitchFamily="18" charset="0"/>
                <a:ea typeface="+mn-ea"/>
                <a:cs typeface="+mn-cs"/>
              </a:defRPr>
            </a:pPr>
            <a:endParaRPr lang="en-US"/>
          </a:p>
        </c:txPr>
        <c:crossAx val="2975455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ysClr val="windowText" lastClr="000000"/>
              </a:solidFill>
              <a:latin typeface="Book Antiqua" panose="02040602050305030304" pitchFamily="18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ysClr val="windowText" lastClr="000000"/>
          </a:solidFill>
          <a:latin typeface="Book Antiqua" panose="02040602050305030304" pitchFamily="18" charset="0"/>
        </a:defRPr>
      </a:pPr>
      <a:endParaRPr lang="en-US"/>
    </a:p>
  </c:txPr>
  <c:userShapes r:id="rId3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'Poison food'!$AV$69</c:f>
              <c:strCache>
                <c:ptCount val="1"/>
                <c:pt idx="0">
                  <c:v>Nativo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food'!$AZ$70:$AZ$74</c:f>
                <c:numCache>
                  <c:formatCode>General</c:formatCode>
                  <c:ptCount val="5"/>
                  <c:pt idx="0">
                    <c:v>0.97</c:v>
                  </c:pt>
                  <c:pt idx="1">
                    <c:v>0.96</c:v>
                  </c:pt>
                  <c:pt idx="2">
                    <c:v>0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food'!$AZ$70:$AZ$74</c:f>
                <c:numCache>
                  <c:formatCode>General</c:formatCode>
                  <c:ptCount val="5"/>
                  <c:pt idx="0">
                    <c:v>0.97</c:v>
                  </c:pt>
                  <c:pt idx="1">
                    <c:v>0.96</c:v>
                  </c:pt>
                  <c:pt idx="2">
                    <c:v>0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food'!$AV$70:$AV$74</c:f>
              <c:numCache>
                <c:formatCode>General</c:formatCode>
                <c:ptCount val="5"/>
                <c:pt idx="0">
                  <c:v>67.73</c:v>
                </c:pt>
                <c:pt idx="1">
                  <c:v>73.09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593-7847-A517-C60F83DE59F0}"/>
            </c:ext>
          </c:extLst>
        </c:ser>
        <c:ser>
          <c:idx val="1"/>
          <c:order val="1"/>
          <c:tx>
            <c:strRef>
              <c:f>'Poison food'!$AW$69</c:f>
              <c:strCache>
                <c:ptCount val="1"/>
                <c:pt idx="0">
                  <c:v>Tilt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food'!$BA$70:$BA$74</c:f>
                <c:numCache>
                  <c:formatCode>General</c:formatCode>
                  <c:ptCount val="5"/>
                  <c:pt idx="0">
                    <c:v>1.32</c:v>
                  </c:pt>
                  <c:pt idx="1">
                    <c:v>2</c:v>
                  </c:pt>
                  <c:pt idx="2">
                    <c:v>0.55000000000000004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food'!$BA$70:$BA$74</c:f>
                <c:numCache>
                  <c:formatCode>General</c:formatCode>
                  <c:ptCount val="5"/>
                  <c:pt idx="0">
                    <c:v>1.32</c:v>
                  </c:pt>
                  <c:pt idx="1">
                    <c:v>2</c:v>
                  </c:pt>
                  <c:pt idx="2">
                    <c:v>0.55000000000000004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food'!$AW$70:$AW$74</c:f>
              <c:numCache>
                <c:formatCode>General</c:formatCode>
                <c:ptCount val="5"/>
                <c:pt idx="0">
                  <c:v>53.18</c:v>
                </c:pt>
                <c:pt idx="1">
                  <c:v>59.88</c:v>
                </c:pt>
                <c:pt idx="2">
                  <c:v>73.38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593-7847-A517-C60F83DE59F0}"/>
            </c:ext>
          </c:extLst>
        </c:ser>
        <c:ser>
          <c:idx val="2"/>
          <c:order val="2"/>
          <c:tx>
            <c:strRef>
              <c:f>'Poison food'!$AX$69</c:f>
              <c:strCache>
                <c:ptCount val="1"/>
                <c:pt idx="0">
                  <c:v>Bavistin 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food'!$BB$70:$BB$74</c:f>
                <c:numCache>
                  <c:formatCode>General</c:formatCode>
                  <c:ptCount val="5"/>
                  <c:pt idx="0">
                    <c:v>1.55</c:v>
                  </c:pt>
                  <c:pt idx="1">
                    <c:v>0.89</c:v>
                  </c:pt>
                  <c:pt idx="2">
                    <c:v>2.7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food'!$BB$70:$BB$74</c:f>
                <c:numCache>
                  <c:formatCode>General</c:formatCode>
                  <c:ptCount val="5"/>
                  <c:pt idx="0">
                    <c:v>1.55</c:v>
                  </c:pt>
                  <c:pt idx="1">
                    <c:v>0.89</c:v>
                  </c:pt>
                  <c:pt idx="2">
                    <c:v>2.7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food'!$AX$70:$AX$74</c:f>
              <c:numCache>
                <c:formatCode>General</c:formatCode>
                <c:ptCount val="5"/>
                <c:pt idx="0">
                  <c:v>65.400000000000006</c:v>
                </c:pt>
                <c:pt idx="1">
                  <c:v>69.760000000000005</c:v>
                </c:pt>
                <c:pt idx="2">
                  <c:v>70.95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593-7847-A517-C60F83DE59F0}"/>
            </c:ext>
          </c:extLst>
        </c:ser>
        <c:ser>
          <c:idx val="3"/>
          <c:order val="3"/>
          <c:tx>
            <c:strRef>
              <c:f>'Poison food'!$AY$69</c:f>
              <c:strCache>
                <c:ptCount val="1"/>
                <c:pt idx="0">
                  <c:v>Folicur 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food'!$BC$70:$BC$74</c:f>
                <c:numCache>
                  <c:formatCode>General</c:formatCode>
                  <c:ptCount val="5"/>
                  <c:pt idx="0">
                    <c:v>3.28</c:v>
                  </c:pt>
                  <c:pt idx="1">
                    <c:v>2.2000000000000002</c:v>
                  </c:pt>
                  <c:pt idx="2">
                    <c:v>0.61</c:v>
                  </c:pt>
                  <c:pt idx="3">
                    <c:v>2.1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food'!$BC$70:$BC$74</c:f>
                <c:numCache>
                  <c:formatCode>General</c:formatCode>
                  <c:ptCount val="5"/>
                  <c:pt idx="0">
                    <c:v>3.28</c:v>
                  </c:pt>
                  <c:pt idx="1">
                    <c:v>2.2000000000000002</c:v>
                  </c:pt>
                  <c:pt idx="2">
                    <c:v>0.61</c:v>
                  </c:pt>
                  <c:pt idx="3">
                    <c:v>2.1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food'!$AY$70:$AY$74</c:f>
              <c:numCache>
                <c:formatCode>General</c:formatCode>
                <c:ptCount val="5"/>
                <c:pt idx="0">
                  <c:v>42.96</c:v>
                </c:pt>
                <c:pt idx="1">
                  <c:v>49.01</c:v>
                </c:pt>
                <c:pt idx="2">
                  <c:v>55.83</c:v>
                </c:pt>
                <c:pt idx="3">
                  <c:v>58.83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593-7847-A517-C60F83DE59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97545552"/>
        <c:axId val="297550544"/>
      </c:barChart>
      <c:catAx>
        <c:axId val="29754555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ysClr val="windowText" lastClr="000000"/>
                    </a:solidFill>
                    <a:latin typeface="Book Antiqua" panose="02040602050305030304" pitchFamily="18" charset="0"/>
                    <a:ea typeface="+mn-ea"/>
                    <a:cs typeface="+mn-cs"/>
                  </a:defRPr>
                </a:pPr>
                <a:r>
                  <a:rPr lang="en-US" sz="1200"/>
                  <a:t>Concentration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ysClr val="windowText" lastClr="000000"/>
                  </a:solidFill>
                  <a:latin typeface="Book Antiqua" panose="02040602050305030304" pitchFamily="18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ysClr val="windowText" lastClr="000000"/>
                </a:solidFill>
                <a:latin typeface="Book Antiqua" panose="02040602050305030304" pitchFamily="18" charset="0"/>
                <a:ea typeface="+mn-ea"/>
                <a:cs typeface="+mn-cs"/>
              </a:defRPr>
            </a:pPr>
            <a:endParaRPr lang="en-US"/>
          </a:p>
        </c:txPr>
        <c:crossAx val="297550544"/>
        <c:crosses val="autoZero"/>
        <c:auto val="1"/>
        <c:lblAlgn val="ctr"/>
        <c:lblOffset val="100"/>
        <c:noMultiLvlLbl val="0"/>
      </c:catAx>
      <c:valAx>
        <c:axId val="297550544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ysClr val="windowText" lastClr="000000"/>
                    </a:solidFill>
                    <a:latin typeface="Book Antiqua" panose="02040602050305030304" pitchFamily="18" charset="0"/>
                    <a:ea typeface="+mn-ea"/>
                    <a:cs typeface="+mn-cs"/>
                  </a:defRPr>
                </a:pPr>
                <a:r>
                  <a:rPr lang="en-US" sz="1200"/>
                  <a:t>Growth inhibition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ysClr val="windowText" lastClr="000000"/>
                  </a:solidFill>
                  <a:latin typeface="Book Antiqua" panose="02040602050305030304" pitchFamily="18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ysClr val="windowText" lastClr="000000"/>
                </a:solidFill>
                <a:latin typeface="Book Antiqua" panose="02040602050305030304" pitchFamily="18" charset="0"/>
                <a:ea typeface="+mn-ea"/>
                <a:cs typeface="+mn-cs"/>
              </a:defRPr>
            </a:pPr>
            <a:endParaRPr lang="en-US"/>
          </a:p>
        </c:txPr>
        <c:crossAx val="2975455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ysClr val="windowText" lastClr="000000"/>
              </a:solidFill>
              <a:latin typeface="Book Antiqua" panose="02040602050305030304" pitchFamily="18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ysClr val="windowText" lastClr="000000"/>
          </a:solidFill>
          <a:latin typeface="Book Antiqua" panose="02040602050305030304" pitchFamily="18" charset="0"/>
        </a:defRPr>
      </a:pPr>
      <a:endParaRPr lang="en-US"/>
    </a:p>
  </c:txPr>
  <c:userShapes r:id="rId3"/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'Poison food'!$AV$69</c:f>
              <c:strCache>
                <c:ptCount val="1"/>
                <c:pt idx="0">
                  <c:v>Nativo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food'!$AZ$70:$AZ$74</c:f>
                <c:numCache>
                  <c:formatCode>General</c:formatCode>
                  <c:ptCount val="5"/>
                  <c:pt idx="0">
                    <c:v>0.97</c:v>
                  </c:pt>
                  <c:pt idx="1">
                    <c:v>0.96</c:v>
                  </c:pt>
                  <c:pt idx="2">
                    <c:v>0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food'!$AZ$70:$AZ$74</c:f>
                <c:numCache>
                  <c:formatCode>General</c:formatCode>
                  <c:ptCount val="5"/>
                  <c:pt idx="0">
                    <c:v>0.97</c:v>
                  </c:pt>
                  <c:pt idx="1">
                    <c:v>0.96</c:v>
                  </c:pt>
                  <c:pt idx="2">
                    <c:v>0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food'!$AV$70:$AV$74</c:f>
              <c:numCache>
                <c:formatCode>General</c:formatCode>
                <c:ptCount val="5"/>
                <c:pt idx="0">
                  <c:v>67.73</c:v>
                </c:pt>
                <c:pt idx="1">
                  <c:v>73.09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70B-CA47-BB93-422B40745F14}"/>
            </c:ext>
          </c:extLst>
        </c:ser>
        <c:ser>
          <c:idx val="1"/>
          <c:order val="1"/>
          <c:tx>
            <c:strRef>
              <c:f>'Poison food'!$AW$69</c:f>
              <c:strCache>
                <c:ptCount val="1"/>
                <c:pt idx="0">
                  <c:v>Tilt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food'!$BA$70:$BA$74</c:f>
                <c:numCache>
                  <c:formatCode>General</c:formatCode>
                  <c:ptCount val="5"/>
                  <c:pt idx="0">
                    <c:v>1.32</c:v>
                  </c:pt>
                  <c:pt idx="1">
                    <c:v>2</c:v>
                  </c:pt>
                  <c:pt idx="2">
                    <c:v>0.55000000000000004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food'!$BA$70:$BA$74</c:f>
                <c:numCache>
                  <c:formatCode>General</c:formatCode>
                  <c:ptCount val="5"/>
                  <c:pt idx="0">
                    <c:v>1.32</c:v>
                  </c:pt>
                  <c:pt idx="1">
                    <c:v>2</c:v>
                  </c:pt>
                  <c:pt idx="2">
                    <c:v>0.55000000000000004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food'!$AW$70:$AW$74</c:f>
              <c:numCache>
                <c:formatCode>General</c:formatCode>
                <c:ptCount val="5"/>
                <c:pt idx="0">
                  <c:v>53.18</c:v>
                </c:pt>
                <c:pt idx="1">
                  <c:v>59.88</c:v>
                </c:pt>
                <c:pt idx="2">
                  <c:v>73.38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70B-CA47-BB93-422B40745F14}"/>
            </c:ext>
          </c:extLst>
        </c:ser>
        <c:ser>
          <c:idx val="2"/>
          <c:order val="2"/>
          <c:tx>
            <c:strRef>
              <c:f>'Poison food'!$AX$69</c:f>
              <c:strCache>
                <c:ptCount val="1"/>
                <c:pt idx="0">
                  <c:v>Bavistin 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food'!$BB$70:$BB$74</c:f>
                <c:numCache>
                  <c:formatCode>General</c:formatCode>
                  <c:ptCount val="5"/>
                  <c:pt idx="0">
                    <c:v>1.55</c:v>
                  </c:pt>
                  <c:pt idx="1">
                    <c:v>0.89</c:v>
                  </c:pt>
                  <c:pt idx="2">
                    <c:v>2.7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food'!$BB$70:$BB$74</c:f>
                <c:numCache>
                  <c:formatCode>General</c:formatCode>
                  <c:ptCount val="5"/>
                  <c:pt idx="0">
                    <c:v>1.55</c:v>
                  </c:pt>
                  <c:pt idx="1">
                    <c:v>0.89</c:v>
                  </c:pt>
                  <c:pt idx="2">
                    <c:v>2.7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food'!$AX$70:$AX$74</c:f>
              <c:numCache>
                <c:formatCode>General</c:formatCode>
                <c:ptCount val="5"/>
                <c:pt idx="0">
                  <c:v>65.400000000000006</c:v>
                </c:pt>
                <c:pt idx="1">
                  <c:v>69.760000000000005</c:v>
                </c:pt>
                <c:pt idx="2">
                  <c:v>70.95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70B-CA47-BB93-422B40745F14}"/>
            </c:ext>
          </c:extLst>
        </c:ser>
        <c:ser>
          <c:idx val="3"/>
          <c:order val="3"/>
          <c:tx>
            <c:strRef>
              <c:f>'Poison food'!$AY$69</c:f>
              <c:strCache>
                <c:ptCount val="1"/>
                <c:pt idx="0">
                  <c:v>Folicur 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food'!$BC$70:$BC$74</c:f>
                <c:numCache>
                  <c:formatCode>General</c:formatCode>
                  <c:ptCount val="5"/>
                  <c:pt idx="0">
                    <c:v>3.28</c:v>
                  </c:pt>
                  <c:pt idx="1">
                    <c:v>2.2000000000000002</c:v>
                  </c:pt>
                  <c:pt idx="2">
                    <c:v>0.61</c:v>
                  </c:pt>
                  <c:pt idx="3">
                    <c:v>2.1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food'!$BC$70:$BC$74</c:f>
                <c:numCache>
                  <c:formatCode>General</c:formatCode>
                  <c:ptCount val="5"/>
                  <c:pt idx="0">
                    <c:v>3.28</c:v>
                  </c:pt>
                  <c:pt idx="1">
                    <c:v>2.2000000000000002</c:v>
                  </c:pt>
                  <c:pt idx="2">
                    <c:v>0.61</c:v>
                  </c:pt>
                  <c:pt idx="3">
                    <c:v>2.1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food'!$AY$70:$AY$74</c:f>
              <c:numCache>
                <c:formatCode>General</c:formatCode>
                <c:ptCount val="5"/>
                <c:pt idx="0">
                  <c:v>42.96</c:v>
                </c:pt>
                <c:pt idx="1">
                  <c:v>49.01</c:v>
                </c:pt>
                <c:pt idx="2">
                  <c:v>55.83</c:v>
                </c:pt>
                <c:pt idx="3">
                  <c:v>58.83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70B-CA47-BB93-422B40745F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97545552"/>
        <c:axId val="297550544"/>
      </c:barChart>
      <c:catAx>
        <c:axId val="29754555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ysClr val="windowText" lastClr="000000"/>
                    </a:solidFill>
                    <a:latin typeface="Book Antiqua" panose="02040602050305030304" pitchFamily="18" charset="0"/>
                    <a:ea typeface="+mn-ea"/>
                    <a:cs typeface="+mn-cs"/>
                  </a:defRPr>
                </a:pPr>
                <a:r>
                  <a:rPr lang="en-US" sz="1200"/>
                  <a:t>Concentration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ysClr val="windowText" lastClr="000000"/>
                  </a:solidFill>
                  <a:latin typeface="Book Antiqua" panose="02040602050305030304" pitchFamily="18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ysClr val="windowText" lastClr="000000"/>
                </a:solidFill>
                <a:latin typeface="Book Antiqua" panose="02040602050305030304" pitchFamily="18" charset="0"/>
                <a:ea typeface="+mn-ea"/>
                <a:cs typeface="+mn-cs"/>
              </a:defRPr>
            </a:pPr>
            <a:endParaRPr lang="en-US"/>
          </a:p>
        </c:txPr>
        <c:crossAx val="297550544"/>
        <c:crosses val="autoZero"/>
        <c:auto val="1"/>
        <c:lblAlgn val="ctr"/>
        <c:lblOffset val="100"/>
        <c:noMultiLvlLbl val="0"/>
      </c:catAx>
      <c:valAx>
        <c:axId val="297550544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ysClr val="windowText" lastClr="000000"/>
                    </a:solidFill>
                    <a:latin typeface="Book Antiqua" panose="02040602050305030304" pitchFamily="18" charset="0"/>
                    <a:ea typeface="+mn-ea"/>
                    <a:cs typeface="+mn-cs"/>
                  </a:defRPr>
                </a:pPr>
                <a:r>
                  <a:rPr lang="en-US" sz="1200"/>
                  <a:t>Growth inhibition (%)</a:t>
                </a:r>
              </a:p>
            </c:rich>
          </c:tx>
          <c:layout>
            <c:manualLayout>
              <c:xMode val="edge"/>
              <c:yMode val="edge"/>
              <c:x val="2.6723702738309145E-2"/>
              <c:y val="0.27550167520532709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ysClr val="windowText" lastClr="000000"/>
                  </a:solidFill>
                  <a:latin typeface="Book Antiqua" panose="02040602050305030304" pitchFamily="18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ysClr val="windowText" lastClr="000000"/>
                </a:solidFill>
                <a:latin typeface="Book Antiqua" panose="02040602050305030304" pitchFamily="18" charset="0"/>
                <a:ea typeface="+mn-ea"/>
                <a:cs typeface="+mn-cs"/>
              </a:defRPr>
            </a:pPr>
            <a:endParaRPr lang="en-US"/>
          </a:p>
        </c:txPr>
        <c:crossAx val="2975455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ysClr val="windowText" lastClr="000000"/>
              </a:solidFill>
              <a:latin typeface="Book Antiqua" panose="02040602050305030304" pitchFamily="18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ysClr val="windowText" lastClr="000000"/>
          </a:solidFill>
          <a:latin typeface="Book Antiqua" panose="02040602050305030304" pitchFamily="18" charset="0"/>
        </a:defRPr>
      </a:pPr>
      <a:endParaRPr lang="en-US"/>
    </a:p>
  </c:txPr>
  <c:userShapes r:id="rId3"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0.04755</cdr:x>
      <cdr:y>0.12925</cdr:y>
    </cdr:to>
    <cdr:sp macro="" textlink="">
      <cdr:nvSpPr>
        <cdr:cNvPr id="2" name="Text Box 35"/>
        <cdr:cNvSpPr txBox="1"/>
      </cdr:nvSpPr>
      <cdr:spPr>
        <a:xfrm xmlns:a="http://schemas.openxmlformats.org/drawingml/2006/main">
          <a:off x="0" y="0"/>
          <a:ext cx="259080" cy="289560"/>
        </a:xfrm>
        <a:prstGeom xmlns:a="http://schemas.openxmlformats.org/drawingml/2006/main" prst="rect">
          <a:avLst/>
        </a:prstGeom>
        <a:solidFill xmlns:a="http://schemas.openxmlformats.org/drawingml/2006/main">
          <a:schemeClr val="lt1"/>
        </a:solidFill>
        <a:ln xmlns:a="http://schemas.openxmlformats.org/drawingml/2006/main" w="6350">
          <a:solidFill>
            <a:prstClr val="black"/>
          </a:solidFill>
        </a:ln>
      </cdr:spPr>
      <cdr:txBody>
        <a:bodyPr xmlns:a="http://schemas.openxmlformats.org/drawingml/2006/main" rot="0" spcFirstLastPara="0" vert="horz" wrap="square" lIns="91440" tIns="45720" rIns="91440" bIns="45720" numCol="1" spcCol="0" rtlCol="0" fromWordArt="0" anchor="t" anchorCtr="0" forceAA="0" compatLnSpc="1">
          <a:prstTxWarp prst="textNoShape">
            <a:avLst/>
          </a:prstTxWarp>
          <a:noAutofit/>
        </a:bodyPr>
        <a:lstStyle xmlns:a="http://schemas.openxmlformats.org/drawingml/2006/main"/>
        <a:p xmlns:a="http://schemas.openxmlformats.org/drawingml/2006/main">
          <a:pPr marL="0" marR="0">
            <a:spcBef>
              <a:spcPts val="0"/>
            </a:spcBef>
            <a:spcAft>
              <a:spcPts val="0"/>
            </a:spcAft>
          </a:pPr>
          <a:r>
            <a:rPr lang="en-US" sz="1000">
              <a:effectLst/>
              <a:latin typeface="Times New Roman" panose="02020603050405020304" pitchFamily="18" charset="0"/>
              <a:ea typeface="Times New Roman" panose="02020603050405020304" pitchFamily="18" charset="0"/>
            </a:rPr>
            <a:t>a</a:t>
          </a:r>
        </a:p>
      </cdr:txBody>
    </cdr:sp>
  </cdr:relSizeAnchor>
</c:userShapes>
</file>

<file path=ppt/drawings/drawing2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0.04755</cdr:x>
      <cdr:y>0.12925</cdr:y>
    </cdr:to>
    <cdr:sp macro="" textlink="">
      <cdr:nvSpPr>
        <cdr:cNvPr id="2" name="Text Box 35"/>
        <cdr:cNvSpPr txBox="1"/>
      </cdr:nvSpPr>
      <cdr:spPr>
        <a:xfrm xmlns:a="http://schemas.openxmlformats.org/drawingml/2006/main">
          <a:off x="0" y="0"/>
          <a:ext cx="259080" cy="289560"/>
        </a:xfrm>
        <a:prstGeom xmlns:a="http://schemas.openxmlformats.org/drawingml/2006/main" prst="rect">
          <a:avLst/>
        </a:prstGeom>
        <a:solidFill xmlns:a="http://schemas.openxmlformats.org/drawingml/2006/main">
          <a:schemeClr val="lt1"/>
        </a:solidFill>
        <a:ln xmlns:a="http://schemas.openxmlformats.org/drawingml/2006/main" w="6350">
          <a:solidFill>
            <a:prstClr val="black"/>
          </a:solidFill>
        </a:ln>
      </cdr:spPr>
      <cdr:txBody>
        <a:bodyPr xmlns:a="http://schemas.openxmlformats.org/drawingml/2006/main" rot="0" spcFirstLastPara="0" vert="horz" wrap="square" lIns="91440" tIns="45720" rIns="91440" bIns="45720" numCol="1" spcCol="0" rtlCol="0" fromWordArt="0" anchor="t" anchorCtr="0" forceAA="0" compatLnSpc="1">
          <a:prstTxWarp prst="textNoShape">
            <a:avLst/>
          </a:prstTxWarp>
          <a:noAutofit/>
        </a:bodyPr>
        <a:lstStyle xmlns:a="http://schemas.openxmlformats.org/drawingml/2006/main"/>
        <a:p xmlns:a="http://schemas.openxmlformats.org/drawingml/2006/main">
          <a:pPr marL="0" marR="0">
            <a:spcBef>
              <a:spcPts val="0"/>
            </a:spcBef>
            <a:spcAft>
              <a:spcPts val="0"/>
            </a:spcAft>
          </a:pPr>
          <a:r>
            <a:rPr lang="en-US" sz="1000">
              <a:effectLst/>
              <a:latin typeface="Times New Roman" panose="02020603050405020304" pitchFamily="18" charset="0"/>
              <a:ea typeface="Times New Roman" panose="02020603050405020304" pitchFamily="18" charset="0"/>
            </a:rPr>
            <a:t>b</a:t>
          </a:r>
        </a:p>
      </cdr:txBody>
    </cdr:sp>
  </cdr:relSizeAnchor>
</c:userShapes>
</file>

<file path=ppt/drawings/drawing3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0.04755</cdr:x>
      <cdr:y>0.12925</cdr:y>
    </cdr:to>
    <cdr:sp macro="" textlink="">
      <cdr:nvSpPr>
        <cdr:cNvPr id="2" name="Text Box 35"/>
        <cdr:cNvSpPr txBox="1"/>
      </cdr:nvSpPr>
      <cdr:spPr>
        <a:xfrm xmlns:a="http://schemas.openxmlformats.org/drawingml/2006/main">
          <a:off x="0" y="0"/>
          <a:ext cx="259080" cy="289560"/>
        </a:xfrm>
        <a:prstGeom xmlns:a="http://schemas.openxmlformats.org/drawingml/2006/main" prst="rect">
          <a:avLst/>
        </a:prstGeom>
        <a:solidFill xmlns:a="http://schemas.openxmlformats.org/drawingml/2006/main">
          <a:schemeClr val="lt1"/>
        </a:solidFill>
        <a:ln xmlns:a="http://schemas.openxmlformats.org/drawingml/2006/main" w="6350">
          <a:solidFill>
            <a:prstClr val="black"/>
          </a:solidFill>
        </a:ln>
      </cdr:spPr>
      <cdr:txBody>
        <a:bodyPr xmlns:a="http://schemas.openxmlformats.org/drawingml/2006/main" rot="0" spcFirstLastPara="0" vert="horz" wrap="square" lIns="91440" tIns="45720" rIns="91440" bIns="45720" numCol="1" spcCol="0" rtlCol="0" fromWordArt="0" anchor="t" anchorCtr="0" forceAA="0" compatLnSpc="1">
          <a:prstTxWarp prst="textNoShape">
            <a:avLst/>
          </a:prstTxWarp>
          <a:noAutofit/>
        </a:bodyPr>
        <a:lstStyle xmlns:a="http://schemas.openxmlformats.org/drawingml/2006/main"/>
        <a:p xmlns:a="http://schemas.openxmlformats.org/drawingml/2006/main">
          <a:pPr marL="0" marR="0">
            <a:spcBef>
              <a:spcPts val="0"/>
            </a:spcBef>
            <a:spcAft>
              <a:spcPts val="0"/>
            </a:spcAft>
          </a:pPr>
          <a:r>
            <a:rPr lang="en-US" sz="1000">
              <a:effectLst/>
              <a:latin typeface="Times New Roman" panose="02020603050405020304" pitchFamily="18" charset="0"/>
              <a:ea typeface="Times New Roman" panose="02020603050405020304" pitchFamily="18" charset="0"/>
            </a:rPr>
            <a:t>c</a:t>
          </a:r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82DC17-D87D-224B-836E-A2595A75B2E9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DB7928-061D-A744-B0C3-EAC6F7623B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2987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 /><Relationship Id="rId1" Type="http://schemas.openxmlformats.org/officeDocument/2006/relationships/notesMaster" Target="../notesMasters/notesMaster1.xml" 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
<Relationships xmlns="http://schemas.openxmlformats.org/package/2006/relationships"><Relationship Id="rId2" Type="http://schemas.openxmlformats.org/officeDocument/2006/relationships/image" Target="../media/image1.jpeg" /><Relationship Id="rId1" Type="http://schemas.openxmlformats.org/officeDocument/2006/relationships/slideMaster" Target="../slideMasters/slideMaster1.xml" /><Relationship Id="rIdBauLogo" Type="http://schemas.openxmlformats.org/officeDocument/2006/relationships/image" Target="../media/bau_logo.jpe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 /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 /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5" name="Gold bar"/>
          <p:cNvSpPr/>
          <p:nvPr userDrawn="1"/>
        </p:nvSpPr>
        <p:spPr>
          <a:xfrm>
            <a:off x="0" y="2029968"/>
            <a:ext cx="12192000" cy="64008"/>
          </a:xfrm>
          <a:prstGeom prst="rect">
            <a:avLst/>
          </a:prstGeom>
          <a:gradFill rotWithShape="0">
            <a:gsLst>
              <a:gs pos="0">
                <a:srgbClr val="766000"/>
              </a:gs>
              <a:gs pos="100000">
                <a:srgbClr val="FFDE53"/>
              </a:gs>
            </a:gsLst>
            <a:lin ang="0" scaled="0"/>
          </a:gradFill>
          <a:ln w="3240">
            <a:solidFill>
              <a:srgbClr val="E8BC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006" name="Bottom bar"/>
          <p:cNvSpPr/>
          <p:nvPr userDrawn="1"/>
        </p:nvSpPr>
        <p:spPr>
          <a:xfrm>
            <a:off x="0" y="6748272"/>
            <a:ext cx="12192000" cy="64008"/>
          </a:xfrm>
          <a:prstGeom prst="rect">
            <a:avLst/>
          </a:prstGeom>
          <a:gradFill rotWithShape="0">
            <a:gsLst>
              <a:gs pos="0">
                <a:srgbClr val="333333"/>
              </a:gs>
              <a:gs pos="100000">
                <a:srgbClr val="D0D0D0"/>
              </a:gs>
            </a:gsLst>
            <a:lin ang="0" scaled="0"/>
          </a:gradFill>
          <a:ln w="3240">
            <a:solidFill>
              <a:srgbClr val="ABABAB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9007" name="BAU logo"/>
          <p:cNvPicPr>
            <a:picLocks noChangeAspect="1"/>
          </p:cNvPicPr>
          <p:nvPr userDrawn="1"/>
        </p:nvPicPr>
        <p:blipFill>
          <a:blip r:embed="rIdBauLogo"/>
          <a:stretch>
            <a:fillRect/>
          </a:stretch>
        </p:blipFill>
        <p:spPr>
          <a:xfrm>
            <a:off x="109728" y="6382512"/>
            <a:ext cx="448654" cy="38404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C47A3-854B-1E78-BB63-90D58EB152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</p:spPr>
        <p:txBody>
          <a:bodyPr anchor="b"/>
          <a:lstStyle>
            <a:lvl1pPr algn="ctr">
              <a:defRPr sz="5998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F5AAC-3D17-F293-E532-912BADC7DC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399"/>
            </a:lvl1pPr>
            <a:lvl2pPr marL="457063" indent="0" algn="ctr">
              <a:buNone/>
              <a:defRPr sz="1999"/>
            </a:lvl2pPr>
            <a:lvl3pPr marL="914126" indent="0" algn="ctr">
              <a:buNone/>
              <a:defRPr sz="1799"/>
            </a:lvl3pPr>
            <a:lvl4pPr marL="1371189" indent="0" algn="ctr">
              <a:buNone/>
              <a:defRPr sz="1600"/>
            </a:lvl4pPr>
            <a:lvl5pPr marL="1828251" indent="0" algn="ctr">
              <a:buNone/>
              <a:defRPr sz="1600"/>
            </a:lvl5pPr>
            <a:lvl6pPr marL="2285314" indent="0" algn="ctr">
              <a:buNone/>
              <a:defRPr sz="1600"/>
            </a:lvl6pPr>
            <a:lvl7pPr marL="2742377" indent="0" algn="ctr">
              <a:buNone/>
              <a:defRPr sz="1600"/>
            </a:lvl7pPr>
            <a:lvl8pPr marL="3199440" indent="0" algn="ctr">
              <a:buNone/>
              <a:defRPr sz="1600"/>
            </a:lvl8pPr>
            <a:lvl9pPr marL="3656503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4AA50-4EDE-A6A6-7F00-917562499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75F053-DD6D-4695-B72D-2B7A4A3BDD49}" type="datetime1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55ED8-A334-AB32-A74B-AF9E08050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D280A5-CCD7-32A5-5BE8-30406AB04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CB124-C0EE-4D94-B8BE-1337D4C3C6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2559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8298" y="365040"/>
            <a:ext cx="10512578" cy="1322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838298" y="1825560"/>
            <a:ext cx="10512578" cy="434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88F58E64-9829-4264-BDE3-D817C194D5FE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42809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64592"/>
            <a:ext cx="11640312" cy="777240"/>
          </a:xfrm>
          <a:prstGeom prst="rect">
            <a:avLst/>
          </a:prstGeom>
          <a:solidFill>
            <a:srgbClr val="B4C7E7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411481" y="164592"/>
            <a:ext cx="113385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199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199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6731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19F8C1-330B-B11B-0315-17775D5E4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3B108-2AA6-41B8-80EA-03B9639E3A0F}" type="datetime1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71A503-5E91-F483-8250-1D7021271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E9AF30-CD8B-C96E-6063-147F4413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CB124-C0EE-4D94-B8BE-1337D4C3C6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1242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V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8" name="Gold bar"/>
          <p:cNvSpPr/>
          <p:nvPr userDrawn="1"/>
        </p:nvSpPr>
        <p:spPr>
          <a:xfrm>
            <a:off x="0" y="2029968"/>
            <a:ext cx="12192000" cy="64008"/>
          </a:xfrm>
          <a:prstGeom prst="rect">
            <a:avLst/>
          </a:prstGeom>
          <a:gradFill rotWithShape="0">
            <a:gsLst>
              <a:gs pos="0">
                <a:srgbClr val="766000"/>
              </a:gs>
              <a:gs pos="100000">
                <a:srgbClr val="FFDE53"/>
              </a:gs>
            </a:gsLst>
            <a:lin ang="0" scaled="0"/>
          </a:gradFill>
          <a:ln w="3240">
            <a:solidFill>
              <a:srgbClr val="E8BC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009" name="Bottom bar"/>
          <p:cNvSpPr/>
          <p:nvPr userDrawn="1"/>
        </p:nvSpPr>
        <p:spPr>
          <a:xfrm>
            <a:off x="0" y="6748272"/>
            <a:ext cx="12192000" cy="64008"/>
          </a:xfrm>
          <a:prstGeom prst="rect">
            <a:avLst/>
          </a:prstGeom>
          <a:gradFill rotWithShape="0">
            <a:gsLst>
              <a:gs pos="0">
                <a:srgbClr val="333333"/>
              </a:gs>
              <a:gs pos="100000">
                <a:srgbClr val="D0D0D0"/>
              </a:gs>
            </a:gsLst>
            <a:lin ang="0" scaled="0"/>
          </a:gradFill>
          <a:ln w="3240">
            <a:solidFill>
              <a:srgbClr val="ABABA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theme" Target="../theme/theme1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5" Type="http://schemas.openxmlformats.org/officeDocument/2006/relationships/slideLayout" Target="../slideLayouts/slideLayout5.xml" /><Relationship Id="rId4" Type="http://schemas.openxmlformats.org/officeDocument/2006/relationships/slideLayout" Target="../slideLayouts/slideLayout4.xml" /><Relationship Id="rIdBauLogo" Type="http://schemas.openxmlformats.org/officeDocument/2006/relationships/image" Target="../media/bau_logo.jpeg"/><Relationship Id="rIdCoverLayout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2" name="Title band"/>
          <p:cNvSpPr/>
          <p:nvPr userDrawn="1"/>
        </p:nvSpPr>
        <p:spPr>
          <a:xfrm>
            <a:off x="0" y="0"/>
            <a:ext cx="12192000" cy="1115568"/>
          </a:xfrm>
          <a:prstGeom prst="rect">
            <a:avLst/>
          </a:prstGeom>
          <a:gradFill rotWithShape="0">
            <a:gsLst>
              <a:gs pos="0">
                <a:srgbClr val="D0D0D0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03" name="Gold bar"/>
          <p:cNvSpPr/>
          <p:nvPr userDrawn="1"/>
        </p:nvSpPr>
        <p:spPr>
          <a:xfrm>
            <a:off x="0" y="1115568"/>
            <a:ext cx="12192000" cy="64008"/>
          </a:xfrm>
          <a:prstGeom prst="rect">
            <a:avLst/>
          </a:prstGeom>
          <a:gradFill rotWithShape="0">
            <a:gsLst>
              <a:gs pos="0">
                <a:srgbClr val="766000"/>
              </a:gs>
              <a:gs pos="100000">
                <a:srgbClr val="FFDE53"/>
              </a:gs>
            </a:gsLst>
            <a:lin ang="0" scaled="0"/>
          </a:gradFill>
          <a:ln w="3240">
            <a:solidFill>
              <a:srgbClr val="E8BC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001" name="Bottom bar"/>
          <p:cNvSpPr/>
          <p:nvPr userDrawn="1"/>
        </p:nvSpPr>
        <p:spPr>
          <a:xfrm>
            <a:off x="0" y="6748272"/>
            <a:ext cx="12192000" cy="64008"/>
          </a:xfrm>
          <a:prstGeom prst="rect">
            <a:avLst/>
          </a:prstGeom>
          <a:gradFill rotWithShape="0">
            <a:gsLst>
              <a:gs pos="0">
                <a:srgbClr val="333333"/>
              </a:gs>
              <a:gs pos="100000">
                <a:srgbClr val="D0D0D0"/>
              </a:gs>
            </a:gsLst>
            <a:lin ang="0" scaled="0"/>
          </a:gradFill>
          <a:ln w="3240">
            <a:solidFill>
              <a:srgbClr val="ABABAB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9004" name="BAU logo"/>
          <p:cNvPicPr>
            <a:picLocks noChangeAspect="1"/>
          </p:cNvPicPr>
          <p:nvPr userDrawn="1"/>
        </p:nvPicPr>
        <p:blipFill>
          <a:blip r:embed="rIdBauLogo"/>
          <a:stretch>
            <a:fillRect/>
          </a:stretch>
        </p:blipFill>
        <p:spPr>
          <a:xfrm>
            <a:off x="109728" y="6382512"/>
            <a:ext cx="448654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CoverLayout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.xml" /><Relationship Id="rId1" Type="http://schemas.openxmlformats.org/officeDocument/2006/relationships/slideLayout" Target="../slideLayouts/slideLayout8.xml" /></Relationships>
</file>

<file path=ppt/slides/_rels/slide2.xml.rels><?xml version="1.0" encoding="UTF-8" standalone="yes"?>
<Relationships xmlns="http://schemas.openxmlformats.org/package/2006/relationships"><Relationship Id="rId2" Type="http://schemas.openxmlformats.org/officeDocument/2006/relationships/image" Target="../media/image2.jpeg" /><Relationship Id="rId1" Type="http://schemas.openxmlformats.org/officeDocument/2006/relationships/slideLayout" Target="../slideLayouts/slideLayout8.xml" 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 /><Relationship Id="rId1" Type="http://schemas.openxmlformats.org/officeDocument/2006/relationships/slideLayout" Target="../slideLayouts/slideLayout3.xml" 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 /><Relationship Id="rId2" Type="http://schemas.openxmlformats.org/officeDocument/2006/relationships/image" Target="../media/image4.png" /><Relationship Id="rId1" Type="http://schemas.openxmlformats.org/officeDocument/2006/relationships/slideLayout" Target="../slideLayouts/slideLayout3.xml" /></Relationships>
</file>

<file path=ppt/slides/_rels/slide6.xml.rels><?xml version="1.0" encoding="UTF-8" standalone="yes"?>
<Relationships xmlns="http://schemas.openxmlformats.org/package/2006/relationships"><Relationship Id="rId3" Type="http://schemas.openxmlformats.org/officeDocument/2006/relationships/image" Target="../media/image7.png" /><Relationship Id="rId2" Type="http://schemas.openxmlformats.org/officeDocument/2006/relationships/image" Target="../media/image6.png" /><Relationship Id="rId1" Type="http://schemas.openxmlformats.org/officeDocument/2006/relationships/slideLayout" Target="../slideLayouts/slideLayout3.xml" /><Relationship Id="rId4" Type="http://schemas.openxmlformats.org/officeDocument/2006/relationships/image" Target="../media/image8.png" 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 /><Relationship Id="rId2" Type="http://schemas.openxmlformats.org/officeDocument/2006/relationships/notesSlide" Target="../notesSlides/notesSlide2.xml" /><Relationship Id="rId1" Type="http://schemas.openxmlformats.org/officeDocument/2006/relationships/slideLayout" Target="../slideLayouts/slideLayout3.xml" 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tmp" /><Relationship Id="rId2" Type="http://schemas.openxmlformats.org/officeDocument/2006/relationships/notesSlide" Target="../notesSlides/notesSlide3.xml" /><Relationship Id="rId1" Type="http://schemas.openxmlformats.org/officeDocument/2006/relationships/slideLayout" Target="../slideLayouts/slideLayout3.xml" /><Relationship Id="rId4" Type="http://schemas.openxmlformats.org/officeDocument/2006/relationships/image" Target="../media/image11.tmp" 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 /><Relationship Id="rId1" Type="http://schemas.openxmlformats.org/officeDocument/2006/relationships/slideLayout" Target="../slideLayouts/slideLayout3.xml" 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 /><Relationship Id="rId1" Type="http://schemas.openxmlformats.org/officeDocument/2006/relationships/slideLayout" Target="../slideLayouts/slideLayout3.xml" 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 /><Relationship Id="rId1" Type="http://schemas.openxmlformats.org/officeDocument/2006/relationships/slideLayout" Target="../slideLayouts/slideLayout3.xml" 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 /><Relationship Id="rId2" Type="http://schemas.openxmlformats.org/officeDocument/2006/relationships/notesSlide" Target="../notesSlides/notesSlide6.xml" /><Relationship Id="rId1" Type="http://schemas.openxmlformats.org/officeDocument/2006/relationships/slideLayout" Target="../slideLayouts/slideLayout3.xml" /><Relationship Id="rId5" Type="http://schemas.openxmlformats.org/officeDocument/2006/relationships/image" Target="../media/image15.jpeg" /><Relationship Id="rId4" Type="http://schemas.openxmlformats.org/officeDocument/2006/relationships/image" Target="../media/image14.jpeg" 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tmp" /><Relationship Id="rId2" Type="http://schemas.openxmlformats.org/officeDocument/2006/relationships/notesSlide" Target="../notesSlides/notesSlide7.xml" /><Relationship Id="rId1" Type="http://schemas.openxmlformats.org/officeDocument/2006/relationships/slideLayout" Target="../slideLayouts/slideLayout3.xml" 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 /><Relationship Id="rId2" Type="http://schemas.openxmlformats.org/officeDocument/2006/relationships/notesSlide" Target="../notesSlides/notesSlide8.xml" /><Relationship Id="rId1" Type="http://schemas.openxmlformats.org/officeDocument/2006/relationships/slideLayout" Target="../slideLayouts/slideLayout3.xml" /><Relationship Id="rId4" Type="http://schemas.openxmlformats.org/officeDocument/2006/relationships/image" Target="../media/image18.tmp" 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 /><Relationship Id="rId2" Type="http://schemas.openxmlformats.org/officeDocument/2006/relationships/notesSlide" Target="../notesSlides/notesSlide9.xml" /><Relationship Id="rId1" Type="http://schemas.openxmlformats.org/officeDocument/2006/relationships/slideLayout" Target="../slideLayouts/slideLayout3.xml" /><Relationship Id="rId5" Type="http://schemas.openxmlformats.org/officeDocument/2006/relationships/chart" Target="../charts/chart3.xml" /><Relationship Id="rId4" Type="http://schemas.openxmlformats.org/officeDocument/2006/relationships/chart" Target="../charts/chart2.xml" 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 /><Relationship Id="rId1" Type="http://schemas.openxmlformats.org/officeDocument/2006/relationships/slideLayout" Target="../slideLayouts/slideLayout3.xml" 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tmp" /><Relationship Id="rId7" Type="http://schemas.openxmlformats.org/officeDocument/2006/relationships/image" Target="../media/image23.png" /><Relationship Id="rId2" Type="http://schemas.openxmlformats.org/officeDocument/2006/relationships/notesSlide" Target="../notesSlides/notesSlide11.xml" /><Relationship Id="rId1" Type="http://schemas.openxmlformats.org/officeDocument/2006/relationships/slideLayout" Target="../slideLayouts/slideLayout3.xml" /><Relationship Id="rId6" Type="http://schemas.openxmlformats.org/officeDocument/2006/relationships/image" Target="../media/image22.png" /><Relationship Id="rId5" Type="http://schemas.openxmlformats.org/officeDocument/2006/relationships/image" Target="../media/image21.png" /><Relationship Id="rId4" Type="http://schemas.openxmlformats.org/officeDocument/2006/relationships/image" Target="../media/image20.tmp" 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tmp" /><Relationship Id="rId2" Type="http://schemas.openxmlformats.org/officeDocument/2006/relationships/notesSlide" Target="../notesSlides/notesSlide12.xml" /><Relationship Id="rId1" Type="http://schemas.openxmlformats.org/officeDocument/2006/relationships/slideLayout" Target="../slideLayouts/slideLayout3.xml" 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tmp" /><Relationship Id="rId2" Type="http://schemas.openxmlformats.org/officeDocument/2006/relationships/notesSlide" Target="../notesSlides/notesSlide13.xml" /><Relationship Id="rId1" Type="http://schemas.openxmlformats.org/officeDocument/2006/relationships/slideLayout" Target="../slideLayouts/slideLayout3.xml" /><Relationship Id="rId6" Type="http://schemas.openxmlformats.org/officeDocument/2006/relationships/image" Target="../media/image19.tmp" /><Relationship Id="rId5" Type="http://schemas.openxmlformats.org/officeDocument/2006/relationships/image" Target="../media/image27.tmp" /><Relationship Id="rId4" Type="http://schemas.openxmlformats.org/officeDocument/2006/relationships/image" Target="../media/image26.tmp" 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 /><Relationship Id="rId1" Type="http://schemas.openxmlformats.org/officeDocument/2006/relationships/slideLayout" Target="../slideLayouts/slideLayout3.xml" 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 /><Relationship Id="rId1" Type="http://schemas.openxmlformats.org/officeDocument/2006/relationships/slideLayout" Target="../slideLayouts/slideLayout3.xml" 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 /><Relationship Id="rId1" Type="http://schemas.openxmlformats.org/officeDocument/2006/relationships/slideLayout" Target="../slideLayouts/slideLayout3.xml" 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 /><Relationship Id="rId1" Type="http://schemas.openxmlformats.org/officeDocument/2006/relationships/slideLayout" Target="../slideLayouts/slideLayout3.xml" 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 /><Relationship Id="rId1" Type="http://schemas.openxmlformats.org/officeDocument/2006/relationships/slideLayout" Target="../slideLayouts/slideLayout3.xml" 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 /><Relationship Id="rId1" Type="http://schemas.openxmlformats.org/officeDocument/2006/relationships/slideLayout" Target="../slideLayouts/slideLayout3.xml" 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 /><Relationship Id="rId1" Type="http://schemas.openxmlformats.org/officeDocument/2006/relationships/slideLayout" Target="../slideLayouts/slideLayout3.xml" 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 /><Relationship Id="rId1" Type="http://schemas.openxmlformats.org/officeDocument/2006/relationships/slideLayout" Target="../slideLayouts/slideLayout3.xml" 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 /><Relationship Id="rId1" Type="http://schemas.openxmlformats.org/officeDocument/2006/relationships/slideLayout" Target="../slideLayouts/slideLayout3.xml" 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 /><Relationship Id="rId1" Type="http://schemas.openxmlformats.org/officeDocument/2006/relationships/slideLayout" Target="../slideLayouts/slideLayout3.xml" 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 /><Relationship Id="rId1" Type="http://schemas.openxmlformats.org/officeDocument/2006/relationships/slideLayout" Target="../slideLayouts/slideLayout3.xml" 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 /><Relationship Id="rId1" Type="http://schemas.openxmlformats.org/officeDocument/2006/relationships/slideLayout" Target="../slideLayouts/slideLayout3.xml" 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 /><Relationship Id="rId1" Type="http://schemas.openxmlformats.org/officeDocument/2006/relationships/slideLayout" Target="../slideLayouts/slideLayout3.xml" 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 /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5430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IDENTIFICATION AND CHARACTERIZATION OF </a:t>
            </a:r>
            <a:r>
              <a:rPr lang="en-US" sz="2800" b="1" i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Cercospora</a:t>
            </a:r>
            <a:r>
              <a:rPr lang="en-US" sz="28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sp. CAUSING LEAF SPOT ON ROSELLE (</a:t>
            </a:r>
            <a:r>
              <a:rPr lang="en-US" sz="2800" b="1" i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Hibiscus sabdariffa</a:t>
            </a:r>
            <a:r>
              <a:rPr lang="en-US" sz="28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L.) AND ITS MANAGEMENT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40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B5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 MAZUMDER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974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No.: 24120508 · Reg. No.: 49427 · Session: 2018-19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Plant Pathology, Bangladesh Agricultural University, Mymensingh-2202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749040"/>
            <a:ext cx="5212080" cy="1965960"/>
          </a:xfrm>
          <a:prstGeom prst="roundRect">
            <a:avLst>
              <a:gd name="adj" fmla="val 4651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68680" y="3931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B5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2452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B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Mohammad Delwar Hossain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6634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Professor, Department of Plant Pathology</a:t>
            </a:r>
            <a:endParaRPr lang="en-US" sz="14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Bangladesh Agricultural University</a:t>
            </a:r>
            <a:endParaRPr lang="en-US" sz="14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Mymensingh-2202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28232" y="3749040"/>
            <a:ext cx="5212080" cy="1965960"/>
          </a:xfrm>
          <a:prstGeom prst="roundRect">
            <a:avLst>
              <a:gd name="adj" fmla="val 4651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6748272" y="3931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B5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CO-SUPERVISOR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748272" y="422452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B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Islam Hamim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748272" y="46634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and Head, Department of Plant Pathology</a:t>
            </a:r>
            <a:endParaRPr lang="en-US" sz="14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Bangladesh Agricultural University</a:t>
            </a:r>
            <a:endParaRPr lang="en-US" sz="14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Mymensingh-2202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FA257E-87F9-178D-7C03-DA2BDB6A8031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xfrm>
            <a:off x="265815" y="320039"/>
            <a:ext cx="11686952" cy="165762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799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IDENTIFICATION AND CHARACTERIZATION OF </a:t>
            </a:r>
            <a:r>
              <a:rPr lang="en-US" sz="2799" b="1" i="1" dirty="0" err="1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Cercospora</a:t>
            </a:r>
            <a:r>
              <a:rPr lang="en-US" sz="2799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sp. CAUSING LEAF SPOT ON ROSELLE (</a:t>
            </a:r>
            <a:r>
              <a:rPr lang="en-US" sz="2799" b="1" i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Hibiscus </a:t>
            </a:r>
            <a:r>
              <a:rPr lang="en-US" sz="2799" b="1" i="1" dirty="0" err="1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sabdariffa</a:t>
            </a:r>
            <a:r>
              <a:rPr lang="en-US" sz="2799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L.) AND ITS MANAGEMENT</a:t>
            </a: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399" dirty="0">
              <a:solidFill>
                <a:schemeClr val="accent2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7DE2BC-7505-4053-5C89-1EFD28327927}"/>
              </a:ext>
            </a:extLst>
          </p:cNvPr>
          <p:cNvSpPr txBox="1"/>
          <p:nvPr/>
        </p:nvSpPr>
        <p:spPr>
          <a:xfrm>
            <a:off x="4484374" y="2105906"/>
            <a:ext cx="3976754" cy="1323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999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NISHA MAZUMDER </a:t>
            </a:r>
          </a:p>
          <a:p>
            <a:pPr algn="ctr"/>
            <a:r>
              <a:rPr lang="en-US" sz="1999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ID No.:24120508</a:t>
            </a:r>
            <a:endParaRPr lang="en-US" sz="1999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999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Reg. No.: 49427</a:t>
            </a:r>
          </a:p>
          <a:p>
            <a:pPr algn="ctr"/>
            <a:r>
              <a:rPr lang="en-US" sz="19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Session: 2018-19</a:t>
            </a: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26DA420F-378A-DE15-666C-2C29D5EA81E5}"/>
              </a:ext>
            </a:extLst>
          </p:cNvPr>
          <p:cNvSpPr txBox="1"/>
          <p:nvPr/>
        </p:nvSpPr>
        <p:spPr>
          <a:xfrm>
            <a:off x="1669983" y="3557242"/>
            <a:ext cx="3519523" cy="17369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SUPERVISOR 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Prof. Dr. Mohammad Delwar Hossain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Professor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Plant Pathology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Bangladesh Agricultural University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Mymensingh-2202</a:t>
            </a:r>
            <a:endParaRPr lang="en-US" sz="1400" dirty="0"/>
          </a:p>
        </p:txBody>
      </p:sp>
      <p:sp>
        <p:nvSpPr>
          <p:cNvPr id="10" name="Text 13">
            <a:extLst>
              <a:ext uri="{FF2B5EF4-FFF2-40B4-BE49-F238E27FC236}">
                <a16:creationId xmlns:a16="http://schemas.microsoft.com/office/drawing/2014/main" id="{F30DFB36-D1A6-6D66-A863-4C41DE3ABD93}"/>
              </a:ext>
            </a:extLst>
          </p:cNvPr>
          <p:cNvSpPr txBox="1"/>
          <p:nvPr/>
        </p:nvSpPr>
        <p:spPr>
          <a:xfrm>
            <a:off x="7419704" y="3557242"/>
            <a:ext cx="3519523" cy="17369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CO-SUPERVISOR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Prof. Dr. Islam Hamim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Professor and Head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Plant Pathology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Bangladesh Agricultural University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Mymensingh-2202</a:t>
            </a:r>
            <a:endParaRPr lang="en-US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8F6964-6967-EFCF-A169-80852E8FEFBE}"/>
              </a:ext>
            </a:extLst>
          </p:cNvPr>
          <p:cNvSpPr txBox="1"/>
          <p:nvPr/>
        </p:nvSpPr>
        <p:spPr>
          <a:xfrm>
            <a:off x="5065738" y="5567105"/>
            <a:ext cx="4113728" cy="1015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999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Plant Pathology</a:t>
            </a:r>
          </a:p>
          <a:p>
            <a:r>
              <a:rPr lang="en-US" sz="1999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Bangladesh Agricultural University</a:t>
            </a:r>
            <a:endParaRPr lang="en-US" sz="1999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999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Mymensingh - 2202</a:t>
            </a:r>
            <a:endParaRPr lang="en-US" sz="1999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1EFB802-D72D-9753-ACD8-1790BE5E371E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9916" y="5567106"/>
            <a:ext cx="1220827" cy="1015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3613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86BE322C-5D27-7FF1-EAEE-92021B8A74D2}"/>
              </a:ext>
            </a:extLst>
          </p:cNvPr>
          <p:cNvSpPr txBox="1">
            <a:spLocks noGrp="1"/>
          </p:cNvSpPr>
          <p:nvPr>
            <p:ph type="title" idx="100"/>
          </p:nvPr>
        </p:nvSpPr>
        <p:spPr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txBody>
          <a:bodyPr wrap="square" rtlCol="0"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b="1" dirty="0"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Introduction</a:t>
            </a:r>
            <a:endParaRPr lang="en-US" sz="3600" dirty="0">
              <a:latin typeface="Times New Roman" panose="02020603050405020304" pitchFamily="18" charset="0"/>
              <a:ea typeface="ADLaM Display" panose="0201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CD1328DB-EF09-B260-7C9A-C09107CB834E}"/>
              </a:ext>
            </a:extLst>
          </p:cNvPr>
          <p:cNvSpPr txBox="1"/>
          <p:nvPr/>
        </p:nvSpPr>
        <p:spPr>
          <a:xfrm>
            <a:off x="548640" y="1446257"/>
            <a:ext cx="6312315" cy="4445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316" indent="-279316" algn="just">
              <a:spcAft>
                <a:spcPts val="1800"/>
              </a:spcAft>
              <a:buSzPct val="100000"/>
              <a:buFont typeface="Wingdings" pitchFamily="2" charset="2"/>
              <a:buChar char="Ø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Roselle (</a:t>
            </a:r>
            <a:r>
              <a:rPr lang="en-US" sz="24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Hibiscus sabdariffa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L.) is a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multipurpose annual crop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of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Malvaceae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locally known as '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Chukur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' or 'Mesta' (Islam, 2019).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79316" indent="-279316" algn="just">
              <a:spcAft>
                <a:spcPts val="1800"/>
              </a:spcAft>
              <a:buSzPct val="100000"/>
              <a:buFont typeface="Wingdings" pitchFamily="2" charset="2"/>
              <a:buChar char="Ø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Grown for </a:t>
            </a:r>
            <a:r>
              <a:rPr lang="en-US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bast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calyces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(tea, jam, syrup),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edible leaves and seed oil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(Chew </a:t>
            </a:r>
            <a:r>
              <a:rPr lang="en-US" sz="24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 al.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2024).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79316" indent="-279316" algn="just">
              <a:spcAft>
                <a:spcPts val="1800"/>
              </a:spcAft>
              <a:buSzPct val="100000"/>
              <a:buFont typeface="Wingdings" pitchFamily="2" charset="2"/>
              <a:buChar char="Ø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Calyces are rich in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anthocyanins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phenolics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with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antihypertensive, antioxidant and antimicrobial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activity (Da-Costa-Rocha </a:t>
            </a:r>
            <a:r>
              <a:rPr lang="en-US" sz="24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al.,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2014).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85BB1D8-B377-08E1-39A7-EF03D0C5A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054" y="1304489"/>
            <a:ext cx="4109258" cy="4587720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6408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D7BB8008-9259-32D9-4788-E6379754BDD1}"/>
              </a:ext>
            </a:extLst>
          </p:cNvPr>
          <p:cNvSpPr txBox="1">
            <a:spLocks noGrp="1"/>
          </p:cNvSpPr>
          <p:nvPr>
            <p:ph type="title" idx="100"/>
          </p:nvPr>
        </p:nvSpPr>
        <p:spPr>
          <a:xfrm>
            <a:off x="548640" y="256244"/>
            <a:ext cx="11091672" cy="731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txBody>
          <a:bodyPr wrap="square" rtlCol="0" anchor="ctr"/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ct val="0"/>
              </a:spcBef>
              <a:buFont typeface="Arial" pitchFamily="34" charset="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199" b="1" dirty="0"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3600" b="1" dirty="0"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Significance</a:t>
            </a:r>
            <a:endParaRPr lang="en-US" sz="3600" dirty="0">
              <a:latin typeface="Times New Roman" panose="02020603050405020304" pitchFamily="18" charset="0"/>
              <a:ea typeface="ADLaM Display" panose="0201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B59FE6C4-CC59-CCF6-3775-8727E16417E1}"/>
              </a:ext>
            </a:extLst>
          </p:cNvPr>
          <p:cNvSpPr txBox="1"/>
          <p:nvPr/>
        </p:nvSpPr>
        <p:spPr>
          <a:xfrm>
            <a:off x="587269" y="1463552"/>
            <a:ext cx="6581966" cy="4387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spcAft>
                <a:spcPts val="1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Foliar diseases cut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photosynthetic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leaf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area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calyx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quality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spcAft>
                <a:spcPts val="1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Leaf spot fungi of different genera (</a:t>
            </a:r>
            <a:r>
              <a:rPr lang="en-US" sz="2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Cercospora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Corynespora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Coniella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produce near-identical lesions — symptoms alone cannot diagnose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spcAft>
                <a:spcPts val="1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Cercospora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leaf spots occur on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Hibiscus species and can cause complete crop loss (Park </a:t>
            </a:r>
            <a:r>
              <a:rPr lang="en-US" sz="24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., 2017)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spcAft>
                <a:spcPts val="1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leaf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spot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of uncertain cause appeared in roselle fields of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Mymensingh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Tangail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tat card 1">
            <a:extLst>
              <a:ext uri="{FF2B5EF4-FFF2-40B4-BE49-F238E27FC236}">
                <a16:creationId xmlns:a16="http://schemas.microsoft.com/office/drawing/2014/main" id="{6DCC0CC1-4799-239B-DB89-928EE93C827D}"/>
              </a:ext>
            </a:extLst>
          </p:cNvPr>
          <p:cNvSpPr/>
          <p:nvPr/>
        </p:nvSpPr>
        <p:spPr>
          <a:xfrm>
            <a:off x="7709416" y="1487255"/>
            <a:ext cx="3930896" cy="2056864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>
            <a:solidFill>
              <a:srgbClr val="002060"/>
            </a:solidFill>
          </a:ln>
        </p:spPr>
        <p:txBody>
          <a:bodyPr/>
          <a:lstStyle/>
          <a:p>
            <a:endParaRPr lang="en-US" sz="1799"/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F4FB0F22-57E3-F587-2374-DD42816B9F13}"/>
              </a:ext>
            </a:extLst>
          </p:cNvPr>
          <p:cNvSpPr txBox="1"/>
          <p:nvPr/>
        </p:nvSpPr>
        <p:spPr>
          <a:xfrm>
            <a:off x="8504145" y="1582956"/>
            <a:ext cx="2183164" cy="7384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799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~100%</a:t>
            </a:r>
            <a:endParaRPr lang="en-US" sz="4799" dirty="0"/>
          </a:p>
        </p:txBody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2082EE72-B486-EF40-DA01-68557579581B}"/>
              </a:ext>
            </a:extLst>
          </p:cNvPr>
          <p:cNvSpPr txBox="1"/>
          <p:nvPr/>
        </p:nvSpPr>
        <p:spPr>
          <a:xfrm>
            <a:off x="7902374" y="2489740"/>
            <a:ext cx="3473815" cy="914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incidence of </a:t>
            </a:r>
            <a:r>
              <a:rPr lang="en-US" sz="18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Corynespora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leaf &amp; calyx spot of roselle in Mexico (Ortega-Acosta </a:t>
            </a:r>
            <a:r>
              <a:rPr lang="en-US" sz="18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 al.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2016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  <a:endParaRPr lang="en-US" sz="1400" dirty="0"/>
          </a:p>
        </p:txBody>
      </p:sp>
      <p:sp>
        <p:nvSpPr>
          <p:cNvPr id="14" name="stat card 2">
            <a:extLst>
              <a:ext uri="{FF2B5EF4-FFF2-40B4-BE49-F238E27FC236}">
                <a16:creationId xmlns:a16="http://schemas.microsoft.com/office/drawing/2014/main" id="{DEB545EA-1F53-0B05-E604-781FC5B899C8}"/>
              </a:ext>
            </a:extLst>
          </p:cNvPr>
          <p:cNvSpPr/>
          <p:nvPr/>
        </p:nvSpPr>
        <p:spPr>
          <a:xfrm>
            <a:off x="7673835" y="3819820"/>
            <a:ext cx="3930896" cy="2056864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S" sz="1799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1099661E-D674-41A6-24FA-1C28ABE9929A}"/>
              </a:ext>
            </a:extLst>
          </p:cNvPr>
          <p:cNvSpPr txBox="1"/>
          <p:nvPr/>
        </p:nvSpPr>
        <p:spPr>
          <a:xfrm>
            <a:off x="8504145" y="3852634"/>
            <a:ext cx="2794536" cy="69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99" b="1" dirty="0">
                <a:solidFill>
                  <a:schemeClr val="bg1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No prior report</a:t>
            </a:r>
            <a:endParaRPr lang="en-US" sz="2999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6BFDF934-9EAF-A978-0E8E-D51E1E89ACA8}"/>
              </a:ext>
            </a:extLst>
          </p:cNvPr>
          <p:cNvSpPr txBox="1"/>
          <p:nvPr/>
        </p:nvSpPr>
        <p:spPr>
          <a:xfrm>
            <a:off x="8099797" y="4660605"/>
            <a:ext cx="2991860" cy="908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 </a:t>
            </a:r>
            <a:r>
              <a:rPr lang="en-US" sz="18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Cercospora</a:t>
            </a:r>
            <a:r>
              <a:rPr lang="en-US" sz="1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leaf spot of roselle, its identity or its management in Bangladesh</a:t>
            </a:r>
          </a:p>
        </p:txBody>
      </p:sp>
    </p:spTree>
    <p:extLst>
      <p:ext uri="{BB962C8B-B14F-4D97-AF65-F5344CB8AC3E}">
        <p14:creationId xmlns:p14="http://schemas.microsoft.com/office/powerpoint/2010/main" val="25128603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5000538B-44A6-80EA-FB42-6277E1511C8D}"/>
              </a:ext>
            </a:extLst>
          </p:cNvPr>
          <p:cNvSpPr txBox="1">
            <a:spLocks noGrp="1"/>
          </p:cNvSpPr>
          <p:nvPr>
            <p:ph type="title" idx="100"/>
          </p:nvPr>
        </p:nvSpPr>
        <p:spPr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solidFill>
              <a:srgbClr val="002060"/>
            </a:solidFill>
          </a:ln>
        </p:spPr>
        <p:txBody>
          <a:bodyPr wrap="square" lIns="0" tIns="0" rIns="0" bIns="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b="1" dirty="0"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 Objectives </a:t>
            </a:r>
            <a:endParaRPr lang="en-US" sz="3600" dirty="0">
              <a:latin typeface="Times New Roman" panose="02020603050405020304" pitchFamily="18" charset="0"/>
              <a:ea typeface="ADLaM Display" panose="0201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312C8C4-C4B5-1C58-12C1-8C4DCF8FF572}"/>
              </a:ext>
            </a:extLst>
          </p:cNvPr>
          <p:cNvSpPr txBox="1"/>
          <p:nvPr/>
        </p:nvSpPr>
        <p:spPr>
          <a:xfrm>
            <a:off x="2411632" y="1850401"/>
            <a:ext cx="9445498" cy="12710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isolate and identify the causal fungus of leaf spot disease of </a:t>
            </a:r>
            <a:r>
              <a:rPr lang="en-US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roselle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on the basis of its cultural and morphological characteristics</a:t>
            </a:r>
            <a:r>
              <a:rPr lang="en-US" sz="2199" b="1" dirty="0">
                <a:solidFill>
                  <a:schemeClr val="tx1"/>
                </a:solidFill>
              </a:rPr>
              <a:t>.</a:t>
            </a:r>
            <a:endParaRPr lang="en-US" sz="2199" dirty="0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D5C2A877-0725-9552-4B53-986C112B1668}"/>
              </a:ext>
            </a:extLst>
          </p:cNvPr>
          <p:cNvSpPr txBox="1"/>
          <p:nvPr/>
        </p:nvSpPr>
        <p:spPr>
          <a:xfrm>
            <a:off x="2411634" y="3842349"/>
            <a:ext cx="9445497" cy="17173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evaluate the efficacy of </a:t>
            </a:r>
            <a:r>
              <a:rPr lang="en-US" sz="2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Trichoderma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spp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(</a:t>
            </a:r>
            <a:r>
              <a:rPr lang="en-US" sz="2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T.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asperellum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T. </a:t>
            </a:r>
            <a:r>
              <a:rPr lang="en-US" sz="2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harzianum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2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viride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and selected fungicides in the management of Cercospora leaf spot of roselle.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bjective 1 circle">
            <a:extLst>
              <a:ext uri="{FF2B5EF4-FFF2-40B4-BE49-F238E27FC236}">
                <a16:creationId xmlns:a16="http://schemas.microsoft.com/office/drawing/2014/main" id="{549D93D3-20BA-5D94-7D35-864FA7FEED21}"/>
              </a:ext>
            </a:extLst>
          </p:cNvPr>
          <p:cNvSpPr/>
          <p:nvPr/>
        </p:nvSpPr>
        <p:spPr>
          <a:xfrm>
            <a:off x="961458" y="1920633"/>
            <a:ext cx="1096994" cy="1096994"/>
          </a:xfrm>
          <a:prstGeom prst="ellipse">
            <a:avLst/>
          </a:prstGeom>
          <a:solidFill>
            <a:schemeClr val="tx2">
              <a:lumMod val="75000"/>
            </a:schemeClr>
          </a:solidFill>
          <a:ln/>
        </p:spPr>
        <p:txBody>
          <a:bodyPr/>
          <a:lstStyle/>
          <a:p>
            <a:endParaRPr lang="en-US" sz="1799"/>
          </a:p>
        </p:txBody>
      </p:sp>
      <p:pic>
        <p:nvPicPr>
          <p:cNvPr id="12" name="objective 1" descr="objective 1">
            <a:extLst>
              <a:ext uri="{FF2B5EF4-FFF2-40B4-BE49-F238E27FC236}">
                <a16:creationId xmlns:a16="http://schemas.microsoft.com/office/drawing/2014/main" id="{9BA5F5D0-14A1-CA16-28B8-A701528EF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707" y="2194883"/>
            <a:ext cx="548497" cy="548497"/>
          </a:xfrm>
          <a:prstGeom prst="rect">
            <a:avLst/>
          </a:prstGeom>
        </p:spPr>
      </p:pic>
      <p:sp>
        <p:nvSpPr>
          <p:cNvPr id="14" name="objective 2 circle">
            <a:extLst>
              <a:ext uri="{FF2B5EF4-FFF2-40B4-BE49-F238E27FC236}">
                <a16:creationId xmlns:a16="http://schemas.microsoft.com/office/drawing/2014/main" id="{243D9AC1-6518-D555-6DFD-A95614338086}"/>
              </a:ext>
            </a:extLst>
          </p:cNvPr>
          <p:cNvSpPr/>
          <p:nvPr/>
        </p:nvSpPr>
        <p:spPr>
          <a:xfrm>
            <a:off x="961457" y="3993039"/>
            <a:ext cx="1096994" cy="1096994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 sz="1799"/>
          </a:p>
        </p:txBody>
      </p:sp>
      <p:pic>
        <p:nvPicPr>
          <p:cNvPr id="16" name="objective 2" descr="objective 2">
            <a:extLst>
              <a:ext uri="{FF2B5EF4-FFF2-40B4-BE49-F238E27FC236}">
                <a16:creationId xmlns:a16="http://schemas.microsoft.com/office/drawing/2014/main" id="{B4016F6E-8CD0-43EC-6590-2402975AC1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012" y="4234594"/>
            <a:ext cx="613885" cy="613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7508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D50D64E-A823-4650-B370-A71530470F6E}"/>
              </a:ext>
            </a:extLst>
          </p:cNvPr>
          <p:cNvSpPr txBox="1">
            <a:spLocks/>
          </p:cNvSpPr>
          <p:nvPr/>
        </p:nvSpPr>
        <p:spPr>
          <a:xfrm>
            <a:off x="314642" y="319136"/>
            <a:ext cx="11638792" cy="6151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Experimental approach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C2F450C-A884-4506-8F61-34E7FF51E121}"/>
              </a:ext>
            </a:extLst>
          </p:cNvPr>
          <p:cNvSpPr/>
          <p:nvPr/>
        </p:nvSpPr>
        <p:spPr>
          <a:xfrm>
            <a:off x="314642" y="1005839"/>
            <a:ext cx="3885349" cy="5639509"/>
          </a:xfrm>
          <a:prstGeom prst="roundRect">
            <a:avLst>
              <a:gd name="adj" fmla="val 2584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DEE1949-9E6F-49EC-A246-5614DE493709}"/>
              </a:ext>
            </a:extLst>
          </p:cNvPr>
          <p:cNvSpPr txBox="1"/>
          <p:nvPr/>
        </p:nvSpPr>
        <p:spPr>
          <a:xfrm>
            <a:off x="1592276" y="1131622"/>
            <a:ext cx="1584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Laboratory</a:t>
            </a:r>
            <a:endParaRPr lang="en-US" sz="2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3FA100F-C129-4E16-9AE5-A3D8F9929AD3}"/>
              </a:ext>
            </a:extLst>
          </p:cNvPr>
          <p:cNvSpPr txBox="1"/>
          <p:nvPr/>
        </p:nvSpPr>
        <p:spPr>
          <a:xfrm>
            <a:off x="1427291" y="1530655"/>
            <a:ext cx="2284329" cy="434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B5303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CRD · 3 replications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E45C2FB-D651-4AF3-AF14-9E49B018260E}"/>
              </a:ext>
            </a:extLst>
          </p:cNvPr>
          <p:cNvSpPr txBox="1"/>
          <p:nvPr/>
        </p:nvSpPr>
        <p:spPr>
          <a:xfrm>
            <a:off x="527692" y="2152910"/>
            <a:ext cx="3352080" cy="430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20 diseased leaves from Mymensingh &amp; Tangail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Isolation on PDA, single-spore purification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Cultural &amp; morphological identification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Growth at 10, 15, 20, 25, 30 °C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Pathogenicity test (Koch’s postulates)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Poisoned food: 4 fungicides × 5 doses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Dual culture: 3 </a:t>
            </a:r>
            <a:r>
              <a:rPr lang="en-US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Trichoderma</a:t>
            </a: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spp</a:t>
            </a: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E4ED7CE8-6BE2-4656-BC47-B9A1C228CEB6}"/>
              </a:ext>
            </a:extLst>
          </p:cNvPr>
          <p:cNvSpPr/>
          <p:nvPr/>
        </p:nvSpPr>
        <p:spPr>
          <a:xfrm>
            <a:off x="4631155" y="1005839"/>
            <a:ext cx="3538728" cy="5639509"/>
          </a:xfrm>
          <a:prstGeom prst="roundRect">
            <a:avLst>
              <a:gd name="adj" fmla="val 2584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389189F-D894-4294-8EEC-905696208AE7}"/>
              </a:ext>
            </a:extLst>
          </p:cNvPr>
          <p:cNvSpPr txBox="1"/>
          <p:nvPr/>
        </p:nvSpPr>
        <p:spPr>
          <a:xfrm>
            <a:off x="5630287" y="1171918"/>
            <a:ext cx="2258568" cy="306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 experiment</a:t>
            </a:r>
            <a:endParaRPr lang="en-US" sz="2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D78A678-9F71-436E-944A-995A6359CE01}"/>
              </a:ext>
            </a:extLst>
          </p:cNvPr>
          <p:cNvSpPr txBox="1"/>
          <p:nvPr/>
        </p:nvSpPr>
        <p:spPr>
          <a:xfrm>
            <a:off x="5726159" y="1576956"/>
            <a:ext cx="2200176" cy="599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b="1" dirty="0">
                <a:solidFill>
                  <a:srgbClr val="B5303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Net house, SPC, BAU · CRD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96E5950-5131-44D0-A85F-1D7E79CABD88}"/>
              </a:ext>
            </a:extLst>
          </p:cNvPr>
          <p:cNvSpPr txBox="1"/>
          <p:nvPr/>
        </p:nvSpPr>
        <p:spPr>
          <a:xfrm>
            <a:off x="5014169" y="2362395"/>
            <a:ext cx="3063240" cy="417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Sterilized clay loam soil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Deep red roselle variety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7 treatments (T0–T6)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Disease, growth data at 90 &amp; 180 DAS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2A6FCF3D-5BFE-4A84-BBB2-55124BEA3AF5}"/>
              </a:ext>
            </a:extLst>
          </p:cNvPr>
          <p:cNvSpPr/>
          <p:nvPr/>
        </p:nvSpPr>
        <p:spPr>
          <a:xfrm>
            <a:off x="8414706" y="1005838"/>
            <a:ext cx="3538728" cy="5639509"/>
          </a:xfrm>
          <a:prstGeom prst="roundRect">
            <a:avLst>
              <a:gd name="adj" fmla="val 2584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006EFB21-7973-41F4-94C4-1FCBFE57797E}"/>
              </a:ext>
            </a:extLst>
          </p:cNvPr>
          <p:cNvSpPr txBox="1"/>
          <p:nvPr/>
        </p:nvSpPr>
        <p:spPr>
          <a:xfrm>
            <a:off x="9473711" y="1151577"/>
            <a:ext cx="237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experiment</a:t>
            </a:r>
            <a:endParaRPr lang="en-US" sz="22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B32196C9-CB6B-4B3B-8BF4-92A8497C29E7}"/>
              </a:ext>
            </a:extLst>
          </p:cNvPr>
          <p:cNvSpPr txBox="1"/>
          <p:nvPr/>
        </p:nvSpPr>
        <p:spPr>
          <a:xfrm>
            <a:off x="9473711" y="1588822"/>
            <a:ext cx="2133436" cy="666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b="1" dirty="0">
                <a:solidFill>
                  <a:srgbClr val="B5303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Plant Pathology field, BAU · RCBD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530CA4E-DEC8-4043-81BE-6AFB350B415C}"/>
              </a:ext>
            </a:extLst>
          </p:cNvPr>
          <p:cNvSpPr txBox="1"/>
          <p:nvPr/>
        </p:nvSpPr>
        <p:spPr>
          <a:xfrm>
            <a:off x="8678629" y="2366842"/>
            <a:ext cx="30632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Sown 30 March 2025, line sowing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Recommended manures &amp; fertilizers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Same 7 treatments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Disease, growth &amp; yield at 90 &amp; 180 DAS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Laboratory circle">
            <a:extLst>
              <a:ext uri="{FF2B5EF4-FFF2-40B4-BE49-F238E27FC236}">
                <a16:creationId xmlns:a16="http://schemas.microsoft.com/office/drawing/2014/main" id="{35BD1F87-A8E2-4554-AF72-4D29B6808C9E}"/>
              </a:ext>
            </a:extLst>
          </p:cNvPr>
          <p:cNvSpPr/>
          <p:nvPr/>
        </p:nvSpPr>
        <p:spPr>
          <a:xfrm>
            <a:off x="584853" y="1133781"/>
            <a:ext cx="777038" cy="77703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 sz="1799" dirty="0"/>
          </a:p>
        </p:txBody>
      </p:sp>
      <p:pic>
        <p:nvPicPr>
          <p:cNvPr id="16" name="Laboratory" descr="Laboratory">
            <a:extLst>
              <a:ext uri="{FF2B5EF4-FFF2-40B4-BE49-F238E27FC236}">
                <a16:creationId xmlns:a16="http://schemas.microsoft.com/office/drawing/2014/main" id="{58800F49-12CA-4BE2-8E2C-2B65F58303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07" y="1324944"/>
            <a:ext cx="388519" cy="388519"/>
          </a:xfrm>
          <a:prstGeom prst="rect">
            <a:avLst/>
          </a:prstGeom>
        </p:spPr>
      </p:pic>
      <p:sp>
        <p:nvSpPr>
          <p:cNvPr id="17" name="Pot experiment circle">
            <a:extLst>
              <a:ext uri="{FF2B5EF4-FFF2-40B4-BE49-F238E27FC236}">
                <a16:creationId xmlns:a16="http://schemas.microsoft.com/office/drawing/2014/main" id="{A0EF01E4-3C2B-438A-9906-C7F1FC6C2817}"/>
              </a:ext>
            </a:extLst>
          </p:cNvPr>
          <p:cNvSpPr/>
          <p:nvPr/>
        </p:nvSpPr>
        <p:spPr>
          <a:xfrm>
            <a:off x="4727321" y="1160129"/>
            <a:ext cx="658143" cy="565693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 sz="1799" dirty="0"/>
          </a:p>
        </p:txBody>
      </p:sp>
      <p:pic>
        <p:nvPicPr>
          <p:cNvPr id="18" name="Pot experiment" descr="Pot experiment">
            <a:extLst>
              <a:ext uri="{FF2B5EF4-FFF2-40B4-BE49-F238E27FC236}">
                <a16:creationId xmlns:a16="http://schemas.microsoft.com/office/drawing/2014/main" id="{646FCD91-75B5-4DB4-9EA2-F89811730F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0477" y="1267355"/>
            <a:ext cx="388519" cy="388519"/>
          </a:xfrm>
          <a:prstGeom prst="rect">
            <a:avLst/>
          </a:prstGeom>
        </p:spPr>
      </p:pic>
      <p:sp>
        <p:nvSpPr>
          <p:cNvPr id="19" name="Field experiment circle">
            <a:extLst>
              <a:ext uri="{FF2B5EF4-FFF2-40B4-BE49-F238E27FC236}">
                <a16:creationId xmlns:a16="http://schemas.microsoft.com/office/drawing/2014/main" id="{7B523B39-1EE2-4B62-93ED-C5F43F4B0033}"/>
              </a:ext>
            </a:extLst>
          </p:cNvPr>
          <p:cNvSpPr/>
          <p:nvPr/>
        </p:nvSpPr>
        <p:spPr>
          <a:xfrm>
            <a:off x="8510577" y="1131622"/>
            <a:ext cx="754309" cy="666706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 sz="1799"/>
          </a:p>
        </p:txBody>
      </p:sp>
      <p:pic>
        <p:nvPicPr>
          <p:cNvPr id="20" name="Field experiment" descr="Field experiment">
            <a:extLst>
              <a:ext uri="{FF2B5EF4-FFF2-40B4-BE49-F238E27FC236}">
                <a16:creationId xmlns:a16="http://schemas.microsoft.com/office/drawing/2014/main" id="{E712B1CC-669C-4843-9ECB-EFAF9A0D55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8629" y="1220909"/>
            <a:ext cx="394653" cy="39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30515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 · Isolation and identification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37F9117-37AC-472E-947A-FBDA3BC681F3}"/>
              </a:ext>
            </a:extLst>
          </p:cNvPr>
          <p:cNvSpPr/>
          <p:nvPr/>
        </p:nvSpPr>
        <p:spPr>
          <a:xfrm>
            <a:off x="1078865" y="1542482"/>
            <a:ext cx="3512105" cy="201942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Infected leaves collected (Mymensingh, Tangail)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E66E4FB-B3C5-4368-BB6A-87701289D81E}"/>
              </a:ext>
            </a:extLst>
          </p:cNvPr>
          <p:cNvSpPr/>
          <p:nvPr/>
        </p:nvSpPr>
        <p:spPr>
          <a:xfrm>
            <a:off x="6990282" y="1542482"/>
            <a:ext cx="3375809" cy="188651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Surface sterilization (70% ethanol + 1% </a:t>
            </a:r>
            <a:r>
              <a:rPr lang="en-US" sz="2400" dirty="0" err="1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NaOCl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3410806-340B-4B44-8CCA-70371B88345E}"/>
              </a:ext>
            </a:extLst>
          </p:cNvPr>
          <p:cNvSpPr/>
          <p:nvPr/>
        </p:nvSpPr>
        <p:spPr>
          <a:xfrm>
            <a:off x="6990282" y="4289476"/>
            <a:ext cx="3740321" cy="151590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Plating on PDA, 30 ± 2 °C, 7–9 days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3D02DB5-940A-4C23-9403-1B7E93BAA08D}"/>
              </a:ext>
            </a:extLst>
          </p:cNvPr>
          <p:cNvSpPr/>
          <p:nvPr/>
        </p:nvSpPr>
        <p:spPr>
          <a:xfrm>
            <a:off x="1078865" y="4233513"/>
            <a:ext cx="3740321" cy="162745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Microscopic observation of conidiophores and conidia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E39FABB-F851-4561-8DC2-63E6EE957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7670" y="3514872"/>
            <a:ext cx="739493" cy="771804"/>
          </a:xfrm>
          <a:prstGeom prst="rect">
            <a:avLst/>
          </a:prstGeom>
        </p:spPr>
      </p:pic>
      <p:sp>
        <p:nvSpPr>
          <p:cNvPr id="20" name="Arrow: Right 19">
            <a:extLst>
              <a:ext uri="{FF2B5EF4-FFF2-40B4-BE49-F238E27FC236}">
                <a16:creationId xmlns:a16="http://schemas.microsoft.com/office/drawing/2014/main" id="{165EFE89-392B-4315-8F74-0F57D2401133}"/>
              </a:ext>
            </a:extLst>
          </p:cNvPr>
          <p:cNvSpPr/>
          <p:nvPr/>
        </p:nvSpPr>
        <p:spPr>
          <a:xfrm>
            <a:off x="5146158" y="2052084"/>
            <a:ext cx="1339702" cy="7315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Left 20">
            <a:extLst>
              <a:ext uri="{FF2B5EF4-FFF2-40B4-BE49-F238E27FC236}">
                <a16:creationId xmlns:a16="http://schemas.microsoft.com/office/drawing/2014/main" id="{71BC189E-C823-4B77-81C6-F1020EE1E2A9}"/>
              </a:ext>
            </a:extLst>
          </p:cNvPr>
          <p:cNvSpPr/>
          <p:nvPr/>
        </p:nvSpPr>
        <p:spPr>
          <a:xfrm>
            <a:off x="5201719" y="4742121"/>
            <a:ext cx="1284141" cy="73152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 16">
            <a:extLst>
              <a:ext uri="{FF2B5EF4-FFF2-40B4-BE49-F238E27FC236}">
                <a16:creationId xmlns:a16="http://schemas.microsoft.com/office/drawing/2014/main" id="{BDF4DAD9-A1A1-C0CF-E55F-FFBF6673E20A}"/>
              </a:ext>
            </a:extLst>
          </p:cNvPr>
          <p:cNvSpPr txBox="1"/>
          <p:nvPr/>
        </p:nvSpPr>
        <p:spPr>
          <a:xfrm rot="10800000" flipV="1">
            <a:off x="2834917" y="6030743"/>
            <a:ext cx="8443370" cy="428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Figure 1: Isolation and Identification </a:t>
            </a:r>
            <a:r>
              <a:rPr lang="en-US" sz="2000" b="1" i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of </a:t>
            </a:r>
            <a:r>
              <a:rPr lang="en-US" sz="2000" b="1" i="1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Cercospora</a:t>
            </a:r>
            <a:r>
              <a:rPr lang="en-US" sz="2000" b="1" i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sp.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87625" y="191165"/>
            <a:ext cx="11091672" cy="731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5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Pot and field experiment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3860097" y="1381345"/>
            <a:ext cx="3657600" cy="4859967"/>
          </a:xfrm>
          <a:prstGeom prst="roundRect">
            <a:avLst>
              <a:gd name="adj" fmla="val 25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4088697" y="1489443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Experimental site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4088697" y="1937871"/>
            <a:ext cx="3246120" cy="44115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Pot: Net house, Prof. Golam Ali Fakir Seed Pathology Center, BAU (CRD)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Field: Plant Pathology field laboratory, BAU (RCBD), clay loam, pH 6.5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Variety: deep red plant with deep red calyx; sown 30 March 2025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004491" y="1149734"/>
            <a:ext cx="3227832" cy="4250055"/>
          </a:xfrm>
          <a:prstGeom prst="roundRect">
            <a:avLst>
              <a:gd name="adj" fmla="val 2833"/>
            </a:avLst>
          </a:prstGeom>
          <a:solidFill>
            <a:schemeClr val="bg1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233091" y="1192263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Treatments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8233091" y="1695183"/>
            <a:ext cx="2834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4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T0 = Control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ct val="125000"/>
              </a:lnSpc>
              <a:buNone/>
            </a:pPr>
            <a:r>
              <a:rPr lang="en-US" sz="24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T1 = Nativo 75 WG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ct val="125000"/>
              </a:lnSpc>
              <a:buNone/>
            </a:pPr>
            <a:r>
              <a:rPr lang="en-US" sz="24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T2 = Tilt 250 EC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ct val="125000"/>
              </a:lnSpc>
              <a:buNone/>
            </a:pPr>
            <a:r>
              <a:rPr lang="en-US" sz="24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T3 = Folicur 250 EC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ct val="125000"/>
              </a:lnSpc>
              <a:buNone/>
            </a:pPr>
            <a:r>
              <a:rPr lang="en-US" sz="24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T4 = </a:t>
            </a:r>
            <a:r>
              <a:rPr lang="en-US" sz="2400" i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T. harzianum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ct val="125000"/>
              </a:lnSpc>
              <a:buNone/>
            </a:pPr>
            <a:r>
              <a:rPr lang="en-US" sz="24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T5 = </a:t>
            </a:r>
            <a:r>
              <a:rPr lang="en-US" sz="2400" i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T. viride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ct val="125000"/>
              </a:lnSpc>
              <a:buNone/>
            </a:pPr>
            <a:r>
              <a:rPr lang="en-US" sz="24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T6 = </a:t>
            </a:r>
            <a:r>
              <a:rPr lang="en-US" sz="2400" i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T. asperellum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8004490" y="5650140"/>
            <a:ext cx="3499937" cy="1207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Fungicides @ 500 ppm; bioagents @ 10⁸ CFU/ml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04108" y="5608586"/>
            <a:ext cx="2986507" cy="859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Figure 2: Pot and field experiments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7CFF26-0370-A5E8-0428-B30573B9E3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109" y="1093735"/>
            <a:ext cx="2986507" cy="211242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9CA4A87-B831-5BF2-651A-9F7789187A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612" y="3513882"/>
            <a:ext cx="3071887" cy="192843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42952" y="375008"/>
            <a:ext cx="11091672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Treatments</a:t>
            </a:r>
            <a:endParaRPr lang="en-US" sz="3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9165821"/>
              </p:ext>
            </p:extLst>
          </p:nvPr>
        </p:nvGraphicFramePr>
        <p:xfrm>
          <a:off x="1541721" y="1134140"/>
          <a:ext cx="8537945" cy="4536562"/>
        </p:xfrm>
        <a:graphic>
          <a:graphicData uri="http://schemas.openxmlformats.org/drawingml/2006/table">
            <a:tbl>
              <a:tblPr/>
              <a:tblGrid>
                <a:gridCol w="9230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5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14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553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Code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Treatment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Dose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3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T0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Untreated control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—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308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T1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Nativo 75 WG (tebuconazole + trifloxystrobin)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500 ppm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3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T2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Tilt 250 EC (propiconazole)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500 ppm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T3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Folicur 250 EC (tebuconazole)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500 ppm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24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T4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i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Trichoderma harzianum (AB935952)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10⁸ CFU/ml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24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T5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i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Trichoderma viride (TV6)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10⁸ CFU/ml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724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T6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i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Trichoderma asperellum (AB935955)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10⁸ CFU/ml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Text 22"/>
          <p:cNvSpPr txBox="1"/>
          <p:nvPr/>
        </p:nvSpPr>
        <p:spPr>
          <a:xfrm>
            <a:off x="832405" y="5881194"/>
            <a:ext cx="10527190" cy="43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Recorded: </a:t>
            </a:r>
            <a:r>
              <a:rPr lang="en-US" sz="20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Disease incidence and severity (0–5 scale) on leaves and calyces; growth and yield traits.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60286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5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Treatment application and data collection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389860" y="1267401"/>
            <a:ext cx="2468880" cy="1305678"/>
          </a:xfrm>
          <a:prstGeom prst="roundRect">
            <a:avLst>
              <a:gd name="adj" fmla="val 10000"/>
            </a:avLst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27020" y="134873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2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Treatment spray</a:t>
            </a:r>
            <a:endParaRPr lang="en-US" sz="2400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639902" y="20484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60 DAYS</a:t>
            </a:r>
            <a:endParaRPr lang="en-US" sz="2400" dirty="0"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063240" y="1600200"/>
            <a:ext cx="274320" cy="274320"/>
          </a:xfrm>
          <a:prstGeom prst="rightArrow">
            <a:avLst/>
          </a:prstGeom>
          <a:solidFill>
            <a:srgbClr val="B5303F"/>
          </a:solidFill>
          <a:ln/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383280" y="1280159"/>
            <a:ext cx="2468880" cy="1292919"/>
          </a:xfrm>
          <a:prstGeom prst="roundRect">
            <a:avLst>
              <a:gd name="adj" fmla="val 10000"/>
            </a:avLst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356616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2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Pathogen spore suspension</a:t>
            </a:r>
            <a:endParaRPr lang="en-US" sz="2400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3657600" y="211045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48 h later</a:t>
            </a:r>
            <a:endParaRPr lang="en-US" sz="2400" dirty="0"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897880" y="1600200"/>
            <a:ext cx="274320" cy="274320"/>
          </a:xfrm>
          <a:prstGeom prst="rightArrow">
            <a:avLst/>
          </a:prstGeom>
          <a:solidFill>
            <a:srgbClr val="B5303F"/>
          </a:solidFill>
          <a:ln/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150936" y="1251453"/>
            <a:ext cx="2468880" cy="1292918"/>
          </a:xfrm>
          <a:prstGeom prst="roundRect">
            <a:avLst>
              <a:gd name="adj" fmla="val 10000"/>
            </a:avLst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334171" y="159275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2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Second dose of treatments</a:t>
            </a:r>
            <a:endParaRPr lang="en-US" sz="2400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6334171" y="20637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48 h later</a:t>
            </a:r>
            <a:endParaRPr lang="en-US" sz="2400" dirty="0"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732520" y="1600200"/>
            <a:ext cx="274320" cy="274320"/>
          </a:xfrm>
          <a:prstGeom prst="rightArrow">
            <a:avLst/>
          </a:prstGeom>
          <a:solidFill>
            <a:srgbClr val="B5303F"/>
          </a:solidFill>
          <a:ln/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052560" y="1280159"/>
            <a:ext cx="2468880" cy="1292917"/>
          </a:xfrm>
          <a:prstGeom prst="roundRect">
            <a:avLst>
              <a:gd name="adj" fmla="val 10000"/>
            </a:avLst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9189720" y="1325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2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Further doses</a:t>
            </a:r>
            <a:endParaRPr lang="en-US" sz="2400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9189720" y="1783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every 25 days till harvest</a:t>
            </a:r>
            <a:endParaRPr lang="en-US" sz="2400" dirty="0"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1737182" y="2654382"/>
            <a:ext cx="8218505" cy="386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b="1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Figure 3: Application of treatments and pathogen (Abo-Elyousr et al., 2017)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20040" y="3520441"/>
            <a:ext cx="6035040" cy="3200400"/>
          </a:xfrm>
          <a:prstGeom prst="roundRect">
            <a:avLst>
              <a:gd name="adj" fmla="val 2857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1600820" y="3315870"/>
            <a:ext cx="3473480" cy="4172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Data collection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480060" y="3733091"/>
            <a:ext cx="5554980" cy="2957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Disease incidence (%) = infected leaves or calyces / total examined × 100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Disease severity (%) = Σ(rating × no. in rating) / (max rating × total) × 100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Growth and yield at 90 and 180 DAS: height, base diameter, branches, leaves, leaf weight, fruit, capsule and calyx weight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8475451"/>
              </p:ext>
            </p:extLst>
          </p:nvPr>
        </p:nvGraphicFramePr>
        <p:xfrm>
          <a:off x="6769608" y="3118208"/>
          <a:ext cx="4782312" cy="3310128"/>
        </p:xfrm>
        <a:graphic>
          <a:graphicData uri="http://schemas.openxmlformats.org/drawingml/2006/table">
            <a:tbl>
              <a:tblPr/>
              <a:tblGrid>
                <a:gridCol w="9356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04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6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297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Score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Leaf area infected (%)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Remarks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3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No infection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3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&gt;0–4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Very mild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3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&gt;4–12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Mild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3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&gt;12–29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Moderate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3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&gt;29–57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Severe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3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&gt;57–100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Very severe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3" name="Text 20"/>
          <p:cNvSpPr txBox="1"/>
          <p:nvPr/>
        </p:nvSpPr>
        <p:spPr>
          <a:xfrm>
            <a:off x="7766588" y="6468141"/>
            <a:ext cx="3592528" cy="379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i="1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0–5 scale (Apeyuan et al., 2017)</a:t>
            </a:r>
            <a:endParaRPr lang="en-US" sz="2000" dirty="0"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9C3E0FB4-DC5B-0C8E-B9D6-638778AD8754}"/>
              </a:ext>
            </a:extLst>
          </p:cNvPr>
          <p:cNvSpPr txBox="1">
            <a:spLocks noGrp="1"/>
          </p:cNvSpPr>
          <p:nvPr>
            <p:ph type="title" idx="100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Arrow: Pentagon 8">
            <a:extLst>
              <a:ext uri="{FF2B5EF4-FFF2-40B4-BE49-F238E27FC236}">
                <a16:creationId xmlns:a16="http://schemas.microsoft.com/office/drawing/2014/main" id="{BCC0D03A-9A84-E02E-35FF-389D93075492}"/>
              </a:ext>
            </a:extLst>
          </p:cNvPr>
          <p:cNvSpPr/>
          <p:nvPr/>
        </p:nvSpPr>
        <p:spPr>
          <a:xfrm>
            <a:off x="548640" y="1556962"/>
            <a:ext cx="2635315" cy="531628"/>
          </a:xfrm>
          <a:prstGeom prst="homePlat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Symptoms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82DABB0-46B8-2733-9095-D37FBE202914}"/>
              </a:ext>
            </a:extLst>
          </p:cNvPr>
          <p:cNvSpPr txBox="1"/>
          <p:nvPr/>
        </p:nvSpPr>
        <p:spPr>
          <a:xfrm>
            <a:off x="548640" y="2251617"/>
            <a:ext cx="6581966" cy="339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316" indent="-279316" algn="just">
              <a:spcAft>
                <a:spcPts val="1200"/>
              </a:spcAft>
              <a:buSzPct val="100000"/>
              <a:buFont typeface="Wingdings" pitchFamily="2" charset="2"/>
              <a:buChar char="Ø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Small, circular to irregular,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brown to reddish-brown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spots, often limited by veins.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79316" indent="-279316" algn="just">
              <a:spcAft>
                <a:spcPts val="1200"/>
              </a:spcAft>
              <a:buSzPct val="100000"/>
              <a:buFont typeface="Wingdings" pitchFamily="2" charset="2"/>
              <a:buChar char="Ø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Spots enlarged to ~10 mm with a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pale brown to greyish-white centre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dark reddish-purple margin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79316" indent="-279316" algn="just">
              <a:spcAft>
                <a:spcPts val="1200"/>
              </a:spcAft>
              <a:buSzPct val="100000"/>
              <a:buFont typeface="Wingdings" pitchFamily="2" charset="2"/>
              <a:buChar char="Ø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humid conditions centres turned grey with abundant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conidiophores and conidia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79316" indent="-279316" algn="just">
              <a:spcAft>
                <a:spcPts val="1200"/>
              </a:spcAft>
              <a:buSzPct val="100000"/>
              <a:buFont typeface="Wingdings" pitchFamily="2" charset="2"/>
              <a:buChar char="Ø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Spots coalesced, causing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chlorosis, premature leaf drop and defoliation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9383D80-1A45-9C9F-3CB5-4902E620893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62" t="29921" r="32360" b="31207"/>
          <a:stretch>
            <a:fillRect/>
          </a:stretch>
        </p:blipFill>
        <p:spPr bwMode="auto">
          <a:xfrm rot="5400000">
            <a:off x="7749883" y="2076470"/>
            <a:ext cx="3661854" cy="3481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5" name="Text 12">
            <a:extLst>
              <a:ext uri="{FF2B5EF4-FFF2-40B4-BE49-F238E27FC236}">
                <a16:creationId xmlns:a16="http://schemas.microsoft.com/office/drawing/2014/main" id="{108B0CA6-20D6-FF58-E8AF-FCC3CD181594}"/>
              </a:ext>
            </a:extLst>
          </p:cNvPr>
          <p:cNvSpPr txBox="1"/>
          <p:nvPr/>
        </p:nvSpPr>
        <p:spPr>
          <a:xfrm>
            <a:off x="7840285" y="5674195"/>
            <a:ext cx="3374724" cy="9073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Figure 4: Leaf spot symptoms on roselle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05045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5837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sz="3200" b="1" dirty="0">
                <a:solidFill>
                  <a:srgbClr val="0B35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orphological identification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38166" y="4272461"/>
            <a:ext cx="3538728" cy="1695804"/>
          </a:xfrm>
          <a:prstGeom prst="roundRect">
            <a:avLst>
              <a:gd name="adj" fmla="val 3846"/>
            </a:avLst>
          </a:prstGeom>
          <a:solidFill>
            <a:schemeClr val="accent2">
              <a:lumMod val="40000"/>
              <a:lumOff val="60000"/>
              <a:alpha val="7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745254" y="4290617"/>
            <a:ext cx="2100993" cy="5380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Colony on PDA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699072" y="4598732"/>
            <a:ext cx="3017520" cy="1152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Slow to moderate growth; greyish-white, olive-grey to dark grey mycelium of branched, septate hyphae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312234" y="4290084"/>
            <a:ext cx="3538728" cy="1660558"/>
          </a:xfrm>
          <a:prstGeom prst="roundRect">
            <a:avLst>
              <a:gd name="adj" fmla="val 3846"/>
            </a:avLst>
          </a:prstGeom>
          <a:solidFill>
            <a:schemeClr val="accent2">
              <a:lumMod val="40000"/>
              <a:lumOff val="60000"/>
              <a:alpha val="7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4312234" y="4403069"/>
            <a:ext cx="2010475" cy="376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Conidiophores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4377690" y="4776681"/>
            <a:ext cx="3017520" cy="1098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Pigmented, septate, arising in fascicles from stroma or infected tissue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8076852" y="4272461"/>
            <a:ext cx="3555121" cy="1615970"/>
          </a:xfrm>
          <a:prstGeom prst="roundRect">
            <a:avLst>
              <a:gd name="adj" fmla="val 3846"/>
            </a:avLst>
          </a:prstGeom>
          <a:solidFill>
            <a:schemeClr val="accent2">
              <a:lumMod val="40000"/>
              <a:lumOff val="60000"/>
              <a:alpha val="7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8373571" y="4344866"/>
            <a:ext cx="1361747" cy="378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Conidia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373571" y="4685489"/>
            <a:ext cx="3017520" cy="1076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Hyaline to pale olivaceous, elongated, cylindrical to obclavate, multiseptate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80466" y="6057118"/>
            <a:ext cx="11091672" cy="703504"/>
          </a:xfrm>
          <a:prstGeom prst="roundRect">
            <a:avLst>
              <a:gd name="adj" fmla="val 11111"/>
            </a:avLst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812292" y="6137941"/>
            <a:ext cx="10828020" cy="5354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Provisionally identified as </a:t>
            </a:r>
            <a:r>
              <a:rPr lang="en-US" i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Cercospora</a:t>
            </a:r>
            <a:r>
              <a:rPr lang="en-US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sp. — conidial size suggests </a:t>
            </a:r>
            <a:r>
              <a:rPr lang="en-US" i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C. malayensis</a:t>
            </a:r>
            <a:r>
              <a:rPr lang="en-US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; multilocus sequencing needed for species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A8F9E89-1587-CA60-D36D-124F81CBD55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728" y="1031763"/>
            <a:ext cx="2395886" cy="22653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EF965A7-6F68-F51C-2C08-E39F4AF778B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5227" y="1026223"/>
            <a:ext cx="2772875" cy="233270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F62E825-A3FC-75DF-684A-37D999586D2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6715" y="1021381"/>
            <a:ext cx="2631232" cy="2368894"/>
          </a:xfrm>
          <a:prstGeom prst="rect">
            <a:avLst/>
          </a:prstGeom>
        </p:spPr>
      </p:pic>
      <p:sp>
        <p:nvSpPr>
          <p:cNvPr id="23" name="Text 6">
            <a:extLst>
              <a:ext uri="{FF2B5EF4-FFF2-40B4-BE49-F238E27FC236}">
                <a16:creationId xmlns:a16="http://schemas.microsoft.com/office/drawing/2014/main" id="{5B14D0F9-5D86-60A8-34D4-198C551F5B88}"/>
              </a:ext>
            </a:extLst>
          </p:cNvPr>
          <p:cNvSpPr txBox="1"/>
          <p:nvPr/>
        </p:nvSpPr>
        <p:spPr>
          <a:xfrm>
            <a:off x="695146" y="3438462"/>
            <a:ext cx="2601468" cy="32004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(a) Upper view of colony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CB02BB53-6625-63BC-077A-C446CAEA43FD}"/>
              </a:ext>
            </a:extLst>
          </p:cNvPr>
          <p:cNvSpPr txBox="1"/>
          <p:nvPr/>
        </p:nvSpPr>
        <p:spPr>
          <a:xfrm>
            <a:off x="4206486" y="3433594"/>
            <a:ext cx="3259856" cy="3850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(b) Conidia and conidiophores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6FE9D02E-E772-53A1-2F32-3968B24C5D88}"/>
              </a:ext>
            </a:extLst>
          </p:cNvPr>
          <p:cNvSpPr txBox="1"/>
          <p:nvPr/>
        </p:nvSpPr>
        <p:spPr>
          <a:xfrm>
            <a:off x="8376214" y="3467725"/>
            <a:ext cx="1703112" cy="36230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(c) Conidia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60917BDF-9A63-528A-BDCB-C43B0A0A7574}"/>
              </a:ext>
            </a:extLst>
          </p:cNvPr>
          <p:cNvSpPr txBox="1"/>
          <p:nvPr/>
        </p:nvSpPr>
        <p:spPr>
          <a:xfrm>
            <a:off x="3566944" y="3917303"/>
            <a:ext cx="5055063" cy="32469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Figure 5: Different structures of Cercospora sp.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5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Effect of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sz="3200" b="1" dirty="0">
                <a:solidFill>
                  <a:srgbClr val="0B35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emperatures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330952" y="5599032"/>
            <a:ext cx="6309360" cy="341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Figure 6 · Effect of temperature on the radial mycelial growth of </a:t>
            </a:r>
            <a:r>
              <a:rPr lang="en-US" sz="24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Cercospora</a:t>
            </a: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sp. on PDA after 10 DAI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9581" y="1413208"/>
            <a:ext cx="4507992" cy="4356653"/>
          </a:xfrm>
          <a:prstGeom prst="roundRect">
            <a:avLst>
              <a:gd name="adj" fmla="val 202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621897" y="1734665"/>
            <a:ext cx="4023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Temperatures tested: 10, 15, 20, 25 and 30 °C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b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Maximum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mycelial </a:t>
            </a:r>
            <a:r>
              <a:rPr lang="en-US" sz="2400" b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growth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(90.00 mm) at </a:t>
            </a:r>
            <a:r>
              <a:rPr lang="en-US" sz="2400" b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20 °C,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significantly higher than other temperatures at 10 DAI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b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Optimal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temperature range for radial growth: </a:t>
            </a:r>
            <a:r>
              <a:rPr lang="en-US" sz="2400" b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20–22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°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</a:t>
            </a: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b="1" dirty="0">
                <a:solidFill>
                  <a:srgbClr val="1C2B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Lowest 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 </a:t>
            </a:r>
            <a:r>
              <a:rPr lang="en-US" sz="2400" b="1" dirty="0">
                <a:solidFill>
                  <a:srgbClr val="1C2B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10°C.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0AB8A9C-68FD-74F6-0058-532A4915B8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3941" y="1413209"/>
            <a:ext cx="6255387" cy="399606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Pathogenicity tests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18781" y="5316264"/>
            <a:ext cx="6309360" cy="1038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Figure 6 · Pathogenicity tests of </a:t>
            </a:r>
            <a:r>
              <a:rPr lang="en-US" sz="24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Cercospora</a:t>
            </a: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sp.   on roselle; (a) Healthy leaves; (b) Infected leaves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68846" y="1789094"/>
            <a:ext cx="4641714" cy="4595545"/>
          </a:xfrm>
          <a:prstGeom prst="roundRect">
            <a:avLst>
              <a:gd name="adj" fmla="val 202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609103" y="2178399"/>
            <a:ext cx="414365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algn="just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Conducted on non-detached leaves of pot-grown plants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 algn="just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Infection without wounding the plant tissues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 algn="just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Irregular brown necrotic lesions 10 days after inoculation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 algn="just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Control leaves remained healthy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 algn="just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Performed twice with similar results; pathogen re-isolated — Koch’s postulates fulfilled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03C982B-CFED-ECFF-E759-219F5A5281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2503" y="1851477"/>
            <a:ext cx="2530260" cy="32485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EAB9321-47CF-1AA1-15E8-4E715FB2FD7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554869" y="1851477"/>
            <a:ext cx="2497607" cy="3206628"/>
          </a:xfrm>
          <a:prstGeom prst="rect">
            <a:avLst/>
          </a:prstGeom>
        </p:spPr>
      </p:pic>
      <p:sp>
        <p:nvSpPr>
          <p:cNvPr id="16" name="Oval 15">
            <a:extLst>
              <a:ext uri="{FF2B5EF4-FFF2-40B4-BE49-F238E27FC236}">
                <a16:creationId xmlns:a16="http://schemas.microsoft.com/office/drawing/2014/main" id="{9AA556A5-B59B-F76D-D8AA-CD2CE7C8F593}"/>
              </a:ext>
            </a:extLst>
          </p:cNvPr>
          <p:cNvSpPr/>
          <p:nvPr/>
        </p:nvSpPr>
        <p:spPr>
          <a:xfrm>
            <a:off x="10393325" y="3888675"/>
            <a:ext cx="409142" cy="301257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66165" y="182880"/>
            <a:ext cx="11091672" cy="59258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5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Effect of fungicides on mycelial growth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948530" y="5947321"/>
            <a:ext cx="10526941" cy="910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Figure 7· Effects of different fungicides and doses on radial mycelial growth inhibition of </a:t>
            </a:r>
            <a:r>
              <a:rPr lang="en-US" sz="20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Cercospora</a:t>
            </a:r>
            <a:r>
              <a:rPr lang="en-US" sz="20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sp. at (a) 6 DAI, (b) 8 DAI and (c) 10 DAI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E9B7DB5B-AF5F-3621-8EE5-F7522043491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8107423"/>
              </p:ext>
            </p:extLst>
          </p:nvPr>
        </p:nvGraphicFramePr>
        <p:xfrm>
          <a:off x="377802" y="1057407"/>
          <a:ext cx="6076161" cy="27248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6B59BC53-B924-F552-A8E5-3CC420A87AA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2436079"/>
              </p:ext>
            </p:extLst>
          </p:nvPr>
        </p:nvGraphicFramePr>
        <p:xfrm>
          <a:off x="666165" y="3674611"/>
          <a:ext cx="5787798" cy="23324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6" name="Chart 15">
            <a:extLst>
              <a:ext uri="{FF2B5EF4-FFF2-40B4-BE49-F238E27FC236}">
                <a16:creationId xmlns:a16="http://schemas.microsoft.com/office/drawing/2014/main" id="{A8770637-DFEF-5B3B-F605-77D6BC3054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00467767"/>
              </p:ext>
            </p:extLst>
          </p:nvPr>
        </p:nvGraphicFramePr>
        <p:xfrm>
          <a:off x="6530268" y="2419834"/>
          <a:ext cx="5227569" cy="32434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69851" y="231042"/>
            <a:ext cx="10970461" cy="81094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vitro evaluation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38593" y="1348740"/>
            <a:ext cx="5394960" cy="3520440"/>
          </a:xfrm>
          <a:prstGeom prst="roundRect">
            <a:avLst>
              <a:gd name="adj" fmla="val 2597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712913" y="1562986"/>
            <a:ext cx="4846320" cy="3657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Fungicides · Poisoned food technique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663471" y="228600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Nativo 75 WG (Tebuconazole 50% + Trifloxystrobin 25%)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Tilt 250 EC (Propiconazole 25%)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Bavistin 50 WP (Carbendazim 50%)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Folicur 250 EC (Tebuconazole 25%)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02511" y="5083426"/>
            <a:ext cx="4956722" cy="943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B5303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@ 50, 100, 250, 500 and 1000 ppm in PDA 5 mm pathogen disc, 30 ± 2 °C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358449" y="1348739"/>
            <a:ext cx="5394960" cy="3520441"/>
          </a:xfrm>
          <a:prstGeom prst="roundRect">
            <a:avLst>
              <a:gd name="adj" fmla="val 2597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6519672" y="1547780"/>
            <a:ext cx="4846320" cy="81605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Bioagents: Dual culture technique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519672" y="2628900"/>
            <a:ext cx="4846320" cy="1248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Trichoderma asperellum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(AB935955)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Trichoderma harzianum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(AB935952)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Trichoderma viride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(TV6)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428231" y="5083426"/>
            <a:ext cx="5394959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B5303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5 mm discs of pathogen and antagonist on opposite sides of PDA plate; 25 ± 2 °C until control plates were full.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50164" y="258353"/>
            <a:ext cx="11091672" cy="5996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Effect of </a:t>
            </a:r>
            <a:r>
              <a:rPr lang="en-US" sz="3200" b="1" dirty="0">
                <a:solidFill>
                  <a:srgbClr val="0B35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Fungicides on Radial Mycelial Growth 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70043" y="5576542"/>
            <a:ext cx="6501890" cy="10774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Figure 8 · Effects of different fungicides (a) Control (b) Nativo 75 WG, (c) Tilt 250 EC, (d) Bavistin and (e) Folicur @500 ppm on radial mycelial growth of </a:t>
            </a:r>
            <a:r>
              <a:rPr lang="en-US" sz="20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Cercospora</a:t>
            </a:r>
            <a:r>
              <a:rPr lang="en-US" sz="20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sp. at 10 DAI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0086" y="1261819"/>
            <a:ext cx="4779612" cy="2636875"/>
          </a:xfrm>
          <a:prstGeom prst="roundRect">
            <a:avLst>
              <a:gd name="adj" fmla="val 202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213623" y="1538383"/>
            <a:ext cx="4023360" cy="1791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just"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Untreated control plate fully covered (90.00 mm)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Nativo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75 WG, Tilt 250 EC and Bavistin @500 ppm showed complete inhibition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59BF76F-3C0D-B70A-D3E2-0A555E36FAED}"/>
              </a:ext>
            </a:extLst>
          </p:cNvPr>
          <p:cNvGrpSpPr/>
          <p:nvPr/>
        </p:nvGrpSpPr>
        <p:grpSpPr>
          <a:xfrm>
            <a:off x="5094767" y="1386043"/>
            <a:ext cx="6711993" cy="2158833"/>
            <a:chOff x="-517892" y="-76688"/>
            <a:chExt cx="6694325" cy="2035381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AFD69FC-8C32-93B0-5659-301E6BC35143}"/>
                </a:ext>
              </a:extLst>
            </p:cNvPr>
            <p:cNvGrpSpPr/>
            <p:nvPr/>
          </p:nvGrpSpPr>
          <p:grpSpPr>
            <a:xfrm>
              <a:off x="-517892" y="-76688"/>
              <a:ext cx="2287509" cy="2027174"/>
              <a:chOff x="-440362" y="-67809"/>
              <a:chExt cx="1945062" cy="1792475"/>
            </a:xfrm>
          </p:grpSpPr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FAF396F2-F77C-1B6E-0B19-201922F410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/>
              <a:stretch/>
            </p:blipFill>
            <p:spPr>
              <a:xfrm>
                <a:off x="-126896" y="7489"/>
                <a:ext cx="1631596" cy="1717177"/>
              </a:xfrm>
              <a:prstGeom prst="rect">
                <a:avLst/>
              </a:prstGeom>
            </p:spPr>
          </p:pic>
          <p:sp>
            <p:nvSpPr>
              <p:cNvPr id="31" name="Text Box 53">
                <a:extLst>
                  <a:ext uri="{FF2B5EF4-FFF2-40B4-BE49-F238E27FC236}">
                    <a16:creationId xmlns:a16="http://schemas.microsoft.com/office/drawing/2014/main" id="{DAD92ADD-2E44-7DB2-4363-654C417E1276}"/>
                  </a:ext>
                </a:extLst>
              </p:cNvPr>
              <p:cNvSpPr txBox="1"/>
              <p:nvPr/>
            </p:nvSpPr>
            <p:spPr>
              <a:xfrm>
                <a:off x="-440362" y="-67809"/>
                <a:ext cx="295910" cy="254000"/>
              </a:xfrm>
              <a:prstGeom prst="rect">
                <a:avLst/>
              </a:prstGeom>
              <a:solidFill>
                <a:schemeClr val="lt1"/>
              </a:solidFill>
              <a:ln w="6350">
                <a:noFill/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algn="ctr">
                  <a:buNone/>
                </a:pPr>
                <a:r>
                  <a:rPr lang="en-US" sz="24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1F3CBE3A-CBBE-5F81-B942-ED4AC0BBC183}"/>
                </a:ext>
              </a:extLst>
            </p:cNvPr>
            <p:cNvGrpSpPr/>
            <p:nvPr/>
          </p:nvGrpSpPr>
          <p:grpSpPr>
            <a:xfrm>
              <a:off x="1784429" y="-7281"/>
              <a:ext cx="2192974" cy="1965974"/>
              <a:chOff x="-264504" y="-15748"/>
              <a:chExt cx="2192974" cy="1965974"/>
            </a:xfrm>
          </p:grpSpPr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13408CA5-A0A0-E933-18C2-9F02800469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/>
              <a:stretch/>
            </p:blipFill>
            <p:spPr>
              <a:xfrm>
                <a:off x="29185" y="13"/>
                <a:ext cx="1899285" cy="1950213"/>
              </a:xfrm>
              <a:prstGeom prst="rect">
                <a:avLst/>
              </a:prstGeom>
            </p:spPr>
          </p:pic>
          <p:sp>
            <p:nvSpPr>
              <p:cNvPr id="29" name="Text Box 62">
                <a:extLst>
                  <a:ext uri="{FF2B5EF4-FFF2-40B4-BE49-F238E27FC236}">
                    <a16:creationId xmlns:a16="http://schemas.microsoft.com/office/drawing/2014/main" id="{5C864D0E-EF24-9E79-AE39-0395345CAF5E}"/>
                  </a:ext>
                </a:extLst>
              </p:cNvPr>
              <p:cNvSpPr txBox="1"/>
              <p:nvPr/>
            </p:nvSpPr>
            <p:spPr>
              <a:xfrm>
                <a:off x="-264504" y="-15748"/>
                <a:ext cx="347980" cy="287020"/>
              </a:xfrm>
              <a:prstGeom prst="rect">
                <a:avLst/>
              </a:prstGeom>
              <a:noFill/>
              <a:ln w="6350">
                <a:noFill/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algn="ctr">
                  <a:buNone/>
                </a:pPr>
                <a:r>
                  <a:rPr lang="en-US" sz="24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E853B22-4283-0891-782C-7B1029A5D7A4}"/>
                </a:ext>
              </a:extLst>
            </p:cNvPr>
            <p:cNvGrpSpPr/>
            <p:nvPr/>
          </p:nvGrpSpPr>
          <p:grpSpPr>
            <a:xfrm>
              <a:off x="3963163" y="-51928"/>
              <a:ext cx="2213270" cy="2010621"/>
              <a:chOff x="-151608" y="-58437"/>
              <a:chExt cx="1990568" cy="1945431"/>
            </a:xfrm>
          </p:grpSpPr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D13A5F94-5B66-30D4-61EA-A7304B18F1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44725" y="0"/>
                <a:ext cx="1694235" cy="1886994"/>
              </a:xfrm>
              <a:prstGeom prst="rect">
                <a:avLst/>
              </a:prstGeom>
            </p:spPr>
          </p:pic>
          <p:sp>
            <p:nvSpPr>
              <p:cNvPr id="27" name="Text Box 55">
                <a:extLst>
                  <a:ext uri="{FF2B5EF4-FFF2-40B4-BE49-F238E27FC236}">
                    <a16:creationId xmlns:a16="http://schemas.microsoft.com/office/drawing/2014/main" id="{C6FFEE05-CDA0-50DA-8F8B-CC569CE31A50}"/>
                  </a:ext>
                </a:extLst>
              </p:cNvPr>
              <p:cNvSpPr txBox="1"/>
              <p:nvPr/>
            </p:nvSpPr>
            <p:spPr>
              <a:xfrm>
                <a:off x="-151608" y="-58437"/>
                <a:ext cx="296333" cy="254000"/>
              </a:xfrm>
              <a:prstGeom prst="rect">
                <a:avLst/>
              </a:prstGeom>
              <a:solidFill>
                <a:schemeClr val="lt1"/>
              </a:solidFill>
              <a:ln w="6350">
                <a:noFill/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algn="ctr">
                  <a:buNone/>
                </a:pPr>
                <a:r>
                  <a:rPr lang="en-US" sz="24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</a:p>
            </p:txBody>
          </p:sp>
        </p:grpSp>
      </p:grpSp>
      <p:pic>
        <p:nvPicPr>
          <p:cNvPr id="35" name="Picture 34">
            <a:extLst>
              <a:ext uri="{FF2B5EF4-FFF2-40B4-BE49-F238E27FC236}">
                <a16:creationId xmlns:a16="http://schemas.microsoft.com/office/drawing/2014/main" id="{23F0A5AC-F067-2B05-A04B-8F5E7C6201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3047" y="3722404"/>
            <a:ext cx="1939764" cy="1791979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2C25C542-A575-2EC5-6F0D-BF685FAC05D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9786" y="3717069"/>
            <a:ext cx="1704634" cy="1791979"/>
          </a:xfrm>
          <a:prstGeom prst="rect">
            <a:avLst/>
          </a:prstGeom>
        </p:spPr>
      </p:pic>
      <p:sp>
        <p:nvSpPr>
          <p:cNvPr id="4" name="Text Box 55">
            <a:extLst>
              <a:ext uri="{FF2B5EF4-FFF2-40B4-BE49-F238E27FC236}">
                <a16:creationId xmlns:a16="http://schemas.microsoft.com/office/drawing/2014/main" id="{5DA1B327-6F85-31B8-19F9-1DB8DFB2750C}"/>
              </a:ext>
            </a:extLst>
          </p:cNvPr>
          <p:cNvSpPr txBox="1"/>
          <p:nvPr/>
        </p:nvSpPr>
        <p:spPr>
          <a:xfrm>
            <a:off x="8555810" y="3674050"/>
            <a:ext cx="330356" cy="278433"/>
          </a:xfrm>
          <a:prstGeom prst="rect">
            <a:avLst/>
          </a:prstGeom>
          <a:solidFill>
            <a:schemeClr val="lt1"/>
          </a:solidFill>
          <a:ln w="6350">
            <a:noFill/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Box 55">
            <a:extLst>
              <a:ext uri="{FF2B5EF4-FFF2-40B4-BE49-F238E27FC236}">
                <a16:creationId xmlns:a16="http://schemas.microsoft.com/office/drawing/2014/main" id="{1F1D15A1-C05C-B08A-D9EB-2AAFA43D5B93}"/>
              </a:ext>
            </a:extLst>
          </p:cNvPr>
          <p:cNvSpPr txBox="1"/>
          <p:nvPr/>
        </p:nvSpPr>
        <p:spPr>
          <a:xfrm>
            <a:off x="6455990" y="3706315"/>
            <a:ext cx="330356" cy="278433"/>
          </a:xfrm>
          <a:prstGeom prst="rect">
            <a:avLst/>
          </a:prstGeom>
          <a:solidFill>
            <a:schemeClr val="lt1"/>
          </a:solidFill>
          <a:ln w="6350">
            <a:noFill/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68153" y="300645"/>
            <a:ext cx="11091672" cy="731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5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Antagonistic effects of bio-agents on Radial Mycelial Growth 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652977" y="5638480"/>
            <a:ext cx="6042837" cy="1070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Figure 9 · Antagonistic effects of different fungal bioagents on radial mycelial growth inhibition (%) of </a:t>
            </a:r>
            <a:r>
              <a:rPr lang="en-US" sz="20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Cercospora</a:t>
            </a:r>
            <a:r>
              <a:rPr lang="en-US" sz="20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sp. at 10 days after incubation (DAI)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63579" y="1878099"/>
            <a:ext cx="4629415" cy="3724940"/>
          </a:xfrm>
          <a:prstGeom prst="roundRect">
            <a:avLst>
              <a:gd name="adj" fmla="val 202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676229" y="2083662"/>
            <a:ext cx="4204113" cy="35193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Mycelial growth at 10 DAI: 8.33 mm to 90.00 mm (control)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Maximum inhibition: </a:t>
            </a:r>
            <a:r>
              <a:rPr lang="en-US" sz="24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T. asperellum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(90.74%), statistically similar to </a:t>
            </a:r>
            <a:r>
              <a:rPr lang="en-US" sz="24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T. harzianum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(88.15%)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Lowest inhibition: </a:t>
            </a:r>
            <a:r>
              <a:rPr lang="en-US" sz="24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T. viride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(65.93%), moderately effective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EB9ACA-B882-CF2E-A25E-497D5BBE4C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2977" y="1525062"/>
            <a:ext cx="5441034" cy="396618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95704" y="258370"/>
            <a:ext cx="10800592" cy="6248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5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Dual culture plates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89161" y="4947724"/>
            <a:ext cx="10907135" cy="864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Figure 10:  Antagonistic effects of different fungal bioagents on radial mycelial growth of </a:t>
            </a:r>
            <a:r>
              <a:rPr lang="en-US" sz="24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Cercospora</a:t>
            </a: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sp. causing leaf spot of roselle.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D259D04-A374-04FE-FAEE-BB5CFBA0E9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161" y="1452662"/>
            <a:ext cx="2394394" cy="236474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23BD348-E95C-17D1-0B4F-39BE4E4FFE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3468234" y="1462430"/>
            <a:ext cx="2364747" cy="241976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A14C50D-9AA4-90AB-9C5C-CE7A43DD09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571" y="1539063"/>
            <a:ext cx="2457064" cy="238013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E5E2912-486C-4B92-9309-C7A12DD79C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69718" y="1539064"/>
            <a:ext cx="2489335" cy="238013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04A206A-2D31-7D24-7E24-11EE72822571}"/>
              </a:ext>
            </a:extLst>
          </p:cNvPr>
          <p:cNvSpPr txBox="1"/>
          <p:nvPr/>
        </p:nvSpPr>
        <p:spPr>
          <a:xfrm>
            <a:off x="230346" y="4064098"/>
            <a:ext cx="2903574" cy="338554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T. </a:t>
            </a:r>
            <a:r>
              <a:rPr lang="en-US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harzianum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Vs </a:t>
            </a:r>
            <a:r>
              <a:rPr lang="en-US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Cercospora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sp.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832A6C-BD94-ABF4-16CD-08B72270A46B}"/>
              </a:ext>
            </a:extLst>
          </p:cNvPr>
          <p:cNvSpPr txBox="1"/>
          <p:nvPr/>
        </p:nvSpPr>
        <p:spPr>
          <a:xfrm>
            <a:off x="3353878" y="4064098"/>
            <a:ext cx="2593458" cy="338554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T. </a:t>
            </a:r>
            <a:r>
              <a:rPr lang="en-US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viridae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Vs </a:t>
            </a:r>
            <a:r>
              <a:rPr lang="en-US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Cercospora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E5A064D-8803-A79A-07AD-C22CFCD0AAE1}"/>
              </a:ext>
            </a:extLst>
          </p:cNvPr>
          <p:cNvSpPr txBox="1"/>
          <p:nvPr/>
        </p:nvSpPr>
        <p:spPr>
          <a:xfrm>
            <a:off x="6096000" y="4064871"/>
            <a:ext cx="2903574" cy="338554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T. </a:t>
            </a:r>
            <a:r>
              <a:rPr lang="en-US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Asperellum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Vs </a:t>
            </a:r>
            <a:r>
              <a:rPr lang="en-US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Cercospora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C3499B-9D39-E272-9489-EE2C4980B7F6}"/>
              </a:ext>
            </a:extLst>
          </p:cNvPr>
          <p:cNvSpPr txBox="1"/>
          <p:nvPr/>
        </p:nvSpPr>
        <p:spPr>
          <a:xfrm>
            <a:off x="9399985" y="4039261"/>
            <a:ext cx="1828800" cy="338554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37744"/>
            <a:ext cx="11091672" cy="5029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/>
              <a:t>Effect of Treatments on </a:t>
            </a: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Leaf (pot experiment)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16152"/>
            <a:ext cx="11091672" cy="3277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Table 1: Effect of different treatments on disease incidence (DI) and disease severity (DS) percentage of roselle plant under pot experiment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4571516"/>
              </p:ext>
            </p:extLst>
          </p:nvPr>
        </p:nvGraphicFramePr>
        <p:xfrm>
          <a:off x="547116" y="2094613"/>
          <a:ext cx="11091672" cy="3764070"/>
        </p:xfrm>
        <a:graphic>
          <a:graphicData uri="http://schemas.openxmlformats.org/drawingml/2006/table">
            <a:tbl>
              <a:tblPr/>
              <a:tblGrid>
                <a:gridCol w="3044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64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Treatments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DI (%) · 90 DAS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DS (%) · 90 DAS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DI (%) · 180 DAS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DS (%) · 180 DAS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4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T0 = Control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53.91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31.33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73.41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39.33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4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T1 = Nativo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14.04 de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8.00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21.93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12.00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4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T2</a:t>
                      </a: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= </a:t>
                      </a: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Tilt</a:t>
                      </a: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500 ppm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12.10</a:t>
                      </a: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5.33</a:t>
                      </a: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15.98</a:t>
                      </a: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f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8.67</a:t>
                      </a: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64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T3 = Folicur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16.70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8.67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25.65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13.33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64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T4 = </a:t>
                      </a:r>
                      <a:r>
                        <a:rPr lang="en-US" sz="1800" i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T.</a:t>
                      </a: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i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harzianum</a:t>
                      </a:r>
                      <a:endParaRPr lang="en-US" sz="1800" i="1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22.67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12.67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31.36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18.00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64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T5 = </a:t>
                      </a:r>
                      <a:r>
                        <a:rPr lang="en-US" sz="1800" i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. </a:t>
                      </a:r>
                      <a:r>
                        <a:rPr lang="en-US" sz="1800" i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viride</a:t>
                      </a:r>
                      <a:endParaRPr lang="en-US" sz="1800" i="1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26.48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14.67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38.62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18.67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64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T6 =</a:t>
                      </a:r>
                      <a:r>
                        <a:rPr lang="en-US" sz="1800" i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T. asperellum</a:t>
                      </a:r>
                      <a:endParaRPr lang="en-US" sz="1800" i="1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20.89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12.00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29.69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16.67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64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0.97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1.01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0.91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0.8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64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CV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3.3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3.44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3.12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2.72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7116" y="5858681"/>
            <a:ext cx="11091672" cy="986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Means followed by the same letter(s) in a column did not differ significantly at 5% level by Tukey’s HSD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4387" y="121615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Table 2: Effect of different treatments on disease incidence (DI) and disease severity (DS) percentage of roselle plant under field condition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9516214"/>
              </p:ext>
            </p:extLst>
          </p:nvPr>
        </p:nvGraphicFramePr>
        <p:xfrm>
          <a:off x="544387" y="2084832"/>
          <a:ext cx="10906877" cy="3965449"/>
        </p:xfrm>
        <a:graphic>
          <a:graphicData uri="http://schemas.openxmlformats.org/drawingml/2006/table">
            <a:tbl>
              <a:tblPr/>
              <a:tblGrid>
                <a:gridCol w="29942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781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781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1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1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6288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Treatments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DI (%) · 90 DAS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DS (%) · 90 DAS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DI (%) · 180 DAS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DS (%) · 180 DAS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9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T0 = Control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56.33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33.33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77.30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57.33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69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T1 = Nativo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18.24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8.67 de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24.79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14.67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69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T2 = Tilt 500 ppm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14.59 e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6.67 e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17.46 f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10.00 f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69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T3 = Folicur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19.64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11.33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29.67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15.33 de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69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T4 = T. harzianum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26.63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15.33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35.34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19.33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69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T5 = T. viride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23.70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14.00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32.71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18.00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69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T6 = T. asperellum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30.14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16.67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39.51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22.00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69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1.04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0.87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1.09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0.94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69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CV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3.56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2.98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3.72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3.22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03504" y="6126480"/>
            <a:ext cx="11036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Means followed by the same letter(s) in a column did not differ significantly at 5% level by Tukey’s HSD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2B53CE86-EAFA-4E83-C5C6-3A4B51F18F58}"/>
              </a:ext>
            </a:extLst>
          </p:cNvPr>
          <p:cNvSpPr txBox="1">
            <a:spLocks/>
          </p:cNvSpPr>
          <p:nvPr/>
        </p:nvSpPr>
        <p:spPr>
          <a:xfrm>
            <a:off x="452947" y="109514"/>
            <a:ext cx="11091672" cy="5029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>
            <a:lvl1pPr marL="0" indent="0" algn="ctr" defTabSz="914400" rtl="0" eaLnBrk="1" latinLnBrk="0" hangingPunct="1">
              <a:spcBef>
                <a:spcPct val="0"/>
              </a:spcBef>
              <a:buNone/>
              <a:defRPr lang="en-US" sz="3000" b="1" kern="1200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Effect of Treatments on Leaf (Field experiment)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750658" y="121615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Table 3: Effect of different treatments on disease incidence (DI) and disease severity (DS) percentage of roselle calyx under pot experiment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6478482"/>
              </p:ext>
            </p:extLst>
          </p:nvPr>
        </p:nvGraphicFramePr>
        <p:xfrm>
          <a:off x="633700" y="2084832"/>
          <a:ext cx="11091672" cy="4139184"/>
        </p:xfrm>
        <a:graphic>
          <a:graphicData uri="http://schemas.openxmlformats.org/drawingml/2006/table">
            <a:tbl>
              <a:tblPr/>
              <a:tblGrid>
                <a:gridCol w="3044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Treatments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DI (%) · 90 DAS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DI (%) · 180 DAS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DS (%) · 90 DAS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DS (%) · 180 DAS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T0 = Control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16.00 a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27.67 a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16.00 a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26.00 a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T1 = Nativo 500 ppm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5.33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9.00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7.20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8.50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T2 = Tilt 500 ppm</a:t>
                      </a:r>
                      <a:endParaRPr lang="en-US" sz="20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4.00 c</a:t>
                      </a:r>
                      <a:endParaRPr lang="en-US" sz="20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6.00 c</a:t>
                      </a:r>
                      <a:endParaRPr lang="en-US" sz="20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6.00 c</a:t>
                      </a:r>
                      <a:endParaRPr lang="en-US" sz="20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7.00 c</a:t>
                      </a:r>
                      <a:endParaRPr lang="en-US" sz="20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T3 = Folicur 500 ppm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6.00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9.50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7.80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10.20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T4 = T. harzianum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7.67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12.00 b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9.00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12.80 b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T5 = T. viride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10.00 b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14.00 b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10.00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14.00 b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T6 = T. asperellum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9.00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13.00 b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11.00 b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13.00 b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SE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1.56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1.56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1.41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1.65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CV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5.34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5.33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4.83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5.63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33700" y="6327648"/>
            <a:ext cx="11091672" cy="4383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Means followed by the same letter(s) in a column did not differ significantly at 5% level by Tukey’s HSD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32972752-7D88-19AE-59CB-B6C2971F366E}"/>
              </a:ext>
            </a:extLst>
          </p:cNvPr>
          <p:cNvSpPr txBox="1">
            <a:spLocks/>
          </p:cNvSpPr>
          <p:nvPr/>
        </p:nvSpPr>
        <p:spPr>
          <a:xfrm>
            <a:off x="633700" y="229469"/>
            <a:ext cx="11091672" cy="5029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>
            <a:lvl1pPr marL="0" indent="0" algn="ctr" defTabSz="914400" rtl="0" eaLnBrk="1" latinLnBrk="0" hangingPunct="1">
              <a:spcBef>
                <a:spcPct val="0"/>
              </a:spcBef>
              <a:buNone/>
              <a:defRPr lang="en-US" sz="3000" b="1" kern="1200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r>
              <a:rPr lang="en-US" dirty="0"/>
              <a:t>Effect of Treatments on Calyx (pot experiment)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465635" y="1216152"/>
            <a:ext cx="11091672" cy="53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Table 4: Effect of different treatments on disease incidence (DI) and disease severity (DS) percentage of roselle calyx under field condition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7933621"/>
              </p:ext>
            </p:extLst>
          </p:nvPr>
        </p:nvGraphicFramePr>
        <p:xfrm>
          <a:off x="457200" y="2084832"/>
          <a:ext cx="11100107" cy="4094670"/>
        </p:xfrm>
        <a:graphic>
          <a:graphicData uri="http://schemas.openxmlformats.org/drawingml/2006/table">
            <a:tbl>
              <a:tblPr/>
              <a:tblGrid>
                <a:gridCol w="30533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946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Treatments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DI (%) · 90 DAS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DI (%) · 180 DAS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DS (%) · 90 DAS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DS (%) · 180 DAS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46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T0 = Control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20.00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52.00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18.00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34.00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46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T1 = Nativo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7.20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11.50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12.00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9.20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46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T2 = Tilt 500 ppm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6.00 c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7.50 c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11.40 b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8.80 d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46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T3 = Folicur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8.00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12.00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11.00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11.00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946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T4 = T. harzianum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12.00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16.00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7.50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17.00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946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T5 = T. viride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12.20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17.00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8.00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16.00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946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T6 = T. asperellum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9.20 bc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14.00 b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9.00 b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15.00 bc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946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1.36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1.77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1.50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1.56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946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CV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4.66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6.06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5.13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5.33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03504" y="6318504"/>
            <a:ext cx="10870798" cy="341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Means followed by the same letter(s) in a column did not differ significantly at 5% level by Tukey’s HSD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E13AC38D-AF29-601B-CE56-77922152CB00}"/>
              </a:ext>
            </a:extLst>
          </p:cNvPr>
          <p:cNvSpPr txBox="1">
            <a:spLocks/>
          </p:cNvSpPr>
          <p:nvPr/>
        </p:nvSpPr>
        <p:spPr>
          <a:xfrm>
            <a:off x="548640" y="200955"/>
            <a:ext cx="10925662" cy="5029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>
            <a:lvl1pPr marL="0" indent="0" algn="ctr" defTabSz="914400" rtl="0" eaLnBrk="1" latinLnBrk="0" hangingPunct="1">
              <a:spcBef>
                <a:spcPct val="0"/>
              </a:spcBef>
              <a:buNone/>
              <a:defRPr lang="en-US" sz="3000" b="1" kern="1200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r>
              <a:rPr lang="en-US" dirty="0"/>
              <a:t>Effect of Treatments on Calyx (field experiment)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08114" y="199447"/>
            <a:ext cx="11475011" cy="7035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Effect of Treatments on Agronomic parameters(pot experiment)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399783" y="1216152"/>
            <a:ext cx="11091672" cy="277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Table 5: Effect of different treatments on various agronomic parameters of roselle at </a:t>
            </a:r>
            <a:r>
              <a:rPr lang="en-US" sz="24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90</a:t>
            </a: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DAS</a:t>
            </a: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under pot experiment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2226036"/>
              </p:ext>
            </p:extLst>
          </p:nvPr>
        </p:nvGraphicFramePr>
        <p:xfrm>
          <a:off x="399783" y="2084832"/>
          <a:ext cx="11087419" cy="3749040"/>
        </p:xfrm>
        <a:graphic>
          <a:graphicData uri="http://schemas.openxmlformats.org/drawingml/2006/table">
            <a:tbl>
              <a:tblPr/>
              <a:tblGrid>
                <a:gridCol w="30406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078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Treatments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Plant height (cm)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Base diameter (mm)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Leaf No.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Fresh leaf weight (g)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97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T0 = Control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55.20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12.67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16.00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17.67 f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97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T1 = Nativo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86.40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25.33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35.33 ab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40.61 ab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97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T2 = Tilt 500 ppm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93.10 a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27.33 a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37.67 a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44.15 a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97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T3 = Folicur 500 ppm</a:t>
                      </a:r>
                      <a:endParaRPr lang="en-US" sz="1800" b="1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76.81 b</a:t>
                      </a:r>
                      <a:endParaRPr lang="en-US" sz="1800" b="1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21.67 b</a:t>
                      </a:r>
                      <a:endParaRPr lang="en-US" sz="1800" b="1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31.33 b</a:t>
                      </a:r>
                      <a:endParaRPr lang="en-US" sz="1800" b="1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35.19 bc</a:t>
                      </a:r>
                      <a:endParaRPr lang="en-US" sz="1800" b="1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97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T4 = T. harzianum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67.33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17.00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23.00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28.14 de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97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T5 = T. viride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66.30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16.00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20.67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24.44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97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T6 = T. asperellum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71.17 bc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19.33 bc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26.33 c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31.37 cd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97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2.75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0.69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1.18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1.86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97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CV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9.38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2.36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4.04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6.35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99784" y="5998464"/>
            <a:ext cx="11091672" cy="303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Means followed by the same letter(s) in a column did not differ significantly at 5% level by Tukey’s HSD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 Growth at 180 DAS — pot experiment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31453" y="1216152"/>
            <a:ext cx="11091672" cy="219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Table 6: Effect of different treatments on various agronomic parameters of roselle at </a:t>
            </a:r>
            <a:r>
              <a:rPr lang="en-US" sz="24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180</a:t>
            </a: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DAS</a:t>
            </a: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under pot experiment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4355182"/>
              </p:ext>
            </p:extLst>
          </p:nvPr>
        </p:nvGraphicFramePr>
        <p:xfrm>
          <a:off x="331453" y="2084832"/>
          <a:ext cx="11091672" cy="3749040"/>
        </p:xfrm>
        <a:graphic>
          <a:graphicData uri="http://schemas.openxmlformats.org/drawingml/2006/table">
            <a:tbl>
              <a:tblPr/>
              <a:tblGrid>
                <a:gridCol w="2770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89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Treatments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Plant height (cm)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Base diameter (mm)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Effective branch No.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Leaf No.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Fresh leaf weight (g)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72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T0 = Control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105.77 f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28.17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3.67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43.33 f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73.77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72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T1 = Nativo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152.77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43.33 ab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7.67 ab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90.00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146.41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72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T2 = Tilt 500 ppm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165.33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47.33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9.00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101.67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167.86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72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T3 = Folicur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146.33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39.67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6.33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79.33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138.13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72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T4 = T. harzianum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130.13 de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35.33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6.00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58.00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103.91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72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T5 = T. viride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121.09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33.50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5.33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52.67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87.61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72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T6 = T. asperellum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138.38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36.67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6.33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71.67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114.82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72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3.61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1.33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0.59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2.13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4.03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72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CV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12.35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4.56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2.02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7.28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13.75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03504" y="6035040"/>
            <a:ext cx="10819621" cy="281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Means followed by the same letter(s) in a column did not differ significantly at 5% level by Tukey’s HSD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ADF7B812-DC1C-A6F2-827E-942A05A81A45}"/>
              </a:ext>
            </a:extLst>
          </p:cNvPr>
          <p:cNvSpPr txBox="1">
            <a:spLocks/>
          </p:cNvSpPr>
          <p:nvPr/>
        </p:nvSpPr>
        <p:spPr>
          <a:xfrm>
            <a:off x="273965" y="182881"/>
            <a:ext cx="11475011" cy="7317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>
            <a:lvl1pPr marL="0" indent="0" algn="ctr" defTabSz="914400" rtl="0" eaLnBrk="1" latinLnBrk="0" hangingPunct="1">
              <a:spcBef>
                <a:spcPct val="0"/>
              </a:spcBef>
              <a:buNone/>
              <a:defRPr lang="en-US" sz="3000" b="1" kern="1200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Effect of Treatments on Agronomic parameters(pot experiment)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326881" y="1216152"/>
            <a:ext cx="11091672" cy="210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Table 7: Effect of different treatments on various agronomic parameters of roselle at 90 DAS under field experiment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1357406"/>
              </p:ext>
            </p:extLst>
          </p:nvPr>
        </p:nvGraphicFramePr>
        <p:xfrm>
          <a:off x="325357" y="2084832"/>
          <a:ext cx="11091672" cy="4006305"/>
        </p:xfrm>
        <a:graphic>
          <a:graphicData uri="http://schemas.openxmlformats.org/drawingml/2006/table">
            <a:tbl>
              <a:tblPr/>
              <a:tblGrid>
                <a:gridCol w="2770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8222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Treatments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Plant height (cm)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Base diameter (mm)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Effective branch No.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No. of leaves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Leaf fresh weight (g)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0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T0 = Control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70.55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26.67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5.33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46.67 g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61.50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0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T1 = Nativo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97.15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35.33 ab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8.67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65.67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72.60 ab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0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T2 = Tilt 500 ppm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103.05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38.33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9.00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69.33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75.80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60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T3 = Folicur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93.49 ab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33.33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7.33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59.33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70.60 ab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60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T4 = T. harzianum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80.17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28.67 de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7.00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54.33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66.70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60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T5 = T. viride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76.44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28.67 de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6.67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52.00 f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64.50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60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T6 = T. asperellum</a:t>
                      </a:r>
                      <a:endParaRPr lang="en-US" sz="1800" b="1" dirty="0">
                        <a:solidFill>
                          <a:schemeClr val="bg1">
                            <a:lumMod val="10000"/>
                          </a:schemeClr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86.23 bc</a:t>
                      </a:r>
                      <a:endParaRPr lang="en-US" sz="1800" b="1" dirty="0">
                        <a:solidFill>
                          <a:schemeClr val="bg1">
                            <a:lumMod val="10000"/>
                          </a:schemeClr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31.00 cd</a:t>
                      </a:r>
                      <a:endParaRPr lang="en-US" sz="1800" b="1" dirty="0">
                        <a:solidFill>
                          <a:schemeClr val="bg1">
                            <a:lumMod val="10000"/>
                          </a:schemeClr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7.00 b</a:t>
                      </a:r>
                      <a:endParaRPr lang="en-US" sz="1800" b="1" dirty="0">
                        <a:solidFill>
                          <a:schemeClr val="bg1">
                            <a:lumMod val="10000"/>
                          </a:schemeClr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57.33 d</a:t>
                      </a:r>
                      <a:endParaRPr lang="en-US" sz="1800" b="1" dirty="0">
                        <a:solidFill>
                          <a:schemeClr val="bg1">
                            <a:lumMod val="10000"/>
                          </a:schemeClr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68.60 abc</a:t>
                      </a:r>
                      <a:endParaRPr lang="en-US" sz="1800" b="1" dirty="0">
                        <a:solidFill>
                          <a:schemeClr val="bg1">
                            <a:lumMod val="10000"/>
                          </a:schemeClr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60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3.18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1.20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0.36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0.53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2.47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60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CV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10.86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4.09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1.22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1.83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8.44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03504" y="6108192"/>
            <a:ext cx="10813525" cy="2690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Means followed by the same letter(s) in a column did not differ significantly at 5% level by Tukey’s HSD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65909BFA-038B-2D39-1A46-7121015B95D6}"/>
              </a:ext>
            </a:extLst>
          </p:cNvPr>
          <p:cNvSpPr txBox="1">
            <a:spLocks/>
          </p:cNvSpPr>
          <p:nvPr/>
        </p:nvSpPr>
        <p:spPr>
          <a:xfrm>
            <a:off x="201912" y="163386"/>
            <a:ext cx="11785128" cy="5819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>
            <a:lvl1pPr marL="0" indent="0" algn="ctr" defTabSz="914400" rtl="0" eaLnBrk="1" latinLnBrk="0" hangingPunct="1">
              <a:spcBef>
                <a:spcPct val="0"/>
              </a:spcBef>
              <a:buNone/>
              <a:defRPr lang="en-US" sz="3000" b="1" kern="1200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Effect of Treatments on Agronomic parameters(Field experiment)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301610" y="1216152"/>
            <a:ext cx="11091672" cy="204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Table 8: Effect of different treatments on various agronomic parameters of roselle at 180 DAS under field experiment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3894398"/>
              </p:ext>
            </p:extLst>
          </p:nvPr>
        </p:nvGraphicFramePr>
        <p:xfrm>
          <a:off x="301610" y="2084832"/>
          <a:ext cx="11091672" cy="3749040"/>
        </p:xfrm>
        <a:graphic>
          <a:graphicData uri="http://schemas.openxmlformats.org/drawingml/2006/table">
            <a:tbl>
              <a:tblPr/>
              <a:tblGrid>
                <a:gridCol w="2770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113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Treatments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Plant height (cm)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Base diameter (mm)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Effective branch No.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No. of leaves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Leaf fresh weight (g)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6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T0 = Control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118.64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44.33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8.33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124.00 f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154.47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6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T1 = Nativo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151.33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54.43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13.67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154.67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184.23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6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T2 = Tilt 500 ppm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172.88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63.33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16.67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163.00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196.28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6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T3 = Folicur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148.30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53.67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12.67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147.33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179.72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6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T4 = T. harzianum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129.74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51.33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12.00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138.33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171.13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6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T5 = T. viride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124.73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49.00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11.33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133.67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169.33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6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T6 = T. asperellum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140.44 bc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52.67 bc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12.33 bc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144.67 c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175.91 bcd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6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3.53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1.45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0.44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1.33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2.96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6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CV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12.06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4.97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1.49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4.56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10.11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01610" y="5989320"/>
            <a:ext cx="11091672" cy="935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Means followed by the same letter(s) in a column did not differ significantly at 5% level by Tukey’s HSD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82CCDE7C-5544-7968-90DD-8BA5C224D6BD}"/>
              </a:ext>
            </a:extLst>
          </p:cNvPr>
          <p:cNvSpPr txBox="1">
            <a:spLocks/>
          </p:cNvSpPr>
          <p:nvPr/>
        </p:nvSpPr>
        <p:spPr>
          <a:xfrm>
            <a:off x="273965" y="182880"/>
            <a:ext cx="11785128" cy="7634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>
            <a:lvl1pPr marL="0" indent="0" algn="ctr" defTabSz="914400" rtl="0" eaLnBrk="1" latinLnBrk="0" hangingPunct="1">
              <a:spcBef>
                <a:spcPct val="0"/>
              </a:spcBef>
              <a:buNone/>
              <a:defRPr lang="en-US" sz="3000" b="1" kern="1200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Effect of Treatments on Agronomic parameters(Field experiment)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29663"/>
            <a:ext cx="11091672" cy="5029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5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Yield DATA at 90 DAS — field condition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1216152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Table 9: Effect of different treatments on various agronomic parameters of roselle at 90 DAS under field condition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7035180"/>
              </p:ext>
            </p:extLst>
          </p:nvPr>
        </p:nvGraphicFramePr>
        <p:xfrm>
          <a:off x="548640" y="2084832"/>
          <a:ext cx="11091672" cy="3749994"/>
        </p:xfrm>
        <a:graphic>
          <a:graphicData uri="http://schemas.openxmlformats.org/drawingml/2006/table">
            <a:tbl>
              <a:tblPr/>
              <a:tblGrid>
                <a:gridCol w="3410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5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Treatments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Fruit No./plant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Capsule fresh weight (g/plant)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Calyx fresh weight (g/plant)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5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T0 = Control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17.67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21.61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15.56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5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T1 = Nativo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30.33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51.13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41.25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5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T2 = Tilt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32.33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55.45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45.14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5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T3 = Folicur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25.33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40.26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29.55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5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T4 = T. harzianum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24.67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31.28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26.17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5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T5 = T. viride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22.33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28.66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23.09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5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T6 = T. asperellum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25.00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37.14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28.04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5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0.82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1.48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1.17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5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CV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2.79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5.06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4.00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71032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Means followed by the same letter(s) in a column did not differ significantly at 5% level by Tukey’s HSD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57822" y="1216152"/>
            <a:ext cx="11091672" cy="507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Table 10: Effect of different treatments on various agronomic parameters of roselle at 180 DAS under field condition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0230840"/>
              </p:ext>
            </p:extLst>
          </p:nvPr>
        </p:nvGraphicFramePr>
        <p:xfrm>
          <a:off x="548640" y="2084832"/>
          <a:ext cx="11091672" cy="4171170"/>
        </p:xfrm>
        <a:graphic>
          <a:graphicData uri="http://schemas.openxmlformats.org/drawingml/2006/table">
            <a:tbl>
              <a:tblPr/>
              <a:tblGrid>
                <a:gridCol w="3410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76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Treatments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Fruit No./plant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Capsule fresh weight (g/plant)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Calyx fresh weight (g/plant)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76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T0 = Control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183.67 d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605.20 f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377.31 e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76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T1 = Nativo 500 ppm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251.67 b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926.70 b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677.82 b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76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T2 = Tilt 500 ppm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289.33 a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1071.30 a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820.14 a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76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T3 = Folicur 500 ppm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249.67 b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894.30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628.64 b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76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T4 = T. harzianum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225.33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786.20 de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530.98 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76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T5 = T. viride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215.33 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710.44 e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451.23 d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76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T6 = T. asperellum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242.00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831.60 cd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549.51 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76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SE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8.40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27.57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21.59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76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CV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4.35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4.06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4.59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03504" y="6364224"/>
            <a:ext cx="11036808" cy="3230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Means followed by the same letter(s) in a column did not differ significantly at 5% level by Tukey’s HSD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A7422585-A655-0B9D-1F8D-FA337A2EE184}"/>
              </a:ext>
            </a:extLst>
          </p:cNvPr>
          <p:cNvSpPr txBox="1">
            <a:spLocks/>
          </p:cNvSpPr>
          <p:nvPr/>
        </p:nvSpPr>
        <p:spPr>
          <a:xfrm>
            <a:off x="548640" y="202019"/>
            <a:ext cx="11091672" cy="5029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>
            <a:lvl1pPr marL="0" indent="0" algn="ctr" defTabSz="914400" rtl="0" eaLnBrk="1" latinLnBrk="0" hangingPunct="1">
              <a:spcBef>
                <a:spcPct val="0"/>
              </a:spcBef>
              <a:buNone/>
              <a:defRPr lang="en-US" sz="3000" b="1" kern="1200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r>
              <a:rPr lang="en-US" dirty="0"/>
              <a:t>Yield DATA at 180 DAS — field condition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60604"/>
            <a:ext cx="11091672" cy="731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5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discussion points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56116" y="1234440"/>
            <a:ext cx="5449824" cy="2103120"/>
          </a:xfrm>
          <a:prstGeom prst="roundRect">
            <a:avLst>
              <a:gd name="adj" fmla="val 4348"/>
            </a:avLst>
          </a:prstGeom>
          <a:solidFill>
            <a:schemeClr val="accent5">
              <a:lumMod val="20000"/>
              <a:lumOff val="80000"/>
              <a:alpha val="7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280160"/>
            <a:ext cx="548640" cy="548640"/>
          </a:xfrm>
          <a:prstGeom prst="ellipse">
            <a:avLst/>
          </a:prstGeom>
          <a:solidFill>
            <a:srgbClr val="0B3557"/>
          </a:solidFill>
          <a:ln/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24461" y="12664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1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520952" y="13030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Lab ≠ plant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781812" y="1952244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Tilt needed a higher dose than Nativo in vitro but gave the best control on plants — echoes Teramoto et al. (2011)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7152" y="1257710"/>
            <a:ext cx="5449824" cy="2194560"/>
          </a:xfrm>
          <a:prstGeom prst="roundRect">
            <a:avLst>
              <a:gd name="adj" fmla="val 4348"/>
            </a:avLst>
          </a:prstGeom>
          <a:solidFill>
            <a:schemeClr val="accent5">
              <a:lumMod val="20000"/>
              <a:lumOff val="80000"/>
              <a:alpha val="7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387152" y="1289508"/>
            <a:ext cx="548640" cy="469483"/>
          </a:xfrm>
          <a:prstGeom prst="ellipse">
            <a:avLst/>
          </a:prstGeom>
          <a:solidFill>
            <a:srgbClr val="B5303F"/>
          </a:solidFill>
          <a:ln/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398548" y="121386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2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7068312" y="124993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Bioagent ranking shifted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446520" y="1879979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4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T. asperellum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led in dual culture and pots; </a:t>
            </a:r>
            <a:r>
              <a:rPr lang="en-US" sz="24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T. viride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and </a:t>
            </a:r>
            <a:r>
              <a:rPr lang="en-US" sz="24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T. harzianum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led in the field.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42605" y="3977640"/>
            <a:ext cx="5449824" cy="2103120"/>
          </a:xfrm>
          <a:prstGeom prst="roundRect">
            <a:avLst>
              <a:gd name="adj" fmla="val 4348"/>
            </a:avLst>
          </a:prstGeom>
          <a:solidFill>
            <a:schemeClr val="accent5">
              <a:lumMod val="20000"/>
              <a:lumOff val="80000"/>
              <a:alpha val="7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rgbClr val="0B3557"/>
          </a:solidFill>
          <a:ln/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822960" y="3977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3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1554480" y="39776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Growth promotion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22960" y="46634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4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T. asperellum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gave the best growth and yield among bioagents — likely root colonization and induced resistance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387152" y="3937379"/>
            <a:ext cx="5449824" cy="2103120"/>
          </a:xfrm>
          <a:prstGeom prst="roundRect">
            <a:avLst>
              <a:gd name="adj" fmla="val 4348"/>
            </a:avLst>
          </a:prstGeom>
          <a:solidFill>
            <a:schemeClr val="accent5">
              <a:lumMod val="20000"/>
              <a:lumOff val="80000"/>
              <a:alpha val="7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464808" y="3977640"/>
            <a:ext cx="548640" cy="548640"/>
          </a:xfrm>
          <a:prstGeom prst="ellipse">
            <a:avLst/>
          </a:prstGeom>
          <a:solidFill>
            <a:srgbClr val="B5303F"/>
          </a:solidFill>
          <a:ln/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6464808" y="3977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7196328" y="39776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Species still open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6464808" y="46634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Conidial size points to </a:t>
            </a:r>
            <a:r>
              <a:rPr lang="en-US" sz="24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C. malayensis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; ITS + tef1 + actin/calmodulin sequencing required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sz="2400" b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fld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5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&amp; Conclusions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777240" y="1325880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5303F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1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371600" y="1325880"/>
            <a:ext cx="10058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8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Leaf spot of roselle in Mymensingh and Tangail is caused by </a:t>
            </a:r>
            <a:r>
              <a:rPr lang="en-US" sz="28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Cercospora</a:t>
            </a:r>
            <a:r>
              <a:rPr lang="en-US" sz="28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sp. — first such study in Bangladesh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2585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777240" y="2258568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5303F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2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1371600" y="2258568"/>
            <a:ext cx="10058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8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The pathogen grows best at 20–22 °C and infects intact leaves within 4 days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319125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777240" y="3191256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5303F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3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1371600" y="3191256"/>
            <a:ext cx="10058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8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 vitro: Nativo, Tilt and Bavistin gave 100% inhibition at ≤500 ppm; </a:t>
            </a:r>
            <a:r>
              <a:rPr lang="en-US" sz="28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T. asperellum</a:t>
            </a:r>
            <a:r>
              <a:rPr lang="en-US" sz="28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and </a:t>
            </a:r>
            <a:r>
              <a:rPr lang="en-US" sz="28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T. harzianum</a:t>
            </a:r>
            <a:r>
              <a:rPr lang="en-US" sz="28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gave ~90%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4123944"/>
            <a:ext cx="11091672" cy="786384"/>
          </a:xfrm>
          <a:prstGeom prst="roundRect">
            <a:avLst>
              <a:gd name="adj" fmla="val 11628"/>
            </a:avLst>
          </a:prstGeom>
          <a:solidFill>
            <a:schemeClr val="bg1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777240" y="4123944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C00000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4</a:t>
            </a:r>
            <a:endParaRPr lang="en-US" sz="2800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371600" y="4123944"/>
            <a:ext cx="10058400" cy="786384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8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Tilt 250 EC @ 500 ppm from 60 DAS at 25-day intervals gave the best control and more than doubled calyx yield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48640" y="5056632"/>
            <a:ext cx="11091672" cy="932688"/>
          </a:xfrm>
          <a:prstGeom prst="roundRect">
            <a:avLst>
              <a:gd name="adj" fmla="val 1162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777240" y="5056632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5303F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5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1371600" y="5056632"/>
            <a:ext cx="10058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800" i="1" dirty="0" err="1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Trichoderma</a:t>
            </a:r>
            <a:r>
              <a:rPr lang="en-US" sz="28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28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2800" i="1" dirty="0" err="1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asperellum</a:t>
            </a:r>
            <a:r>
              <a:rPr lang="en-US" sz="28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gave the best growth and yield among </a:t>
            </a:r>
            <a:r>
              <a:rPr lang="en-US" sz="2800" dirty="0" err="1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bioagents</a:t>
            </a:r>
            <a:r>
              <a:rPr lang="en-US" sz="28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— likely root colonization and induced resistance.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sz="2800" b="0">
                <a:latin typeface="Times New Roman" panose="02020603050405020304" pitchFamily="18" charset="0"/>
                <a:cs typeface="Times New Roman" panose="02020603050405020304" pitchFamily="18" charset="0"/>
              </a:rPr>
              <a:t>31</a:t>
            </a:fld>
            <a:endParaRPr lang="en-US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50164" y="160020"/>
            <a:ext cx="11091672" cy="731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5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Recommendations and future work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49824" cy="2103120"/>
          </a:xfrm>
          <a:prstGeom prst="roundRect">
            <a:avLst>
              <a:gd name="adj" fmla="val 434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rgbClr val="0B3557"/>
          </a:solidFill>
          <a:ln/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2296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1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554480" y="16459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Molecular identification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Multilocus sequencing (ITS, tef1, actin or calmodulin) to name the species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190488" y="1371600"/>
            <a:ext cx="5449824" cy="2103120"/>
          </a:xfrm>
          <a:prstGeom prst="roundRect">
            <a:avLst>
              <a:gd name="adj" fmla="val 434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64808" y="1645920"/>
            <a:ext cx="548640" cy="548640"/>
          </a:xfrm>
          <a:prstGeom prst="ellipse">
            <a:avLst/>
          </a:prstGeom>
          <a:solidFill>
            <a:srgbClr val="B5303F"/>
          </a:solidFill>
          <a:ln/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464808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2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7068312" y="164319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Integrated management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601285" y="2202066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Combine </a:t>
            </a:r>
            <a:r>
              <a:rPr lang="en-US" sz="24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Trichoderma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with reduced fungicide programmes to curb resistance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5449824" cy="2103120"/>
          </a:xfrm>
          <a:prstGeom prst="roundRect">
            <a:avLst>
              <a:gd name="adj" fmla="val 434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rgbClr val="0B3557"/>
          </a:solidFill>
          <a:ln/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822960" y="3977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3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1554480" y="39776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Host resistance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22960" y="46634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Screen roselle varieties for resistance to </a:t>
            </a:r>
            <a:r>
              <a:rPr lang="en-US" sz="24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Cercospora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leaf spot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190488" y="3703320"/>
            <a:ext cx="5449824" cy="2103120"/>
          </a:xfrm>
          <a:prstGeom prst="roundRect">
            <a:avLst>
              <a:gd name="adj" fmla="val 434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464808" y="3977640"/>
            <a:ext cx="548640" cy="548640"/>
          </a:xfrm>
          <a:prstGeom prst="ellipse">
            <a:avLst/>
          </a:prstGeom>
          <a:solidFill>
            <a:srgbClr val="B5303F"/>
          </a:solidFill>
          <a:ln/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6464808" y="3977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7196328" y="39776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Better assessment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6464808" y="46634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Validated diagrammatic severity scale; multi-season, multi-location trials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5000538B-44A6-80EA-FB42-6277E1511C8D}"/>
              </a:ext>
            </a:extLst>
          </p:cNvPr>
          <p:cNvSpPr txBox="1">
            <a:spLocks noGrp="1"/>
          </p:cNvSpPr>
          <p:nvPr>
            <p:ph type="title" idx="100"/>
          </p:nvPr>
        </p:nvSpPr>
        <p:spPr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solidFill>
              <a:srgbClr val="002060"/>
            </a:solidFill>
          </a:ln>
        </p:spPr>
        <p:txBody>
          <a:bodyPr wrap="square" lIns="0" tIns="0" rIns="0" bIns="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199" b="1" dirty="0"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3199" dirty="0"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Acknowledgement 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312C8C4-C4B5-1C58-12C1-8C4DCF8FF572}"/>
              </a:ext>
            </a:extLst>
          </p:cNvPr>
          <p:cNvSpPr txBox="1"/>
          <p:nvPr/>
        </p:nvSpPr>
        <p:spPr>
          <a:xfrm>
            <a:off x="2573629" y="1487631"/>
            <a:ext cx="9228680" cy="6404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NST Fellowship</a:t>
            </a:r>
            <a:r>
              <a:rPr lang="en-US" sz="24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, Ministry of Science and Technology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D5C2A877-0725-9552-4B53-986C112B1668}"/>
              </a:ext>
            </a:extLst>
          </p:cNvPr>
          <p:cNvSpPr txBox="1"/>
          <p:nvPr/>
        </p:nvSpPr>
        <p:spPr>
          <a:xfrm>
            <a:off x="2573629" y="2550744"/>
            <a:ext cx="9228680" cy="6404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BAURES project ( No. 111/2024/BAU)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248FA5-DDC7-CDCB-C459-405D11B1384E}"/>
              </a:ext>
            </a:extLst>
          </p:cNvPr>
          <p:cNvSpPr txBox="1"/>
          <p:nvPr/>
        </p:nvSpPr>
        <p:spPr>
          <a:xfrm>
            <a:off x="1277282" y="2089079"/>
            <a:ext cx="8758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F3F144-7AE1-B8B0-6F0F-9B1E30437B82}"/>
              </a:ext>
            </a:extLst>
          </p:cNvPr>
          <p:cNvSpPr txBox="1"/>
          <p:nvPr/>
        </p:nvSpPr>
        <p:spPr>
          <a:xfrm>
            <a:off x="1291260" y="4168275"/>
            <a:ext cx="8758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E39E4A2B-183C-4DF5-16D8-FAEDAD3433F5}"/>
              </a:ext>
            </a:extLst>
          </p:cNvPr>
          <p:cNvSpPr txBox="1"/>
          <p:nvPr/>
        </p:nvSpPr>
        <p:spPr>
          <a:xfrm>
            <a:off x="2573629" y="3627278"/>
            <a:ext cx="9228680" cy="7315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Plant Pathology ,BAU</a:t>
            </a:r>
          </a:p>
        </p:txBody>
      </p:sp>
    </p:spTree>
    <p:extLst>
      <p:ext uri="{BB962C8B-B14F-4D97-AF65-F5344CB8AC3E}">
        <p14:creationId xmlns:p14="http://schemas.microsoft.com/office/powerpoint/2010/main" val="24937867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0164" y="2148840"/>
            <a:ext cx="11091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66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6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3689</Words>
  <Application>Microsoft Office PowerPoint</Application>
  <PresentationFormat>Widescreen</PresentationFormat>
  <Paragraphs>858</Paragraphs>
  <Slides>34</Slides>
  <Notes>27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5" baseType="lpstr">
      <vt:lpstr>Office Theme</vt:lpstr>
      <vt:lpstr>PowerPoint Presentation</vt:lpstr>
      <vt:lpstr>IDENTIFICATION AND CHARACTERIZATION OF Cercospora sp. CAUSING LEAF SPOT ON ROSELLE (Hibiscus sabdariffa L.) AND ITS MANAGEMENT </vt:lpstr>
      <vt:lpstr>Introduction</vt:lpstr>
      <vt:lpstr> Significance</vt:lpstr>
      <vt:lpstr> Objectives </vt:lpstr>
      <vt:lpstr>PowerPoint Presentation</vt:lpstr>
      <vt:lpstr>Methodology · Isolation and identification</vt:lpstr>
      <vt:lpstr>Pot and field experiment</vt:lpstr>
      <vt:lpstr>Treatments</vt:lpstr>
      <vt:lpstr>Treatment application and data collection</vt:lpstr>
      <vt:lpstr>Results</vt:lpstr>
      <vt:lpstr>Morphological identification</vt:lpstr>
      <vt:lpstr>Effect of Temperatures</vt:lpstr>
      <vt:lpstr>Pathogenicity tests</vt:lpstr>
      <vt:lpstr>Effect of fungicides on mycelial growth</vt:lpstr>
      <vt:lpstr>In vitro evaluation</vt:lpstr>
      <vt:lpstr>Effect of Fungicides on Radial Mycelial Growth </vt:lpstr>
      <vt:lpstr>Antagonistic effects of bio-agents on Radial Mycelial Growth </vt:lpstr>
      <vt:lpstr>Dual culture plates</vt:lpstr>
      <vt:lpstr>Effect of Treatments on Leaf (pot experiment)</vt:lpstr>
      <vt:lpstr>PowerPoint Presentation</vt:lpstr>
      <vt:lpstr>PowerPoint Presentation</vt:lpstr>
      <vt:lpstr>PowerPoint Presentation</vt:lpstr>
      <vt:lpstr>Effect of Treatments on Agronomic parameters(pot experiment)</vt:lpstr>
      <vt:lpstr>4.8 Growth at 180 DAS — pot experiment</vt:lpstr>
      <vt:lpstr>PowerPoint Presentation</vt:lpstr>
      <vt:lpstr>PowerPoint Presentation</vt:lpstr>
      <vt:lpstr>Yield DATA at 90 DAS — field condition</vt:lpstr>
      <vt:lpstr>PowerPoint Presentation</vt:lpstr>
      <vt:lpstr>Key discussion points</vt:lpstr>
      <vt:lpstr>Summary &amp; Conclusions</vt:lpstr>
      <vt:lpstr>Recommendations and future work</vt:lpstr>
      <vt:lpstr> Acknowledgement 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Cercospora Leaf Spot of Roselle — MS Thesis Defence</dc:title>
  <dc:subject>PptxGenJS Presentation</dc:subject>
  <dc:creator>Nisha Mazumder</dc:creator>
  <cp:lastModifiedBy>Nisha Mazumder</cp:lastModifiedBy>
  <cp:revision>41</cp:revision>
  <dcterms:created xsi:type="dcterms:W3CDTF">2026-10-27T09:24:29Z</dcterms:created>
  <dcterms:modified xsi:type="dcterms:W3CDTF">2026-10-28T00:14:29Z</dcterms:modified>
</cp:coreProperties>
</file>