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rawings/drawing2.xml" ContentType="application/vnd.openxmlformats-officedocument.drawingml.chartshapes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3.xml" ContentType="application/vnd.openxmlformats-officedocument.drawingml.chartshape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7" r:id="rId2"/>
    <p:sldId id="296" r:id="rId3"/>
    <p:sldId id="305" r:id="rId4"/>
    <p:sldId id="300" r:id="rId5"/>
    <p:sldId id="301" r:id="rId6"/>
    <p:sldId id="302" r:id="rId7"/>
    <p:sldId id="261" r:id="rId8"/>
    <p:sldId id="263" r:id="rId9"/>
    <p:sldId id="308" r:id="rId10"/>
    <p:sldId id="262" r:id="rId11"/>
    <p:sldId id="267" r:id="rId12"/>
    <p:sldId id="304" r:id="rId13"/>
    <p:sldId id="272" r:id="rId14"/>
    <p:sldId id="274" r:id="rId15"/>
    <p:sldId id="275" r:id="rId16"/>
    <p:sldId id="276" r:id="rId17"/>
    <p:sldId id="265" r:id="rId18"/>
    <p:sldId id="277" r:id="rId19"/>
    <p:sldId id="278" r:id="rId20"/>
    <p:sldId id="279" r:id="rId21"/>
    <p:sldId id="280" r:id="rId22"/>
    <p:sldId id="266" r:id="rId23"/>
    <p:sldId id="281" r:id="rId24"/>
    <p:sldId id="284" r:id="rId25"/>
    <p:sldId id="287" r:id="rId26"/>
    <p:sldId id="288" r:id="rId27"/>
    <p:sldId id="282" r:id="rId28"/>
    <p:sldId id="283" r:id="rId29"/>
    <p:sldId id="285" r:id="rId30"/>
    <p:sldId id="286" r:id="rId31"/>
    <p:sldId id="289" r:id="rId32"/>
    <p:sldId id="290" r:id="rId33"/>
    <p:sldId id="291" r:id="rId34"/>
    <p:sldId id="292" r:id="rId35"/>
    <p:sldId id="293" r:id="rId36"/>
    <p:sldId id="307" r:id="rId37"/>
    <p:sldId id="294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5196864-507A-E6AF-B769-FA3BD453063D}">
          <p14:sldIdLst>
            <p14:sldId id="257"/>
            <p14:sldId id="296"/>
            <p14:sldId id="305"/>
            <p14:sldId id="300"/>
            <p14:sldId id="301"/>
            <p14:sldId id="302"/>
          </p14:sldIdLst>
        </p14:section>
        <p14:section name="Materials and methods" id="{70621B69-BDB2-4D24-236B-F8C2045CBBAC}">
          <p14:sldIdLst>
            <p14:sldId id="261"/>
            <p14:sldId id="263"/>
            <p14:sldId id="308"/>
            <p14:sldId id="262"/>
            <p14:sldId id="267"/>
          </p14:sldIdLst>
        </p14:section>
        <p14:section name="Results I · Identification" id="{1D296300-A139-B012-46F6-B95924B07485}">
          <p14:sldIdLst>
            <p14:sldId id="304"/>
            <p14:sldId id="272"/>
            <p14:sldId id="274"/>
            <p14:sldId id="275"/>
          </p14:sldIdLst>
        </p14:section>
        <p14:section name="Results II · In vitro" id="{5E126F28-55B0-AA0A-368D-D8A30D707BF0}">
          <p14:sldIdLst>
            <p14:sldId id="276"/>
            <p14:sldId id="265"/>
            <p14:sldId id="277"/>
            <p14:sldId id="278"/>
            <p14:sldId id="279"/>
          </p14:sldIdLst>
        </p14:section>
        <p14:section name="Results III · Pot &amp; field" id="{780849A7-1634-A598-2E89-C695C85D7C3E}">
          <p14:sldIdLst>
            <p14:sldId id="280"/>
            <p14:sldId id="266"/>
            <p14:sldId id="281"/>
            <p14:sldId id="284"/>
            <p14:sldId id="287"/>
            <p14:sldId id="288"/>
            <p14:sldId id="282"/>
            <p14:sldId id="283"/>
            <p14:sldId id="285"/>
            <p14:sldId id="286"/>
            <p14:sldId id="289"/>
            <p14:sldId id="290"/>
          </p14:sldIdLst>
        </p14:section>
        <p14:section name="Discussion and conclusions" id="{77C64525-DDFE-15C7-09E9-760BF3667220}">
          <p14:sldIdLst>
            <p14:sldId id="291"/>
            <p14:sldId id="292"/>
            <p14:sldId id="293"/>
            <p14:sldId id="307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9" Type="http://schemas.openxmlformats.org/officeDocument/2006/relationships/notesMaster" Target="notesMasters/notesMaster1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34" Type="http://schemas.openxmlformats.org/officeDocument/2006/relationships/slide" Target="slides/slide33.xml" /><Relationship Id="rId42" Type="http://schemas.openxmlformats.org/officeDocument/2006/relationships/theme" Target="theme/theme1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slide" Target="slides/slide37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29" Type="http://schemas.openxmlformats.org/officeDocument/2006/relationships/slide" Target="slides/slide28.xml" /><Relationship Id="rId4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slide" Target="slides/slide36.xml" /><Relationship Id="rId40" Type="http://schemas.openxmlformats.org/officeDocument/2006/relationships/presProps" Target="presProps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slide" Target="slides/slide35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31" Type="http://schemas.openxmlformats.org/officeDocument/2006/relationships/slide" Target="slides/slide30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Relationship Id="rId43" Type="http://schemas.openxmlformats.org/officeDocument/2006/relationships/tableStyles" Target="tableStyles.xml" 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1.xml" /><Relationship Id="rId2" Type="http://schemas.microsoft.com/office/2011/relationships/chartColorStyle" Target="colors1.xml" /><Relationship Id="rId1" Type="http://schemas.microsoft.com/office/2011/relationships/chartStyle" Target="style1.xml" 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2.xml" /><Relationship Id="rId2" Type="http://schemas.microsoft.com/office/2011/relationships/chartColorStyle" Target="colors2.xml" /><Relationship Id="rId1" Type="http://schemas.microsoft.com/office/2011/relationships/chartStyle" Target="style2.xml" 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chartUserShapes" Target="../drawings/drawing3.xml" /><Relationship Id="rId2" Type="http://schemas.microsoft.com/office/2011/relationships/chartColorStyle" Target="colors3.xml" /><Relationship Id="rId1" Type="http://schemas.microsoft.com/office/2011/relationships/chartStyle" Target="style3.xml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D6-8849-B290-784D269BBC02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3D6-8849-B290-784D269BBC02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3D6-8849-B290-784D269BBC02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3D6-8849-B290-784D269BBC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Growth inhibition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93-7847-A517-C60F83DE59F0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93-7847-A517-C60F83DE59F0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93-7847-A517-C60F83DE59F0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93-7847-A517-C60F83DE59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Growth inhibition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'Poison food'!$AV$69</c:f>
              <c:strCache>
                <c:ptCount val="1"/>
                <c:pt idx="0">
                  <c:v>Nativo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food'!$AZ$70:$AZ$74</c:f>
                <c:numCache>
                  <c:formatCode>General</c:formatCode>
                  <c:ptCount val="5"/>
                  <c:pt idx="0">
                    <c:v>0.97</c:v>
                  </c:pt>
                  <c:pt idx="1">
                    <c:v>0.96</c:v>
                  </c:pt>
                  <c:pt idx="2">
                    <c:v>0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food'!$AV$70:$AV$74</c:f>
              <c:numCache>
                <c:formatCode>General</c:formatCode>
                <c:ptCount val="5"/>
                <c:pt idx="0">
                  <c:v>67.73</c:v>
                </c:pt>
                <c:pt idx="1">
                  <c:v>73.09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0B-CA47-BB93-422B40745F14}"/>
            </c:ext>
          </c:extLst>
        </c:ser>
        <c:ser>
          <c:idx val="1"/>
          <c:order val="1"/>
          <c:tx>
            <c:strRef>
              <c:f>'Poison food'!$AW$69</c:f>
              <c:strCache>
                <c:ptCount val="1"/>
                <c:pt idx="0">
                  <c:v>Tilt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food'!$BA$70:$BA$74</c:f>
                <c:numCache>
                  <c:formatCode>General</c:formatCode>
                  <c:ptCount val="5"/>
                  <c:pt idx="0">
                    <c:v>1.32</c:v>
                  </c:pt>
                  <c:pt idx="1">
                    <c:v>2</c:v>
                  </c:pt>
                  <c:pt idx="2">
                    <c:v>0.55000000000000004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food'!$AW$70:$AW$74</c:f>
              <c:numCache>
                <c:formatCode>General</c:formatCode>
                <c:ptCount val="5"/>
                <c:pt idx="0">
                  <c:v>53.18</c:v>
                </c:pt>
                <c:pt idx="1">
                  <c:v>59.88</c:v>
                </c:pt>
                <c:pt idx="2">
                  <c:v>73.38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0B-CA47-BB93-422B40745F14}"/>
            </c:ext>
          </c:extLst>
        </c:ser>
        <c:ser>
          <c:idx val="2"/>
          <c:order val="2"/>
          <c:tx>
            <c:strRef>
              <c:f>'Poison food'!$AX$69</c:f>
              <c:strCache>
                <c:ptCount val="1"/>
                <c:pt idx="0">
                  <c:v>Bavistin 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food'!$BB$70:$BB$74</c:f>
                <c:numCache>
                  <c:formatCode>General</c:formatCode>
                  <c:ptCount val="5"/>
                  <c:pt idx="0">
                    <c:v>1.55</c:v>
                  </c:pt>
                  <c:pt idx="1">
                    <c:v>0.89</c:v>
                  </c:pt>
                  <c:pt idx="2">
                    <c:v>2.7</c:v>
                  </c:pt>
                  <c:pt idx="3">
                    <c:v>0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food'!$AX$70:$AX$74</c:f>
              <c:numCache>
                <c:formatCode>General</c:formatCode>
                <c:ptCount val="5"/>
                <c:pt idx="0">
                  <c:v>65.400000000000006</c:v>
                </c:pt>
                <c:pt idx="1">
                  <c:v>69.760000000000005</c:v>
                </c:pt>
                <c:pt idx="2">
                  <c:v>70.95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0B-CA47-BB93-422B40745F14}"/>
            </c:ext>
          </c:extLst>
        </c:ser>
        <c:ser>
          <c:idx val="3"/>
          <c:order val="3"/>
          <c:tx>
            <c:strRef>
              <c:f>'Poison food'!$AY$69</c:f>
              <c:strCache>
                <c:ptCount val="1"/>
                <c:pt idx="0">
                  <c:v>Folicur 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plus>
            <c:minus>
              <c:numRef>
                <c:f>'Poison food'!$BC$70:$BC$74</c:f>
                <c:numCache>
                  <c:formatCode>General</c:formatCode>
                  <c:ptCount val="5"/>
                  <c:pt idx="0">
                    <c:v>3.28</c:v>
                  </c:pt>
                  <c:pt idx="1">
                    <c:v>2.2000000000000002</c:v>
                  </c:pt>
                  <c:pt idx="2">
                    <c:v>0.61</c:v>
                  </c:pt>
                  <c:pt idx="3">
                    <c:v>2.1</c:v>
                  </c:pt>
                  <c:pt idx="4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'Poison food'!$AU$70:$AU$74</c:f>
              <c:strCache>
                <c:ptCount val="5"/>
                <c:pt idx="0">
                  <c:v>50 ppm</c:v>
                </c:pt>
                <c:pt idx="1">
                  <c:v>100 ppm</c:v>
                </c:pt>
                <c:pt idx="2">
                  <c:v>250 ppm</c:v>
                </c:pt>
                <c:pt idx="3">
                  <c:v>500 ppm</c:v>
                </c:pt>
                <c:pt idx="4">
                  <c:v>1000 ppm</c:v>
                </c:pt>
              </c:strCache>
            </c:strRef>
          </c:cat>
          <c:val>
            <c:numRef>
              <c:f>'Poison food'!$AY$70:$AY$74</c:f>
              <c:numCache>
                <c:formatCode>General</c:formatCode>
                <c:ptCount val="5"/>
                <c:pt idx="0">
                  <c:v>42.96</c:v>
                </c:pt>
                <c:pt idx="1">
                  <c:v>49.01</c:v>
                </c:pt>
                <c:pt idx="2">
                  <c:v>55.83</c:v>
                </c:pt>
                <c:pt idx="3">
                  <c:v>58.83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70B-CA47-BB93-422B40745F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97545552"/>
        <c:axId val="297550544"/>
      </c:barChart>
      <c:catAx>
        <c:axId val="29754555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Concentration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50544"/>
        <c:crosses val="autoZero"/>
        <c:auto val="1"/>
        <c:lblAlgn val="ctr"/>
        <c:lblOffset val="100"/>
        <c:noMultiLvlLbl val="0"/>
      </c:catAx>
      <c:valAx>
        <c:axId val="29755054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ysClr val="windowText" lastClr="000000"/>
                    </a:solidFill>
                    <a:latin typeface="Book Antiqua" panose="02040602050305030304" pitchFamily="18" charset="0"/>
                    <a:ea typeface="+mn-ea"/>
                    <a:cs typeface="+mn-cs"/>
                  </a:defRPr>
                </a:pPr>
                <a:r>
                  <a:rPr lang="en-US"/>
                  <a:t>Growth inhibition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ysClr val="windowText" lastClr="000000"/>
                  </a:solidFill>
                  <a:latin typeface="Book Antiqua" panose="02040602050305030304" pitchFamily="18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ysClr val="windowText" lastClr="000000"/>
                </a:solidFill>
                <a:latin typeface="Book Antiqua" panose="02040602050305030304" pitchFamily="18" charset="0"/>
                <a:ea typeface="+mn-ea"/>
                <a:cs typeface="+mn-cs"/>
              </a:defRPr>
            </a:pPr>
            <a:endParaRPr lang="en-US"/>
          </a:p>
        </c:txPr>
        <c:crossAx val="29754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ysClr val="windowText" lastClr="000000"/>
              </a:solidFill>
              <a:latin typeface="Book Antiqua" panose="02040602050305030304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ysClr val="windowText" lastClr="000000"/>
          </a:solidFill>
          <a:latin typeface="Book Antiqua" panose="02040602050305030304" pitchFamily="18" charset="0"/>
        </a:defRPr>
      </a:pPr>
      <a:endParaRPr lang="en-US"/>
    </a:p>
  </c:txPr>
  <c:userShapes r:id="rId3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a</a:t>
          </a:r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b</a:t>
          </a:r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0.04755</cdr:x>
      <cdr:y>0.12925</cdr:y>
    </cdr:to>
    <cdr:sp macro="" textlink="">
      <cdr:nvSpPr>
        <cdr:cNvPr id="2" name="Text Box 35"/>
        <cdr:cNvSpPr txBox="1"/>
      </cdr:nvSpPr>
      <cdr:spPr>
        <a:xfrm xmlns:a="http://schemas.openxmlformats.org/drawingml/2006/main">
          <a:off x="0" y="0"/>
          <a:ext cx="259080" cy="289560"/>
        </a:xfrm>
        <a:prstGeom xmlns:a="http://schemas.openxmlformats.org/drawingml/2006/main" prst="rect">
          <a:avLst/>
        </a:prstGeom>
        <a:solidFill xmlns:a="http://schemas.openxmlformats.org/drawingml/2006/main">
          <a:schemeClr val="lt1"/>
        </a:solidFill>
        <a:ln xmlns:a="http://schemas.openxmlformats.org/drawingml/2006/main" w="6350">
          <a:solidFill>
            <a:prstClr val="black"/>
          </a:solidFill>
        </a:ln>
      </cdr:spPr>
      <cdr:txBody>
        <a:bodyPr xmlns:a="http://schemas.openxmlformats.org/drawingml/2006/main" rot="0" spcFirstLastPara="0" vert="horz" wrap="square" lIns="91440" tIns="45720" rIns="91440" bIns="45720" numCol="1" spcCol="0" rtlCol="0" fromWordArt="0" anchor="t" anchorCtr="0" forceAA="0" compatLnSpc="1">
          <a:prstTxWarp prst="textNoShape">
            <a:avLst/>
          </a:prstTxWarp>
          <a:noAutofit/>
        </a:bodyPr>
        <a:lstStyle xmlns:a="http://schemas.openxmlformats.org/drawingml/2006/main"/>
        <a:p xmlns:a="http://schemas.openxmlformats.org/drawingml/2006/main">
          <a:pPr marL="0" marR="0">
            <a:spcBef>
              <a:spcPts val="0"/>
            </a:spcBef>
            <a:spcAft>
              <a:spcPts val="0"/>
            </a:spcAft>
          </a:pPr>
          <a:r>
            <a:rPr lang="en-US" sz="1000">
              <a:effectLst/>
              <a:latin typeface="Times New Roman" panose="02020603050405020304" pitchFamily="18" charset="0"/>
              <a:ea typeface="Times New Roman" panose="02020603050405020304" pitchFamily="18" charset="0"/>
            </a:rPr>
            <a:t>c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82DC17-D87D-224B-836E-A2595A75B2E9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DB7928-061D-A744-B0C3-EAC6F7623B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298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Relationship Id="rIdBauLogo" Type="http://schemas.openxmlformats.org/officeDocument/2006/relationships/image" Target="../media/bau_logo.jpe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 /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5" name="Gold bar"/>
          <p:cNvSpPr/>
          <p:nvPr userDrawn="1"/>
        </p:nvSpPr>
        <p:spPr>
          <a:xfrm>
            <a:off x="0" y="20299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6" name="Bottom bar"/>
          <p:cNvSpPr/>
          <p:nvPr userDrawn="1"/>
        </p:nvSpPr>
        <p:spPr>
          <a:xfrm>
            <a:off x="0" y="633679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007" name="BAU logo"/>
          <p:cNvPicPr>
            <a:picLocks noChangeAspect="1"/>
          </p:cNvPicPr>
          <p:nvPr userDrawn="1"/>
        </p:nvPicPr>
        <p:blipFill>
          <a:blip r:embed="rIdBauLogo"/>
          <a:stretch>
            <a:fillRect/>
          </a:stretch>
        </p:blipFill>
        <p:spPr>
          <a:xfrm>
            <a:off x="109728" y="6428232"/>
            <a:ext cx="448654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C47A3-854B-1E78-BB63-90D58EB15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F5AAC-3D17-F293-E532-912BADC7DC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4AA50-4EDE-A6A6-7F00-917562499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5F053-DD6D-4695-B72D-2B7A4A3BDD49}" type="datetime1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55ED8-A334-AB32-A74B-AF9E0805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280A5-CCD7-32A5-5BE8-30406AB04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CB124-C0EE-4D94-B8BE-1337D4C3C6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55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298" y="365040"/>
            <a:ext cx="10512578" cy="1322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298" y="1825560"/>
            <a:ext cx="10512578" cy="434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88F58E64-9829-4264-BDE3-D817C194D5F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2809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11640312" cy="777240"/>
          </a:xfrm>
          <a:prstGeom prst="rect">
            <a:avLst/>
          </a:prstGeom>
          <a:solidFill>
            <a:srgbClr val="B4C7E7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 sz="1799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11481" y="164592"/>
            <a:ext cx="113385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199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199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673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19F8C1-330B-B11B-0315-17775D5E4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3B108-2AA6-41B8-80EA-03B9639E3A0F}" type="datetime1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71A503-5E91-F483-8250-1D7021271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9AF30-CD8B-C96E-6063-147F4413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CB124-C0EE-4D94-B8BE-1337D4C3C6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24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8" name="Gold bar"/>
          <p:cNvSpPr/>
          <p:nvPr userDrawn="1"/>
        </p:nvSpPr>
        <p:spPr>
          <a:xfrm>
            <a:off x="0" y="20299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9" name="Bottom bar"/>
          <p:cNvSpPr/>
          <p:nvPr userDrawn="1"/>
        </p:nvSpPr>
        <p:spPr>
          <a:xfrm>
            <a:off x="0" y="674827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theme" Target="../theme/theme1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5" Type="http://schemas.openxmlformats.org/officeDocument/2006/relationships/slideLayout" Target="../slideLayouts/slideLayout5.xml" /><Relationship Id="rId4" Type="http://schemas.openxmlformats.org/officeDocument/2006/relationships/slideLayout" Target="../slideLayouts/slideLayout4.xml" /><Relationship Id="rIdBauLogo" Type="http://schemas.openxmlformats.org/officeDocument/2006/relationships/image" Target="../media/bau_logo.jpeg"/><Relationship Id="rIdCoverLayout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Title band"/>
          <p:cNvSpPr/>
          <p:nvPr userDrawn="1"/>
        </p:nvSpPr>
        <p:spPr>
          <a:xfrm>
            <a:off x="0" y="0"/>
            <a:ext cx="12192000" cy="1115568"/>
          </a:xfrm>
          <a:prstGeom prst="rect">
            <a:avLst/>
          </a:prstGeom>
          <a:gradFill rotWithShape="0">
            <a:gsLst>
              <a:gs pos="0">
                <a:srgbClr val="D0D0D0"/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03" name="Gold bar"/>
          <p:cNvSpPr/>
          <p:nvPr userDrawn="1"/>
        </p:nvSpPr>
        <p:spPr>
          <a:xfrm>
            <a:off x="0" y="1115568"/>
            <a:ext cx="12192000" cy="64008"/>
          </a:xfrm>
          <a:prstGeom prst="rect">
            <a:avLst/>
          </a:prstGeom>
          <a:gradFill rotWithShape="0">
            <a:gsLst>
              <a:gs pos="0">
                <a:srgbClr val="766000"/>
              </a:gs>
              <a:gs pos="100000">
                <a:srgbClr val="FFDE53"/>
              </a:gs>
            </a:gsLst>
            <a:lin ang="0" scaled="0"/>
          </a:gradFill>
          <a:ln w="3240">
            <a:solidFill>
              <a:srgbClr val="E8BC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001" name="Bottom bar"/>
          <p:cNvSpPr/>
          <p:nvPr userDrawn="1"/>
        </p:nvSpPr>
        <p:spPr>
          <a:xfrm>
            <a:off x="0" y="6336792"/>
            <a:ext cx="12192000" cy="64008"/>
          </a:xfrm>
          <a:prstGeom prst="rect">
            <a:avLst/>
          </a:prstGeom>
          <a:gradFill rotWithShape="0">
            <a:gsLst>
              <a:gs pos="0">
                <a:srgbClr val="333333"/>
              </a:gs>
              <a:gs pos="100000">
                <a:srgbClr val="D0D0D0"/>
              </a:gs>
            </a:gsLst>
            <a:lin ang="0" scaled="0"/>
          </a:gradFill>
          <a:ln w="3240">
            <a:solidFill>
              <a:srgbClr val="ABABAB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9004" name="BAU logo"/>
          <p:cNvPicPr>
            <a:picLocks noChangeAspect="1"/>
          </p:cNvPicPr>
          <p:nvPr userDrawn="1"/>
        </p:nvPicPr>
        <p:blipFill>
          <a:blip r:embed="rIdBauLogo"/>
          <a:stretch>
            <a:fillRect/>
          </a:stretch>
        </p:blipFill>
        <p:spPr>
          <a:xfrm>
            <a:off x="109728" y="6428232"/>
            <a:ext cx="448654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CoverLayout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8.xml" /></Relationships>
</file>

<file path=ppt/slides/_rels/slide2.xml.rels><?xml version="1.0" encoding="UTF-8" standalone="yes"?>
<Relationships xmlns="http://schemas.openxmlformats.org/package/2006/relationships"><Relationship Id="rId2" Type="http://schemas.openxmlformats.org/officeDocument/2006/relationships/image" Target="../media/image2.jpeg" /><Relationship Id="rId1" Type="http://schemas.openxmlformats.org/officeDocument/2006/relationships/slideLayout" Target="../slideLayouts/slideLayout8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 /><Relationship Id="rId1" Type="http://schemas.openxmlformats.org/officeDocument/2006/relationships/slideLayout" Target="../slideLayouts/slideLayout3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 /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3.xml" 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 /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3.xml" /><Relationship Id="rId5" Type="http://schemas.openxmlformats.org/officeDocument/2006/relationships/image" Target="../media/image8.png" /><Relationship Id="rId4" Type="http://schemas.openxmlformats.org/officeDocument/2006/relationships/image" Target="../media/image7.png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 /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3.xml" /><Relationship Id="rId5" Type="http://schemas.openxmlformats.org/officeDocument/2006/relationships/image" Target="../media/image11.png" /><Relationship Id="rId4" Type="http://schemas.openxmlformats.org/officeDocument/2006/relationships/image" Target="../media/image10.jpeg" 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3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3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 /><Relationship Id="rId1" Type="http://schemas.openxmlformats.org/officeDocument/2006/relationships/slideLayout" Target="../slideLayouts/slideLayout3.xml" 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 /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3.xml" /><Relationship Id="rId5" Type="http://schemas.openxmlformats.org/officeDocument/2006/relationships/image" Target="../media/image13.jpeg" /><Relationship Id="rId4" Type="http://schemas.openxmlformats.org/officeDocument/2006/relationships/image" Target="../media/image12.jpeg" 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mp" /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3.xml" 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 /><Relationship Id="rId2" Type="http://schemas.openxmlformats.org/officeDocument/2006/relationships/notesSlide" Target="../notesSlides/notesSlide8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16.tmp" 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 /><Relationship Id="rId2" Type="http://schemas.openxmlformats.org/officeDocument/2006/relationships/notesSlide" Target="../notesSlides/notesSlide9.xml" /><Relationship Id="rId1" Type="http://schemas.openxmlformats.org/officeDocument/2006/relationships/slideLayout" Target="../slideLayouts/slideLayout3.xml" /><Relationship Id="rId5" Type="http://schemas.openxmlformats.org/officeDocument/2006/relationships/chart" Target="../charts/chart3.xml" /><Relationship Id="rId4" Type="http://schemas.openxmlformats.org/officeDocument/2006/relationships/chart" Target="../charts/chart2.xml" 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 /><Relationship Id="rId1" Type="http://schemas.openxmlformats.org/officeDocument/2006/relationships/slideLayout" Target="../slideLayouts/slideLayout3.xml" 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mp" /><Relationship Id="rId7" Type="http://schemas.openxmlformats.org/officeDocument/2006/relationships/image" Target="../media/image21.png" /><Relationship Id="rId2" Type="http://schemas.openxmlformats.org/officeDocument/2006/relationships/notesSlide" Target="../notesSlides/notesSlide11.xml" /><Relationship Id="rId1" Type="http://schemas.openxmlformats.org/officeDocument/2006/relationships/slideLayout" Target="../slideLayouts/slideLayout3.xml" /><Relationship Id="rId6" Type="http://schemas.openxmlformats.org/officeDocument/2006/relationships/image" Target="../media/image20.png" /><Relationship Id="rId5" Type="http://schemas.openxmlformats.org/officeDocument/2006/relationships/image" Target="../media/image19.png" /><Relationship Id="rId4" Type="http://schemas.openxmlformats.org/officeDocument/2006/relationships/image" Target="../media/image18.tmp" 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mp" /><Relationship Id="rId2" Type="http://schemas.openxmlformats.org/officeDocument/2006/relationships/notesSlide" Target="../notesSlides/notesSlide12.xml" /><Relationship Id="rId1" Type="http://schemas.openxmlformats.org/officeDocument/2006/relationships/slideLayout" Target="../slideLayouts/slideLayout3.xml" 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mp" /><Relationship Id="rId2" Type="http://schemas.openxmlformats.org/officeDocument/2006/relationships/notesSlide" Target="../notesSlides/notesSlide13.xml" /><Relationship Id="rId1" Type="http://schemas.openxmlformats.org/officeDocument/2006/relationships/slideLayout" Target="../slideLayouts/slideLayout3.xml" /><Relationship Id="rId6" Type="http://schemas.openxmlformats.org/officeDocument/2006/relationships/image" Target="../media/image17.tmp" /><Relationship Id="rId5" Type="http://schemas.openxmlformats.org/officeDocument/2006/relationships/image" Target="../media/image25.tmp" /><Relationship Id="rId4" Type="http://schemas.openxmlformats.org/officeDocument/2006/relationships/image" Target="../media/image24.tmp" 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 /><Relationship Id="rId1" Type="http://schemas.openxmlformats.org/officeDocument/2006/relationships/slideLayout" Target="../slideLayouts/slideLayout2.xml" 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mp" /><Relationship Id="rId2" Type="http://schemas.openxmlformats.org/officeDocument/2006/relationships/notesSlide" Target="../notesSlides/notesSlide15.xml" /><Relationship Id="rId1" Type="http://schemas.openxmlformats.org/officeDocument/2006/relationships/slideLayout" Target="../slideLayouts/slideLayout3.xml" /><Relationship Id="rId4" Type="http://schemas.openxmlformats.org/officeDocument/2006/relationships/image" Target="../media/image27.tmp" 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 /><Relationship Id="rId1" Type="http://schemas.openxmlformats.org/officeDocument/2006/relationships/slideLayout" Target="../slideLayouts/slideLayout3.xml" 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 /><Relationship Id="rId1" Type="http://schemas.openxmlformats.org/officeDocument/2006/relationships/slideLayout" Target="../slideLayouts/slideLayout3.xml" 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 /><Relationship Id="rId1" Type="http://schemas.openxmlformats.org/officeDocument/2006/relationships/slideLayout" Target="../slideLayouts/slideLayout3.xml" 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 /><Relationship Id="rId1" Type="http://schemas.openxmlformats.org/officeDocument/2006/relationships/slideLayout" Target="../slideLayouts/slideLayout3.xml" 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 /><Relationship Id="rId1" Type="http://schemas.openxmlformats.org/officeDocument/2006/relationships/slideLayout" Target="../slideLayouts/slideLayout3.xml" 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 /><Relationship Id="rId1" Type="http://schemas.openxmlformats.org/officeDocument/2006/relationships/slideLayout" Target="../slideLayouts/slideLayout3.xml" 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 /><Relationship Id="rId1" Type="http://schemas.openxmlformats.org/officeDocument/2006/relationships/slideLayout" Target="../slideLayouts/slideLayout3.xml" 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 /><Relationship Id="rId1" Type="http://schemas.openxmlformats.org/officeDocument/2006/relationships/slideLayout" Target="../slideLayouts/slideLayout3.xml" 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 /><Relationship Id="rId1" Type="http://schemas.openxmlformats.org/officeDocument/2006/relationships/slideLayout" Target="../slideLayouts/slideLayout3.xml" 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 /><Relationship Id="rId1" Type="http://schemas.openxmlformats.org/officeDocument/2006/relationships/slideLayout" Target="../slideLayouts/slideLayout3.xml" 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 /><Relationship Id="rId1" Type="http://schemas.openxmlformats.org/officeDocument/2006/relationships/slideLayout" Target="../slideLayouts/slideLayout3.xml" 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 /><Relationship Id="rId1" Type="http://schemas.openxmlformats.org/officeDocument/2006/relationships/slideLayout" Target="../slideLayouts/slideLayout3.xml" 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 /><Relationship Id="rId1" Type="http://schemas.openxmlformats.org/officeDocument/2006/relationships/slideLayout" Target="../slideLayouts/slideLayout3.xml" 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 /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43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AND CHARACTERIZATION OF </a:t>
            </a:r>
            <a:r>
              <a:rPr lang="en-US" sz="2800" b="1" i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Cercospora</a:t>
            </a: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sp. CAUSING LEAF SPOT ON ROSELLE (</a:t>
            </a:r>
            <a:r>
              <a:rPr lang="en-US" sz="2800" b="1" i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Hibiscus sabdariffa</a:t>
            </a:r>
            <a:r>
              <a:rPr lang="en-US" sz="2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L.) AND ITS 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MAZUMDER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No.: 24120508 · Reg. No.: 49427 · Session: 2018-19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Plant Pathology, Bangladesh Agricultural University, Mymensingh-2202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Mohammad Delwar Hossain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663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Professor, Department of Plant Pathology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28232" y="3749040"/>
            <a:ext cx="5212080" cy="1965960"/>
          </a:xfrm>
          <a:prstGeom prst="roundRect">
            <a:avLst>
              <a:gd name="adj" fmla="val 4651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748272" y="3931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42245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Islam Hamim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48272" y="4663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and Head, Department of Plant Pathology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Agricultural University</a:t>
            </a:r>
            <a:endParaRPr lang="en-US" sz="14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Mymensingh-2202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A257E-87F9-178D-7C03-DA2BDB6A803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265815" y="320039"/>
            <a:ext cx="11686952" cy="165762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AND CHARACTERIZATION OF </a:t>
            </a:r>
            <a:r>
              <a:rPr lang="en-US" sz="2799" b="1" i="1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sp. CAUSING LEAF SPOT ON ROSELLE (</a:t>
            </a:r>
            <a:r>
              <a:rPr lang="en-US" sz="2799" b="1" i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Hibiscus </a:t>
            </a:r>
            <a:r>
              <a:rPr lang="en-US" sz="2799" b="1" i="1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sabdariffa</a:t>
            </a:r>
            <a:r>
              <a:rPr lang="en-US" sz="2799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L.) AND ITS MANAGEMENT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399" dirty="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DE2BC-7505-4053-5C89-1EFD28327927}"/>
              </a:ext>
            </a:extLst>
          </p:cNvPr>
          <p:cNvSpPr txBox="1"/>
          <p:nvPr/>
        </p:nvSpPr>
        <p:spPr>
          <a:xfrm>
            <a:off x="4484374" y="2105906"/>
            <a:ext cx="3976754" cy="1323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99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NISHA MAZUMDER </a:t>
            </a:r>
          </a:p>
          <a:p>
            <a:pPr algn="ctr"/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 No.:24120508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Reg. No.: 49427</a:t>
            </a:r>
          </a:p>
          <a:p>
            <a:pPr algn="ctr"/>
            <a:r>
              <a:rPr lang="en-US" sz="19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Session: 2018-19</a:t>
            </a: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26DA420F-378A-DE15-666C-2C29D5EA81E5}"/>
              </a:ext>
            </a:extLst>
          </p:cNvPr>
          <p:cNvSpPr txBox="1"/>
          <p:nvPr/>
        </p:nvSpPr>
        <p:spPr>
          <a:xfrm>
            <a:off x="1669983" y="3557242"/>
            <a:ext cx="3519523" cy="17369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SUPERVISOR 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Prof. Dr. Mohammad Delwar Hossain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Professor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Plant Pathology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Bangladesh Agricultural University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Mymensingh-2202</a:t>
            </a:r>
            <a:endParaRPr lang="en-US" sz="1400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F30DFB36-D1A6-6D66-A863-4C41DE3ABD93}"/>
              </a:ext>
            </a:extLst>
          </p:cNvPr>
          <p:cNvSpPr txBox="1"/>
          <p:nvPr/>
        </p:nvSpPr>
        <p:spPr>
          <a:xfrm>
            <a:off x="7419704" y="3557242"/>
            <a:ext cx="3519523" cy="17369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CO-SUPERVISOR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Prof. Dr. Islam Hamim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Professor and Head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Plant Pathology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Bangladesh Agricultural University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Mymensingh-2202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8F6964-6967-EFCF-A169-80852E8FEFBE}"/>
              </a:ext>
            </a:extLst>
          </p:cNvPr>
          <p:cNvSpPr txBox="1"/>
          <p:nvPr/>
        </p:nvSpPr>
        <p:spPr>
          <a:xfrm>
            <a:off x="5065738" y="5567105"/>
            <a:ext cx="4113728" cy="1015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Plant Pathology</a:t>
            </a:r>
          </a:p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Bangladesh Agricultural University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999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Mymensingh - 2202</a:t>
            </a:r>
            <a:endParaRPr lang="en-US" sz="1999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EFB802-D72D-9753-ACD8-1790BE5E371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9916" y="5567106"/>
            <a:ext cx="1220827" cy="1015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361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4A27-E7D7-69FC-0F45-927F18EF4649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4104618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6BE322C-5D27-7FF1-EAEE-92021B8A74D2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txBody>
          <a:bodyPr wrap="square" rtlCol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Introduction</a:t>
            </a:r>
            <a:endParaRPr lang="en-US" sz="3199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D1328DB-EF09-B260-7C9A-C09107CB834E}"/>
              </a:ext>
            </a:extLst>
          </p:cNvPr>
          <p:cNvSpPr txBox="1"/>
          <p:nvPr/>
        </p:nvSpPr>
        <p:spPr>
          <a:xfrm>
            <a:off x="548640" y="1446257"/>
            <a:ext cx="6312315" cy="3754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Roselle (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Hibiscus 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sabdariffa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L.) is a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multipurpose annual crop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Malvaceae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locally known as '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Chukur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 or 'Mesta' (Islam, 2019).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Grown for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bast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calyces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(tea, jam, syrup),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edible leaves and seed oil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(Chew 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2024).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Calyces are rich in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anthocyanins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phenolics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antihypertensive, antioxidant and antimicrobial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 (Da-Costa-Rocha 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al.,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2014).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5BB1D8-B377-08E1-39A7-EF03D0C5A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054" y="1304489"/>
            <a:ext cx="4109258" cy="4587720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408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D7BB8008-9259-32D9-4788-E6379754BDD1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txBody>
          <a:bodyPr wrap="square" rtlCol="0" anchor="ctr"/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Arial" pitchFamily="34" charset="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Significance</a:t>
            </a:r>
            <a:endParaRPr lang="en-US" sz="3199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59FE6C4-CC59-CCF6-3775-8727E16417E1}"/>
              </a:ext>
            </a:extLst>
          </p:cNvPr>
          <p:cNvSpPr txBox="1"/>
          <p:nvPr/>
        </p:nvSpPr>
        <p:spPr>
          <a:xfrm>
            <a:off x="550084" y="1463553"/>
            <a:ext cx="6581966" cy="4387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Foliar diseases cut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photosynthetic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calyx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quality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 spot fungi of different genera (</a:t>
            </a:r>
            <a:r>
              <a:rPr lang="en-US" sz="20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Corynespora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Coniella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produce near-identical lesions — symptoms alone cannot diagnose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spots occur on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Hibiscus species and can cause complete crop loss (Park 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., 2017)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uncertain cause appeared in roselle fields of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Mymensingh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Tangail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tat card 1">
            <a:extLst>
              <a:ext uri="{FF2B5EF4-FFF2-40B4-BE49-F238E27FC236}">
                <a16:creationId xmlns:a16="http://schemas.microsoft.com/office/drawing/2014/main" id="{6DCC0CC1-4799-239B-DB89-928EE93C827D}"/>
              </a:ext>
            </a:extLst>
          </p:cNvPr>
          <p:cNvSpPr/>
          <p:nvPr/>
        </p:nvSpPr>
        <p:spPr>
          <a:xfrm>
            <a:off x="7926238" y="1463552"/>
            <a:ext cx="3930896" cy="2056864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>
            <a:solidFill>
              <a:srgbClr val="002060"/>
            </a:solidFill>
          </a:ln>
        </p:spPr>
        <p:txBody>
          <a:bodyPr/>
          <a:lstStyle/>
          <a:p>
            <a:endParaRPr lang="en-US" sz="1799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F4FB0F22-57E3-F587-2374-DD42816B9F13}"/>
              </a:ext>
            </a:extLst>
          </p:cNvPr>
          <p:cNvSpPr txBox="1"/>
          <p:nvPr/>
        </p:nvSpPr>
        <p:spPr>
          <a:xfrm>
            <a:off x="8504145" y="1582956"/>
            <a:ext cx="2183164" cy="738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99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~100%</a:t>
            </a:r>
            <a:endParaRPr lang="en-US" sz="4799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2082EE72-B486-EF40-DA01-68557579581B}"/>
              </a:ext>
            </a:extLst>
          </p:cNvPr>
          <p:cNvSpPr txBox="1"/>
          <p:nvPr/>
        </p:nvSpPr>
        <p:spPr>
          <a:xfrm>
            <a:off x="8130916" y="2440845"/>
            <a:ext cx="3473815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incidence of 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Corynespora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&amp; calyx spot of roselle in Mexico (Ortega-Acosta 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 al.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2016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  <a:endParaRPr lang="en-US" sz="1400" dirty="0"/>
          </a:p>
        </p:txBody>
      </p:sp>
      <p:sp>
        <p:nvSpPr>
          <p:cNvPr id="14" name="stat card 2">
            <a:extLst>
              <a:ext uri="{FF2B5EF4-FFF2-40B4-BE49-F238E27FC236}">
                <a16:creationId xmlns:a16="http://schemas.microsoft.com/office/drawing/2014/main" id="{DEB545EA-1F53-0B05-E604-781FC5B899C8}"/>
              </a:ext>
            </a:extLst>
          </p:cNvPr>
          <p:cNvSpPr/>
          <p:nvPr/>
        </p:nvSpPr>
        <p:spPr>
          <a:xfrm>
            <a:off x="7902374" y="3854498"/>
            <a:ext cx="3930896" cy="2056864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S" sz="1799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1099661E-D674-41A6-24FA-1C28ABE9929A}"/>
              </a:ext>
            </a:extLst>
          </p:cNvPr>
          <p:cNvSpPr txBox="1"/>
          <p:nvPr/>
        </p:nvSpPr>
        <p:spPr>
          <a:xfrm>
            <a:off x="8619332" y="3966635"/>
            <a:ext cx="2794536" cy="69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99" b="1" dirty="0">
                <a:solidFill>
                  <a:schemeClr val="bg1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No prior report</a:t>
            </a:r>
            <a:endParaRPr lang="en-US" sz="29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6BFDF934-9EAF-A978-0E8E-D51E1E89ACA8}"/>
              </a:ext>
            </a:extLst>
          </p:cNvPr>
          <p:cNvSpPr txBox="1"/>
          <p:nvPr/>
        </p:nvSpPr>
        <p:spPr>
          <a:xfrm>
            <a:off x="8395756" y="4660605"/>
            <a:ext cx="2991860" cy="908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US" sz="18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leaf spot of roselle, its identity or its management in Bangladesh</a:t>
            </a:r>
          </a:p>
        </p:txBody>
      </p:sp>
    </p:spTree>
    <p:extLst>
      <p:ext uri="{BB962C8B-B14F-4D97-AF65-F5344CB8AC3E}">
        <p14:creationId xmlns:p14="http://schemas.microsoft.com/office/powerpoint/2010/main" val="2512860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5000538B-44A6-80EA-FB42-6277E1511C8D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solidFill>
              <a:srgbClr val="002060"/>
            </a:solidFill>
          </a:ln>
        </p:spPr>
        <p:txBody>
          <a:bodyPr wrap="square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Objectives </a:t>
            </a:r>
            <a:endParaRPr lang="en-US" sz="3199" dirty="0"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312C8C4-C4B5-1C58-12C1-8C4DCF8FF572}"/>
              </a:ext>
            </a:extLst>
          </p:cNvPr>
          <p:cNvSpPr txBox="1"/>
          <p:nvPr/>
        </p:nvSpPr>
        <p:spPr>
          <a:xfrm>
            <a:off x="2411632" y="1850401"/>
            <a:ext cx="9445498" cy="12710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isolate and identify the causal fungus of leaf spot disease of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roselle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on the basis of its cultural and morphological characteristics</a:t>
            </a:r>
            <a:r>
              <a:rPr lang="en-US" sz="2199" b="1" dirty="0">
                <a:solidFill>
                  <a:schemeClr val="tx1"/>
                </a:solidFill>
              </a:rPr>
              <a:t>.</a:t>
            </a:r>
            <a:endParaRPr lang="en-US" sz="2199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D5C2A877-0725-9552-4B53-986C112B1668}"/>
              </a:ext>
            </a:extLst>
          </p:cNvPr>
          <p:cNvSpPr txBox="1"/>
          <p:nvPr/>
        </p:nvSpPr>
        <p:spPr>
          <a:xfrm>
            <a:off x="2411634" y="3842349"/>
            <a:ext cx="9445497" cy="17173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efficacy of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Trichoderma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spp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(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T.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asperellum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T.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harzianum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400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viride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and selected fungicides in the management of Cercospora leaf spot of roselle.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ive 1 circle">
            <a:extLst>
              <a:ext uri="{FF2B5EF4-FFF2-40B4-BE49-F238E27FC236}">
                <a16:creationId xmlns:a16="http://schemas.microsoft.com/office/drawing/2014/main" id="{549D93D3-20BA-5D94-7D35-864FA7FEED21}"/>
              </a:ext>
            </a:extLst>
          </p:cNvPr>
          <p:cNvSpPr/>
          <p:nvPr/>
        </p:nvSpPr>
        <p:spPr>
          <a:xfrm>
            <a:off x="961458" y="1920633"/>
            <a:ext cx="1096994" cy="1096994"/>
          </a:xfrm>
          <a:prstGeom prst="ellipse">
            <a:avLst/>
          </a:prstGeom>
          <a:solidFill>
            <a:schemeClr val="tx2">
              <a:lumMod val="75000"/>
            </a:schemeClr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2" name="objective 1" descr="objective 1">
            <a:extLst>
              <a:ext uri="{FF2B5EF4-FFF2-40B4-BE49-F238E27FC236}">
                <a16:creationId xmlns:a16="http://schemas.microsoft.com/office/drawing/2014/main" id="{9BA5F5D0-14A1-CA16-28B8-A701528E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707" y="2194883"/>
            <a:ext cx="548497" cy="548497"/>
          </a:xfrm>
          <a:prstGeom prst="rect">
            <a:avLst/>
          </a:prstGeom>
        </p:spPr>
      </p:pic>
      <p:sp>
        <p:nvSpPr>
          <p:cNvPr id="14" name="objective 2 circle">
            <a:extLst>
              <a:ext uri="{FF2B5EF4-FFF2-40B4-BE49-F238E27FC236}">
                <a16:creationId xmlns:a16="http://schemas.microsoft.com/office/drawing/2014/main" id="{243D9AC1-6518-D555-6DFD-A95614338086}"/>
              </a:ext>
            </a:extLst>
          </p:cNvPr>
          <p:cNvSpPr/>
          <p:nvPr/>
        </p:nvSpPr>
        <p:spPr>
          <a:xfrm>
            <a:off x="961457" y="3993039"/>
            <a:ext cx="1096994" cy="109699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6" name="objective 2" descr="objective 2">
            <a:extLst>
              <a:ext uri="{FF2B5EF4-FFF2-40B4-BE49-F238E27FC236}">
                <a16:creationId xmlns:a16="http://schemas.microsoft.com/office/drawing/2014/main" id="{B4016F6E-8CD0-43EC-6590-2402975AC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012" y="4234594"/>
            <a:ext cx="613885" cy="613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750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38728" cy="4572000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988155" y="1554480"/>
            <a:ext cx="1584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2024732" y="2011680"/>
            <a:ext cx="1815748" cy="319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CRD · 3 replications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diseased leaves from Mymensingh &amp; Tangail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on PDA, single-spore purification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&amp; morphological identification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at 10, 15, 20, 25, 30 °C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Pathogenicity test (Koch’s postulates)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Poisoned food: 4 fungicides × 5 doses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culture: 3 </a:t>
            </a:r>
            <a:r>
              <a:rPr lang="en-US" sz="15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5112" y="1371600"/>
            <a:ext cx="3538728" cy="4572000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5537826" y="1603744"/>
            <a:ext cx="2258568" cy="295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experiment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671548" y="2036312"/>
            <a:ext cx="1991124" cy="295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house, SPC, BAU · CRD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246888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Sterilized clay loam soil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red roselle variety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treatments (T0–T6)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Disease, growth data at 90 &amp; 180 DAS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1584" y="1371600"/>
            <a:ext cx="3538728" cy="4572000"/>
          </a:xfrm>
          <a:prstGeom prst="roundRect">
            <a:avLst>
              <a:gd name="adj" fmla="val 2584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268472" y="1580920"/>
            <a:ext cx="237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experiment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210276" y="19888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Pathology field, BAU · RCBD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75904" y="246888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Sown 30 March 2025, line sowing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manures &amp; fertilizers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7 treatments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Disease, growth &amp; yield at 90 &amp; 180 DAS</a:t>
            </a:r>
            <a:endParaRPr lang="en-US" sz="1500" dirty="0"/>
          </a:p>
        </p:txBody>
      </p:sp>
      <p:sp>
        <p:nvSpPr>
          <p:cNvPr id="16" name="Laboratory circle">
            <a:extLst>
              <a:ext uri="{FF2B5EF4-FFF2-40B4-BE49-F238E27FC236}">
                <a16:creationId xmlns:a16="http://schemas.microsoft.com/office/drawing/2014/main" id="{3D79698C-CBF9-6327-7EC0-F045571BD5BC}"/>
              </a:ext>
            </a:extLst>
          </p:cNvPr>
          <p:cNvSpPr/>
          <p:nvPr/>
        </p:nvSpPr>
        <p:spPr>
          <a:xfrm>
            <a:off x="973373" y="1554480"/>
            <a:ext cx="777038" cy="77703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7" name="Laboratory" descr="Laboratory">
            <a:extLst>
              <a:ext uri="{FF2B5EF4-FFF2-40B4-BE49-F238E27FC236}">
                <a16:creationId xmlns:a16="http://schemas.microsoft.com/office/drawing/2014/main" id="{CB52B54B-888F-FE14-831C-1A9820F89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632" y="1725981"/>
            <a:ext cx="388519" cy="388519"/>
          </a:xfrm>
          <a:prstGeom prst="rect">
            <a:avLst/>
          </a:prstGeom>
        </p:spPr>
      </p:pic>
      <p:sp>
        <p:nvSpPr>
          <p:cNvPr id="18" name="Pot experiment circle">
            <a:extLst>
              <a:ext uri="{FF2B5EF4-FFF2-40B4-BE49-F238E27FC236}">
                <a16:creationId xmlns:a16="http://schemas.microsoft.com/office/drawing/2014/main" id="{37B9E232-EB96-B114-6F62-3B6DE944FAE2}"/>
              </a:ext>
            </a:extLst>
          </p:cNvPr>
          <p:cNvSpPr/>
          <p:nvPr/>
        </p:nvSpPr>
        <p:spPr>
          <a:xfrm>
            <a:off x="4570809" y="1646384"/>
            <a:ext cx="777038" cy="77703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19" name="Pot experiment" descr="Pot experiment">
            <a:extLst>
              <a:ext uri="{FF2B5EF4-FFF2-40B4-BE49-F238E27FC236}">
                <a16:creationId xmlns:a16="http://schemas.microsoft.com/office/drawing/2014/main" id="{F66AA3F4-871D-9FE2-4926-FDE4EF7B6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5068" y="1840644"/>
            <a:ext cx="388519" cy="388519"/>
          </a:xfrm>
          <a:prstGeom prst="rect">
            <a:avLst/>
          </a:prstGeom>
        </p:spPr>
      </p:pic>
      <p:sp>
        <p:nvSpPr>
          <p:cNvPr id="20" name="Field experiment circle">
            <a:extLst>
              <a:ext uri="{FF2B5EF4-FFF2-40B4-BE49-F238E27FC236}">
                <a16:creationId xmlns:a16="http://schemas.microsoft.com/office/drawing/2014/main" id="{E21FD2C4-0636-7775-9170-278AEE6CDD0E}"/>
              </a:ext>
            </a:extLst>
          </p:cNvPr>
          <p:cNvSpPr/>
          <p:nvPr/>
        </p:nvSpPr>
        <p:spPr>
          <a:xfrm>
            <a:off x="8318872" y="1646384"/>
            <a:ext cx="777038" cy="77703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US" sz="1799"/>
          </a:p>
        </p:txBody>
      </p:sp>
      <p:pic>
        <p:nvPicPr>
          <p:cNvPr id="21" name="Field experiment" descr="Field experiment">
            <a:extLst>
              <a:ext uri="{FF2B5EF4-FFF2-40B4-BE49-F238E27FC236}">
                <a16:creationId xmlns:a16="http://schemas.microsoft.com/office/drawing/2014/main" id="{776CA5B9-74AC-4E4C-945A-686D15237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3132" y="1840644"/>
            <a:ext cx="388519" cy="3885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· Isolation and identification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23261" y="4729716"/>
            <a:ext cx="2383741" cy="100300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10000"/>
              </a:lnSpc>
              <a:buNone/>
            </a:pPr>
            <a:r>
              <a:rPr lang="en-US" sz="14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 · Infected leaves collected (Mymensingh, Tangail)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 txBox="1"/>
          <p:nvPr/>
        </p:nvSpPr>
        <p:spPr>
          <a:xfrm rot="10800000" flipV="1">
            <a:off x="3323844" y="4729716"/>
            <a:ext cx="2035454" cy="55112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Surface sterilization (70% ethanol + 1% NaOCl)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706804" y="4703134"/>
            <a:ext cx="2035454" cy="60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Plating on PDA, 30 ± 2 °C, 7–9 days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604858" y="1371600"/>
            <a:ext cx="2035454" cy="2194560"/>
          </a:xfrm>
          <a:prstGeom prst="roundRect">
            <a:avLst>
              <a:gd name="adj" fmla="val 3594"/>
            </a:avLst>
          </a:prstGeom>
          <a:solidFill>
            <a:srgbClr val="FFFFFF">
              <a:alpha val="55000"/>
            </a:srgbClr>
          </a:solidFill>
          <a:ln w="15875">
            <a:solidFill>
              <a:srgbClr val="7FA6C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9696298" y="1371600"/>
            <a:ext cx="185257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photo</a:t>
            </a:r>
            <a:endParaRPr lang="en-US" sz="13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step 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659580" y="5477327"/>
            <a:ext cx="2035454" cy="497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Microscopic observation of conidiophores and conidia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F2ABF94-8CEC-300E-A55A-A4C8EB3A363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62" t="29921" r="32360" b="31207"/>
          <a:stretch>
            <a:fillRect/>
          </a:stretch>
        </p:blipFill>
        <p:spPr bwMode="auto">
          <a:xfrm rot="5400000">
            <a:off x="461356" y="2065680"/>
            <a:ext cx="2507552" cy="238374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063EED1-4AF9-E997-2186-F96D9F97734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2551" y="1422281"/>
            <a:ext cx="2183961" cy="2143879"/>
          </a:xfrm>
          <a:prstGeom prst="rect">
            <a:avLst/>
          </a:prstGeom>
        </p:spPr>
      </p:pic>
      <p:sp>
        <p:nvSpPr>
          <p:cNvPr id="4" name="Freeform 4">
            <a:extLst>
              <a:ext uri="{FF2B5EF4-FFF2-40B4-BE49-F238E27FC236}">
                <a16:creationId xmlns:a16="http://schemas.microsoft.com/office/drawing/2014/main" id="{C913DD88-2200-2388-3BB5-2D684C3C04DA}"/>
              </a:ext>
            </a:extLst>
          </p:cNvPr>
          <p:cNvSpPr/>
          <p:nvPr/>
        </p:nvSpPr>
        <p:spPr>
          <a:xfrm>
            <a:off x="3323844" y="2003774"/>
            <a:ext cx="2183961" cy="2507553"/>
          </a:xfrm>
          <a:custGeom>
            <a:avLst/>
            <a:gdLst/>
            <a:ahLst/>
            <a:cxnLst/>
            <a:rect l="l" t="t" r="r" b="b"/>
            <a:pathLst>
              <a:path w="3003180" h="2988830">
                <a:moveTo>
                  <a:pt x="0" y="0"/>
                </a:moveTo>
                <a:lnTo>
                  <a:pt x="3003180" y="0"/>
                </a:lnTo>
                <a:lnTo>
                  <a:pt x="3003180" y="2988830"/>
                </a:lnTo>
                <a:lnTo>
                  <a:pt x="0" y="29888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0903" t="-34064" r="-8540" b="-7368"/>
            </a:stretch>
          </a:blipFill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029D10-9C77-4E6C-7DDB-8EDB1DA0BDBF}"/>
              </a:ext>
            </a:extLst>
          </p:cNvPr>
          <p:cNvSpPr txBox="1"/>
          <p:nvPr/>
        </p:nvSpPr>
        <p:spPr>
          <a:xfrm>
            <a:off x="3213672" y="219649"/>
            <a:ext cx="5193238" cy="5232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67C1CA5-8432-7FEE-CB2B-61C6D508E6E5}"/>
              </a:ext>
            </a:extLst>
          </p:cNvPr>
          <p:cNvGrpSpPr/>
          <p:nvPr/>
        </p:nvGrpSpPr>
        <p:grpSpPr>
          <a:xfrm>
            <a:off x="424810" y="1248485"/>
            <a:ext cx="11136307" cy="3024280"/>
            <a:chOff x="532965" y="1956371"/>
            <a:chExt cx="11136307" cy="3024280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C551C632-2D77-67D3-A58D-39DCB8E66D72}"/>
                </a:ext>
              </a:extLst>
            </p:cNvPr>
            <p:cNvSpPr/>
            <p:nvPr/>
          </p:nvSpPr>
          <p:spPr>
            <a:xfrm>
              <a:off x="849014" y="1970833"/>
              <a:ext cx="2364658" cy="113071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Growing bacteria in Nutrient Broth(NB)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640680E-639B-E460-9F53-937246B3EA78}"/>
                </a:ext>
              </a:extLst>
            </p:cNvPr>
            <p:cNvSpPr/>
            <p:nvPr/>
          </p:nvSpPr>
          <p:spPr>
            <a:xfrm>
              <a:off x="5982160" y="3773858"/>
              <a:ext cx="2792689" cy="1075378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 mm diameter blotter paper dipped in endophytic bacteria placed on the media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44F00B5-DBE4-BB31-E1E2-42E815C62AA6}"/>
                </a:ext>
              </a:extLst>
            </p:cNvPr>
            <p:cNvSpPr/>
            <p:nvPr/>
          </p:nvSpPr>
          <p:spPr>
            <a:xfrm>
              <a:off x="3962400" y="1970833"/>
              <a:ext cx="2088702" cy="113071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Centrifuged at 10,000 rpm for 10 min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A5CC889-4446-7727-8753-D3109B23612E}"/>
                </a:ext>
              </a:extLst>
            </p:cNvPr>
            <p:cNvSpPr/>
            <p:nvPr/>
          </p:nvSpPr>
          <p:spPr>
            <a:xfrm>
              <a:off x="6590893" y="1956371"/>
              <a:ext cx="2088702" cy="113071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Add 1 ml AWD in bacterial suspension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2F0287C-122F-E6C4-72A1-C8FE6A67FF42}"/>
                </a:ext>
              </a:extLst>
            </p:cNvPr>
            <p:cNvSpPr/>
            <p:nvPr/>
          </p:nvSpPr>
          <p:spPr>
            <a:xfrm>
              <a:off x="9250026" y="1970833"/>
              <a:ext cx="2263547" cy="113071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2-3 drops of R. solanacearum suspension spread on NA media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D16DD70-0FA1-B349-620C-C88D1664FEFD}"/>
                </a:ext>
              </a:extLst>
            </p:cNvPr>
            <p:cNvSpPr/>
            <p:nvPr/>
          </p:nvSpPr>
          <p:spPr>
            <a:xfrm>
              <a:off x="9309532" y="3987592"/>
              <a:ext cx="2359740" cy="993059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Incubate the media for 24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hr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at 37°C</a:t>
              </a:r>
            </a:p>
            <a:p>
              <a:pPr algn="ctr"/>
              <a:endParaRPr lang="en-US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8FF0009-A1AF-04EF-7EDA-76D84850FA85}"/>
                </a:ext>
              </a:extLst>
            </p:cNvPr>
            <p:cNvSpPr/>
            <p:nvPr/>
          </p:nvSpPr>
          <p:spPr>
            <a:xfrm>
              <a:off x="3137320" y="3805185"/>
              <a:ext cx="2241754" cy="1012724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Keep it for incubation for 3-5 days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C3DFFAA-FA78-1A39-9EA8-FB1FDFF7D905}"/>
                </a:ext>
              </a:extLst>
            </p:cNvPr>
            <p:cNvSpPr/>
            <p:nvPr/>
          </p:nvSpPr>
          <p:spPr>
            <a:xfrm>
              <a:off x="532965" y="3805185"/>
              <a:ext cx="2118524" cy="993058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Inhibition zone is observed </a:t>
              </a:r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6ED853B4-1A32-0525-327D-04FBC1A0200D}"/>
                </a:ext>
              </a:extLst>
            </p:cNvPr>
            <p:cNvSpPr/>
            <p:nvPr/>
          </p:nvSpPr>
          <p:spPr>
            <a:xfrm>
              <a:off x="3415642" y="2286286"/>
              <a:ext cx="462195" cy="345150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739F43C7-9E9F-EBF6-C0B6-D7010387A66B}"/>
                </a:ext>
              </a:extLst>
            </p:cNvPr>
            <p:cNvSpPr/>
            <p:nvPr/>
          </p:nvSpPr>
          <p:spPr>
            <a:xfrm>
              <a:off x="8764158" y="2401763"/>
              <a:ext cx="462195" cy="345150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6D861C5E-B735-0F6E-3CA5-F3399FE321A0}"/>
                </a:ext>
              </a:extLst>
            </p:cNvPr>
            <p:cNvSpPr/>
            <p:nvPr/>
          </p:nvSpPr>
          <p:spPr>
            <a:xfrm>
              <a:off x="6144018" y="2363613"/>
              <a:ext cx="462195" cy="345150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34AE485E-3641-41F3-6DC8-0250E125FBAA}"/>
                </a:ext>
              </a:extLst>
            </p:cNvPr>
            <p:cNvSpPr/>
            <p:nvPr/>
          </p:nvSpPr>
          <p:spPr>
            <a:xfrm rot="5400000">
              <a:off x="10085729" y="3256425"/>
              <a:ext cx="462195" cy="345150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2E2D3E97-8359-57E5-CB1B-3AAE058B7251}"/>
                </a:ext>
              </a:extLst>
            </p:cNvPr>
            <p:cNvSpPr/>
            <p:nvPr/>
          </p:nvSpPr>
          <p:spPr>
            <a:xfrm rot="10800000">
              <a:off x="8799012" y="4210205"/>
              <a:ext cx="462195" cy="345150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row: Right 26">
              <a:extLst>
                <a:ext uri="{FF2B5EF4-FFF2-40B4-BE49-F238E27FC236}">
                  <a16:creationId xmlns:a16="http://schemas.microsoft.com/office/drawing/2014/main" id="{5BF6D9AC-0625-4A8C-ECD3-840927866924}"/>
                </a:ext>
              </a:extLst>
            </p:cNvPr>
            <p:cNvSpPr/>
            <p:nvPr/>
          </p:nvSpPr>
          <p:spPr>
            <a:xfrm rot="10800000">
              <a:off x="5431753" y="4138972"/>
              <a:ext cx="462195" cy="345150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row: Right 27">
              <a:extLst>
                <a:ext uri="{FF2B5EF4-FFF2-40B4-BE49-F238E27FC236}">
                  <a16:creationId xmlns:a16="http://schemas.microsoft.com/office/drawing/2014/main" id="{48A489E5-D379-C0A6-3E1F-2A0557F77FA0}"/>
                </a:ext>
              </a:extLst>
            </p:cNvPr>
            <p:cNvSpPr/>
            <p:nvPr/>
          </p:nvSpPr>
          <p:spPr>
            <a:xfrm rot="10800000">
              <a:off x="2651490" y="4138972"/>
              <a:ext cx="462195" cy="345150"/>
            </a:xfrm>
            <a:prstGeom prst="rightArrow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C278EB7-04D8-AE73-F11A-94FCEAE620B5}"/>
              </a:ext>
            </a:extLst>
          </p:cNvPr>
          <p:cNvSpPr txBox="1"/>
          <p:nvPr/>
        </p:nvSpPr>
        <p:spPr>
          <a:xfrm>
            <a:off x="1374900" y="5151936"/>
            <a:ext cx="9006347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Figure 3: </a:t>
            </a:r>
            <a:r>
              <a:rPr lang="en-US" sz="2000" b="1" i="1" dirty="0">
                <a:latin typeface="Arial" panose="020B0604020202020204" pitchFamily="34" charset="0"/>
                <a:ea typeface="Book Antiqua" panose="02040602050305030304" pitchFamily="18" charset="0"/>
                <a:cs typeface="Arial" panose="020B0604020202020204" pitchFamily="34" charset="0"/>
              </a:rPr>
              <a:t>In vitro </a:t>
            </a:r>
            <a:r>
              <a:rPr lang="en-US" sz="2000" b="1" dirty="0">
                <a:latin typeface="Arial" panose="020B0604020202020204" pitchFamily="34" charset="0"/>
                <a:ea typeface="Book Antiqua" panose="02040602050305030304" pitchFamily="18" charset="0"/>
                <a:cs typeface="Arial" panose="020B0604020202020204" pitchFamily="34" charset="0"/>
              </a:rPr>
              <a:t>Dual culture of bacteria against </a:t>
            </a:r>
            <a:r>
              <a:rPr lang="en-US" sz="2000" b="1" i="1" dirty="0">
                <a:latin typeface="Arial" panose="020B0604020202020204" pitchFamily="34" charset="0"/>
                <a:ea typeface="Book Antiqua" panose="02040602050305030304" pitchFamily="18" charset="0"/>
                <a:cs typeface="Arial" panose="020B0604020202020204" pitchFamily="34" charset="0"/>
              </a:rPr>
              <a:t>R. solanacearum </a:t>
            </a:r>
            <a:r>
              <a:rPr lang="en-US" sz="2000" b="1" dirty="0">
                <a:latin typeface="Arial" panose="020B0604020202020204" pitchFamily="34" charset="0"/>
                <a:ea typeface="Book Antiqua" panose="02040602050305030304" pitchFamily="18" charset="0"/>
                <a:cs typeface="Arial" panose="020B0604020202020204" pitchFamily="34" charset="0"/>
              </a:rPr>
              <a:t>in disk diffusion method.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4AFA374D-B272-2E7C-B067-160F1557E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CB124-C0EE-4D94-B8BE-1337D4C3C62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640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50164" y="502920"/>
            <a:ext cx="11091672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68360"/>
              </p:ext>
            </p:extLst>
          </p:nvPr>
        </p:nvGraphicFramePr>
        <p:xfrm>
          <a:off x="2712720" y="1371600"/>
          <a:ext cx="6766560" cy="36576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 75 WG (tebuconazole + trifloxystrobin)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 250 EC (propiconazole)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Folicur 250 EC (tebuconazole)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harzianum (AB935952)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viride (TV6)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Trichoderma asperellum (AB935955)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10⁸ CFU/ml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2382757" y="53492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Recorded: disease incidence and severity (0–5 scale) on leaves and calyces; growth and yield traits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 application and data collection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0B355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spray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DAS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6324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383280" y="128016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B5303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520440" y="1325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 spore suspension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 later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89788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0B355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355080" y="1325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dose of treatments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 later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732520" y="1600200"/>
            <a:ext cx="274320" cy="274320"/>
          </a:xfrm>
          <a:prstGeom prst="rightArrow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052560" y="128016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0B355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9189720" y="1325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doses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89720" y="1783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E6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days till harvest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2860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5: Application of treatments and pathogen (Abo-Elyousr et al., 2017)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6035040" cy="3200400"/>
          </a:xfrm>
          <a:prstGeom prst="roundRect">
            <a:avLst>
              <a:gd name="adj" fmla="val 285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777240" y="2926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collection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429000"/>
            <a:ext cx="5623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incidence (%) = infected leaves or calyces / total examined × 100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severity (%) = Σ(rating × no. in rating) / (max rating × total) × 100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and yield at 90 and 180 DAS: height, base diameter, branches, leaves, leaf weight, fruit, capsule and calyx weight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2788920"/>
          <a:ext cx="4782312" cy="268833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area infected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infection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&gt;0–4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mild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&gt;4–12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&gt;12–29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&gt;29–57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&gt;57–100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severe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27432" marB="27432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6858000" y="5577840"/>
            <a:ext cx="4782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0–5 scale (Apeyuan et al., 2017)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9C3E0FB4-DC5B-0C8E-B9D6-638778AD8754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199" b="1" dirty="0"/>
              <a:t>Results</a:t>
            </a:r>
            <a:endParaRPr lang="en-US" sz="3199" dirty="0"/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BCC0D03A-9A84-E02E-35FF-389D93075492}"/>
              </a:ext>
            </a:extLst>
          </p:cNvPr>
          <p:cNvSpPr/>
          <p:nvPr/>
        </p:nvSpPr>
        <p:spPr>
          <a:xfrm>
            <a:off x="548640" y="1556962"/>
            <a:ext cx="2635315" cy="531628"/>
          </a:xfrm>
          <a:prstGeom prst="homePlat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Symptoms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82DABB0-46B8-2733-9095-D37FBE202914}"/>
              </a:ext>
            </a:extLst>
          </p:cNvPr>
          <p:cNvSpPr txBox="1"/>
          <p:nvPr/>
        </p:nvSpPr>
        <p:spPr>
          <a:xfrm>
            <a:off x="548640" y="2686936"/>
            <a:ext cx="6581966" cy="339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Small, circular to irregular,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brown to reddish-brown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spots, often limited by veins.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Spots enlarged to ~10 mm with a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pale brown to greyish-white centre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 reddish-purple margin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humid conditions centres turned grey with abundant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conidiophores and conidia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79316" indent="-279316" algn="just">
              <a:spcAft>
                <a:spcPts val="1200"/>
              </a:spcAft>
              <a:buSzPct val="100000"/>
              <a:buFont typeface="Wingdings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Spots coalesced, causing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chlorosis, premature leaf drop and defoliation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383D80-1A45-9C9F-3CB5-4902E620893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62" t="29921" r="32360" b="31207"/>
          <a:stretch>
            <a:fillRect/>
          </a:stretch>
        </p:blipFill>
        <p:spPr bwMode="auto">
          <a:xfrm rot="5400000">
            <a:off x="8068860" y="1647365"/>
            <a:ext cx="3661854" cy="3481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5" name="Text 12">
            <a:extLst>
              <a:ext uri="{FF2B5EF4-FFF2-40B4-BE49-F238E27FC236}">
                <a16:creationId xmlns:a16="http://schemas.microsoft.com/office/drawing/2014/main" id="{108B0CA6-20D6-FF58-E8AF-FCC3CD181594}"/>
              </a:ext>
            </a:extLst>
          </p:cNvPr>
          <p:cNvSpPr txBox="1"/>
          <p:nvPr/>
        </p:nvSpPr>
        <p:spPr>
          <a:xfrm>
            <a:off x="8159262" y="5359162"/>
            <a:ext cx="3481050" cy="293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Figure 6: Leaf spot symptoms on roselle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005045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5837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M</a:t>
            </a: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orphological identification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90790" y="3836581"/>
            <a:ext cx="3538728" cy="1695804"/>
          </a:xfrm>
          <a:prstGeom prst="roundRect">
            <a:avLst>
              <a:gd name="adj" fmla="val 3846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415753" y="3966371"/>
            <a:ext cx="2100993" cy="538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Colony on PDA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0608" y="4394366"/>
            <a:ext cx="3017520" cy="1152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moderate growth; greyish-white, olive-grey to dark grey mycelium of branched, septate hyphae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66846" y="3836581"/>
            <a:ext cx="3538728" cy="1660558"/>
          </a:xfrm>
          <a:prstGeom prst="roundRect">
            <a:avLst>
              <a:gd name="adj" fmla="val 3846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979954" y="4052422"/>
            <a:ext cx="2010475" cy="376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Conidiophores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717542" y="4518163"/>
            <a:ext cx="3017520" cy="109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Pigmented, septate, arising in fascicles from stroma or infected tissue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05038" y="3836581"/>
            <a:ext cx="3555121" cy="1672752"/>
          </a:xfrm>
          <a:prstGeom prst="roundRect">
            <a:avLst>
              <a:gd name="adj" fmla="val 3846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120183" y="4052422"/>
            <a:ext cx="1361747" cy="378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Conidia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79695" y="4553410"/>
            <a:ext cx="3017520" cy="107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Hyaline to pale olivaceous, elongated, cylindrical to obclavate, multiseptate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0466" y="5758814"/>
            <a:ext cx="11091672" cy="504656"/>
          </a:xfrm>
          <a:prstGeom prst="roundRect">
            <a:avLst>
              <a:gd name="adj" fmla="val 11111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12292" y="5709436"/>
            <a:ext cx="10828020" cy="535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Provisionally identified as </a:t>
            </a:r>
            <a:r>
              <a:rPr lang="en-US" sz="17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7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sp. — conidial size suggests </a:t>
            </a:r>
            <a:r>
              <a:rPr lang="en-US" sz="17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7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; multilocus sequencing needed for species</a:t>
            </a:r>
            <a:endParaRPr lang="en-US" sz="17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8F9E89-1587-CA60-D36D-124F81CBD5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105" y="1206222"/>
            <a:ext cx="1865641" cy="187410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EF965A7-6F68-F51C-2C08-E39F4AF778B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954" y="1190116"/>
            <a:ext cx="2281158" cy="191904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62E825-A3FC-75DF-684A-37D999586D2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4715" y="1190115"/>
            <a:ext cx="2080088" cy="1919044"/>
          </a:xfrm>
          <a:prstGeom prst="rect">
            <a:avLst/>
          </a:prstGeom>
        </p:spPr>
      </p:pic>
      <p:sp>
        <p:nvSpPr>
          <p:cNvPr id="23" name="Text 6">
            <a:extLst>
              <a:ext uri="{FF2B5EF4-FFF2-40B4-BE49-F238E27FC236}">
                <a16:creationId xmlns:a16="http://schemas.microsoft.com/office/drawing/2014/main" id="{5B14D0F9-5D86-60A8-34D4-198C551F5B88}"/>
              </a:ext>
            </a:extLst>
          </p:cNvPr>
          <p:cNvSpPr txBox="1"/>
          <p:nvPr/>
        </p:nvSpPr>
        <p:spPr>
          <a:xfrm>
            <a:off x="1159420" y="3189779"/>
            <a:ext cx="26014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Upper view of colony</a:t>
            </a:r>
            <a:endParaRPr lang="en-US" sz="1300" dirty="0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CB02BB53-6625-63BC-077A-C446CAEA43FD}"/>
              </a:ext>
            </a:extLst>
          </p:cNvPr>
          <p:cNvSpPr txBox="1"/>
          <p:nvPr/>
        </p:nvSpPr>
        <p:spPr>
          <a:xfrm>
            <a:off x="4793742" y="3198793"/>
            <a:ext cx="26014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Conidia and conidiophores</a:t>
            </a:r>
            <a:endParaRPr lang="en-US" sz="13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FE9D02E-E772-53A1-2F32-3968B24C5D88}"/>
              </a:ext>
            </a:extLst>
          </p:cNvPr>
          <p:cNvSpPr txBox="1"/>
          <p:nvPr/>
        </p:nvSpPr>
        <p:spPr>
          <a:xfrm>
            <a:off x="8763293" y="3198792"/>
            <a:ext cx="2438609" cy="230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Conidia</a:t>
            </a:r>
            <a:endParaRPr lang="en-US" sz="1300" dirty="0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60917BDF-9A63-528A-BDCB-C43B0A0A7574}"/>
              </a:ext>
            </a:extLst>
          </p:cNvPr>
          <p:cNvSpPr txBox="1"/>
          <p:nvPr/>
        </p:nvSpPr>
        <p:spPr>
          <a:xfrm>
            <a:off x="4634198" y="3522367"/>
            <a:ext cx="3739373" cy="361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7: Different structures of Cercospora sp.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temperatures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567811" y="5700964"/>
            <a:ext cx="6309360" cy="341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Effect of temperature on the radial mycelial growth of </a:t>
            </a: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PDA after 10 DAI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6440" y="1515140"/>
            <a:ext cx="4507992" cy="4356653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58756" y="1836597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Temperatures tested: 10, 15, 20, 25 and 30 °C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Maximum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mycelial </a:t>
            </a: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growth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(90.00 mm) at </a:t>
            </a: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 °C,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significantly higher than other temperatures at 10 DAI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Optimal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temperature range for radial growth: </a:t>
            </a: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20–22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°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</a:t>
            </a: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Lowest 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</a:t>
            </a:r>
            <a:r>
              <a:rPr lang="en-US" sz="2000" b="1" dirty="0">
                <a:solidFill>
                  <a:srgbClr val="1C2B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10°C.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AB8A9C-68FD-74F6-0058-532A4915B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800" y="1515141"/>
            <a:ext cx="6255387" cy="39960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Pathogenicity tests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882640" y="54406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 · Pathogenicity tests of </a:t>
            </a: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on roselle; (a) Healthy leaves; (b) Infected leaves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3987" y="2141494"/>
            <a:ext cx="4507992" cy="4206240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781" y="2468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Conducted on non-detached leaves of pot-grown plants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Infection without wounding the plant tissues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Irregular brown necrotic lesions 10 days after inoculation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Control leaves remained healthy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 algn="just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Performed twice with similar results; pathogen re-isolated — Koch’s postulates fulfilled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3C982B-CFED-ECFF-E759-219F5A5281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2217" y="2141495"/>
            <a:ext cx="2279015" cy="29259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AB9321-47CF-1AA1-15E8-4E715FB2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08204" y="2141495"/>
            <a:ext cx="2279015" cy="2925982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9AA556A5-B59B-F76D-D8AA-CD2CE7C8F593}"/>
              </a:ext>
            </a:extLst>
          </p:cNvPr>
          <p:cNvSpPr/>
          <p:nvPr/>
        </p:nvSpPr>
        <p:spPr>
          <a:xfrm>
            <a:off x="10393325" y="3845439"/>
            <a:ext cx="409142" cy="30125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5925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 of fungicides on mycelial growth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420068" y="6144201"/>
            <a:ext cx="10526941" cy="393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7 · Effects of different fungicides and doses on radial mycelial growth inhibition of </a:t>
            </a: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(a) 6 DAI, (b) 8 DAI and (c) 10 DAI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E9B7DB5B-AF5F-3621-8EE5-F752204349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742089"/>
              </p:ext>
            </p:extLst>
          </p:nvPr>
        </p:nvGraphicFramePr>
        <p:xfrm>
          <a:off x="548640" y="1057408"/>
          <a:ext cx="5422605" cy="25025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6B59BC53-B924-F552-A8E5-3CC420A87A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2030013"/>
              </p:ext>
            </p:extLst>
          </p:nvPr>
        </p:nvGraphicFramePr>
        <p:xfrm>
          <a:off x="828895" y="3674612"/>
          <a:ext cx="5267105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 15">
            <a:extLst>
              <a:ext uri="{FF2B5EF4-FFF2-40B4-BE49-F238E27FC236}">
                <a16:creationId xmlns:a16="http://schemas.microsoft.com/office/drawing/2014/main" id="{A8770637-DFEF-5B3B-F605-77D6BC3054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5063881"/>
              </p:ext>
            </p:extLst>
          </p:nvPr>
        </p:nvGraphicFramePr>
        <p:xfrm>
          <a:off x="6683538" y="3162832"/>
          <a:ext cx="5074299" cy="27520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669834" y="320040"/>
            <a:ext cx="64692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vitro evaluation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509476" y="2514600"/>
            <a:ext cx="5394960" cy="3520440"/>
          </a:xfrm>
          <a:prstGeom prst="roundRect">
            <a:avLst>
              <a:gd name="adj" fmla="val 259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058116" y="2743200"/>
            <a:ext cx="4846320" cy="3657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Fungicides · Poisoned food technique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40149" y="37490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75 WG (Tebuconazole 50% + Trifloxystrobin 25%)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(Propiconazole 25%)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Bavistin 50 WP (Carbendazim 50%)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Folicur 250 EC (Tebuconazole 25%)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05216" y="5303520"/>
            <a:ext cx="326171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50, 100, 250, 500 and 1000 ppm in PDA</a:t>
            </a:r>
            <a:endParaRPr lang="en-US" sz="14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mm pathogen disc, 30 ± 2 °C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5352" y="2514598"/>
            <a:ext cx="5394960" cy="3520441"/>
          </a:xfrm>
          <a:prstGeom prst="roundRect">
            <a:avLst>
              <a:gd name="adj" fmla="val 2597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873098" y="2727994"/>
            <a:ext cx="4139468" cy="380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Bioagents · Dual culture technique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82209" y="3749040"/>
            <a:ext cx="4846320" cy="1248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asperellum</a:t>
            </a: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(AB935955)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harzianum</a:t>
            </a: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(AB935952)</a:t>
            </a:r>
            <a:endParaRPr lang="en-US" sz="15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5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 viride</a:t>
            </a:r>
            <a:r>
              <a:rPr lang="en-US" sz="15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(TV6)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520293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mm discs of pathogen and antagonist on opposite sides of PDA plate; 25 ± 2 °C until control plates were full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24314" y="411480"/>
            <a:ext cx="11091672" cy="5996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Effect of </a:t>
            </a: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Fungicides on Radial Mycelial Growth 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748461" y="5692976"/>
            <a:ext cx="5511918" cy="550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8 · Effects of different fungicides (a) Control (b) Nativo 75 WG, (c) Tilt 250 EC, (d) Bavistin and (e) Folicur @500 ppm on radial mycelial growth of </a:t>
            </a: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5240" y="2481114"/>
            <a:ext cx="4507992" cy="2942738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48640" y="3111767"/>
            <a:ext cx="4023360" cy="1791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Untreated control plate fully covered (90.00 mm)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Nativo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75 WG, Tilt 250 EC and Bavistin @500 ppm showed complete inhibition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9BF76F-3C0D-B70A-D3E2-0A555E36FAED}"/>
              </a:ext>
            </a:extLst>
          </p:cNvPr>
          <p:cNvGrpSpPr/>
          <p:nvPr/>
        </p:nvGrpSpPr>
        <p:grpSpPr>
          <a:xfrm>
            <a:off x="5094767" y="1386043"/>
            <a:ext cx="6711993" cy="2158833"/>
            <a:chOff x="-517892" y="-76688"/>
            <a:chExt cx="6694325" cy="2035381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AFD69FC-8C32-93B0-5659-301E6BC35143}"/>
                </a:ext>
              </a:extLst>
            </p:cNvPr>
            <p:cNvGrpSpPr/>
            <p:nvPr/>
          </p:nvGrpSpPr>
          <p:grpSpPr>
            <a:xfrm>
              <a:off x="-517892" y="-76688"/>
              <a:ext cx="2287509" cy="2027174"/>
              <a:chOff x="-440362" y="-67809"/>
              <a:chExt cx="1945062" cy="1792475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AF396F2-F77C-1B6E-0B19-201922F410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-126896" y="7489"/>
                <a:ext cx="1631596" cy="1717177"/>
              </a:xfrm>
              <a:prstGeom prst="rect">
                <a:avLst/>
              </a:prstGeom>
            </p:spPr>
          </p:pic>
          <p:sp>
            <p:nvSpPr>
              <p:cNvPr id="31" name="Text Box 53">
                <a:extLst>
                  <a:ext uri="{FF2B5EF4-FFF2-40B4-BE49-F238E27FC236}">
                    <a16:creationId xmlns:a16="http://schemas.microsoft.com/office/drawing/2014/main" id="{DAD92ADD-2E44-7DB2-4363-654C417E1276}"/>
                  </a:ext>
                </a:extLst>
              </p:cNvPr>
              <p:cNvSpPr txBox="1"/>
              <p:nvPr/>
            </p:nvSpPr>
            <p:spPr>
              <a:xfrm>
                <a:off x="-440362" y="-67809"/>
                <a:ext cx="295910" cy="254000"/>
              </a:xfrm>
              <a:prstGeom prst="rect">
                <a:avLst/>
              </a:prstGeom>
              <a:solidFill>
                <a:schemeClr val="lt1"/>
              </a:solidFill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1200">
                    <a:effectLst/>
                    <a:latin typeface="Book Antiqua" panose="02040602050305030304" pitchFamily="18" charset="0"/>
                    <a:ea typeface="Times New Roman" panose="02020603050405020304" pitchFamily="18" charset="0"/>
                  </a:rPr>
                  <a:t>a</a:t>
                </a:r>
                <a:endParaRPr lang="en-US" sz="10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F3CBE3A-CBBE-5F81-B942-ED4AC0BBC183}"/>
                </a:ext>
              </a:extLst>
            </p:cNvPr>
            <p:cNvGrpSpPr/>
            <p:nvPr/>
          </p:nvGrpSpPr>
          <p:grpSpPr>
            <a:xfrm>
              <a:off x="1784429" y="-7281"/>
              <a:ext cx="2192974" cy="1965974"/>
              <a:chOff x="-264504" y="-15748"/>
              <a:chExt cx="2192974" cy="196597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13408CA5-A0A0-E933-18C2-9F0280046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29185" y="13"/>
                <a:ext cx="1899285" cy="1950213"/>
              </a:xfrm>
              <a:prstGeom prst="rect">
                <a:avLst/>
              </a:prstGeom>
            </p:spPr>
          </p:pic>
          <p:sp>
            <p:nvSpPr>
              <p:cNvPr id="29" name="Text Box 62">
                <a:extLst>
                  <a:ext uri="{FF2B5EF4-FFF2-40B4-BE49-F238E27FC236}">
                    <a16:creationId xmlns:a16="http://schemas.microsoft.com/office/drawing/2014/main" id="{5C864D0E-EF24-9E79-AE39-0395345CAF5E}"/>
                  </a:ext>
                </a:extLst>
              </p:cNvPr>
              <p:cNvSpPr txBox="1"/>
              <p:nvPr/>
            </p:nvSpPr>
            <p:spPr>
              <a:xfrm>
                <a:off x="-264504" y="-15748"/>
                <a:ext cx="347980" cy="28702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1100">
                    <a:effectLst/>
                    <a:latin typeface="Book Antiqua" panose="02040602050305030304" pitchFamily="18" charset="0"/>
                    <a:ea typeface="Times New Roman" panose="02020603050405020304" pitchFamily="18" charset="0"/>
                  </a:rPr>
                  <a:t>b</a:t>
                </a:r>
                <a:endParaRPr lang="en-US" sz="10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E853B22-4283-0891-782C-7B1029A5D7A4}"/>
                </a:ext>
              </a:extLst>
            </p:cNvPr>
            <p:cNvGrpSpPr/>
            <p:nvPr/>
          </p:nvGrpSpPr>
          <p:grpSpPr>
            <a:xfrm>
              <a:off x="3963163" y="-51928"/>
              <a:ext cx="2213270" cy="2010621"/>
              <a:chOff x="-151608" y="-58437"/>
              <a:chExt cx="1990568" cy="1945431"/>
            </a:xfrm>
          </p:grpSpPr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D13A5F94-5B66-30D4-61EA-A7304B18F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4725" y="0"/>
                <a:ext cx="1694235" cy="1886994"/>
              </a:xfrm>
              <a:prstGeom prst="rect">
                <a:avLst/>
              </a:prstGeom>
            </p:spPr>
          </p:pic>
          <p:sp>
            <p:nvSpPr>
              <p:cNvPr id="27" name="Text Box 55">
                <a:extLst>
                  <a:ext uri="{FF2B5EF4-FFF2-40B4-BE49-F238E27FC236}">
                    <a16:creationId xmlns:a16="http://schemas.microsoft.com/office/drawing/2014/main" id="{C6FFEE05-CDA0-50DA-8F8B-CC569CE31A50}"/>
                  </a:ext>
                </a:extLst>
              </p:cNvPr>
              <p:cNvSpPr txBox="1"/>
              <p:nvPr/>
            </p:nvSpPr>
            <p:spPr>
              <a:xfrm>
                <a:off x="-151608" y="-58437"/>
                <a:ext cx="296333" cy="254000"/>
              </a:xfrm>
              <a:prstGeom prst="rect">
                <a:avLst/>
              </a:prstGeom>
              <a:solidFill>
                <a:schemeClr val="lt1"/>
              </a:solidFill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algn="ctr">
                  <a:buNone/>
                </a:pPr>
                <a:r>
                  <a:rPr lang="en-US" sz="1100">
                    <a:effectLst/>
                    <a:latin typeface="Book Antiqua" panose="02040602050305030304" pitchFamily="18" charset="0"/>
                    <a:ea typeface="Times New Roman" panose="02020603050405020304" pitchFamily="18" charset="0"/>
                  </a:rPr>
                  <a:t>c</a:t>
                </a:r>
                <a:endParaRPr lang="en-US" sz="10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23F0A5AC-F067-2B05-A04B-8F5E7C6201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3047" y="3722404"/>
            <a:ext cx="1939764" cy="179197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C25C542-A575-2EC5-6F0D-BF685FAC0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9786" y="3717069"/>
            <a:ext cx="1704634" cy="1791979"/>
          </a:xfrm>
          <a:prstGeom prst="rect">
            <a:avLst/>
          </a:prstGeom>
        </p:spPr>
      </p:pic>
      <p:sp>
        <p:nvSpPr>
          <p:cNvPr id="4" name="Text Box 55">
            <a:extLst>
              <a:ext uri="{FF2B5EF4-FFF2-40B4-BE49-F238E27FC236}">
                <a16:creationId xmlns:a16="http://schemas.microsoft.com/office/drawing/2014/main" id="{5DA1B327-6F85-31B8-19F9-1DB8DFB2750C}"/>
              </a:ext>
            </a:extLst>
          </p:cNvPr>
          <p:cNvSpPr txBox="1"/>
          <p:nvPr/>
        </p:nvSpPr>
        <p:spPr>
          <a:xfrm>
            <a:off x="8555810" y="3674050"/>
            <a:ext cx="330356" cy="278433"/>
          </a:xfrm>
          <a:prstGeom prst="rect">
            <a:avLst/>
          </a:prstGeom>
          <a:solidFill>
            <a:schemeClr val="lt1"/>
          </a:solidFill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100" dirty="0">
                <a:latin typeface="Book Antiqua" panose="02040602050305030304" pitchFamily="18" charset="0"/>
                <a:ea typeface="Times New Roman" panose="02020603050405020304" pitchFamily="18" charset="0"/>
              </a:rPr>
              <a:t>e</a:t>
            </a:r>
            <a:endParaRPr lang="en-US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9" name="Text Box 55">
            <a:extLst>
              <a:ext uri="{FF2B5EF4-FFF2-40B4-BE49-F238E27FC236}">
                <a16:creationId xmlns:a16="http://schemas.microsoft.com/office/drawing/2014/main" id="{1F1D15A1-C05C-B08A-D9EB-2AAFA43D5B93}"/>
              </a:ext>
            </a:extLst>
          </p:cNvPr>
          <p:cNvSpPr txBox="1"/>
          <p:nvPr/>
        </p:nvSpPr>
        <p:spPr>
          <a:xfrm>
            <a:off x="6455990" y="3706315"/>
            <a:ext cx="330356" cy="278433"/>
          </a:xfrm>
          <a:prstGeom prst="rect">
            <a:avLst/>
          </a:prstGeom>
          <a:solidFill>
            <a:schemeClr val="lt1"/>
          </a:solidFill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100" dirty="0">
                <a:latin typeface="Book Antiqua" panose="02040602050305030304" pitchFamily="18" charset="0"/>
                <a:ea typeface="Times New Roman" panose="02020603050405020304" pitchFamily="18" charset="0"/>
              </a:rPr>
              <a:t>d</a:t>
            </a:r>
            <a:endParaRPr lang="en-US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72955" y="320040"/>
            <a:ext cx="11091672" cy="731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Antagonistic effects of bio-agents on Radial Mycelial Growth 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18791" y="5638481"/>
            <a:ext cx="6042837" cy="56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9 · Antagonistic effects of different fungal bioagents on radial mycelial growth inhibition (%) of </a:t>
            </a: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at 10 days after incubation (DAI)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97395"/>
            <a:ext cx="4507992" cy="3164959"/>
          </a:xfrm>
          <a:prstGeom prst="roundRect">
            <a:avLst>
              <a:gd name="adj" fmla="val 20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973943" y="2530549"/>
            <a:ext cx="4023360" cy="283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Mycelial growth at 10 DAI: 8.33 mm to 90.00 mm (control)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Maximum inhibition: </a:t>
            </a:r>
            <a:r>
              <a:rPr lang="en-US" sz="20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asperellum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(90.74%), statistically similar to </a:t>
            </a:r>
            <a:r>
              <a:rPr lang="en-US" sz="20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harzianum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(88.15%)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Lowest inhibition: </a:t>
            </a:r>
            <a:r>
              <a:rPr lang="en-US" sz="2000" i="1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T. viride</a:t>
            </a:r>
            <a:r>
              <a:rPr lang="en-US" sz="2000" dirty="0">
                <a:solidFill>
                  <a:srgbClr val="1C2B3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(65.93%), moderately effective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EB9ACA-B882-CF2E-A25E-497D5BBE4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791" y="1525062"/>
            <a:ext cx="5441034" cy="396618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02247" y="384048"/>
            <a:ext cx="10800592" cy="6248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 culture plates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497941" y="5573469"/>
            <a:ext cx="9605453" cy="4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10 · Antagonistic effects of different fungal bioagents on radial mycelial growth of </a:t>
            </a: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2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causing leaf spot of roselle</a:t>
            </a: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259D04-A374-04FE-FAEE-BB5CFBA0E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51" y="2061351"/>
            <a:ext cx="2394394" cy="23647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23BD348-E95C-17D1-0B4F-39BE4E4FF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3730828" y="2018459"/>
            <a:ext cx="2364747" cy="24197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A14C50D-9AA4-90AB-9C5C-CE7A43DD09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7658" y="2045967"/>
            <a:ext cx="2457064" cy="238013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E5E2912-486C-4B92-9309-C7A12DD79C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3504" y="2045968"/>
            <a:ext cx="2489335" cy="23801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04A206A-2D31-7D24-7E24-11EE72822571}"/>
              </a:ext>
            </a:extLst>
          </p:cNvPr>
          <p:cNvSpPr txBox="1"/>
          <p:nvPr/>
        </p:nvSpPr>
        <p:spPr>
          <a:xfrm>
            <a:off x="1026751" y="4648873"/>
            <a:ext cx="2676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harzianum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en-US" sz="1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832A6C-BD94-ABF4-16CD-08B72270A46B}"/>
              </a:ext>
            </a:extLst>
          </p:cNvPr>
          <p:cNvSpPr txBox="1"/>
          <p:nvPr/>
        </p:nvSpPr>
        <p:spPr>
          <a:xfrm>
            <a:off x="3724200" y="4579061"/>
            <a:ext cx="2593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viridae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5A064D-8803-A79A-07AD-C22CFCD0AAE1}"/>
              </a:ext>
            </a:extLst>
          </p:cNvPr>
          <p:cNvSpPr txBox="1"/>
          <p:nvPr/>
        </p:nvSpPr>
        <p:spPr>
          <a:xfrm>
            <a:off x="6317658" y="4579061"/>
            <a:ext cx="2903574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T.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Asperellum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Cercospora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C3499B-9D39-E272-9489-EE2C4980B7F6}"/>
              </a:ext>
            </a:extLst>
          </p:cNvPr>
          <p:cNvSpPr txBox="1"/>
          <p:nvPr/>
        </p:nvSpPr>
        <p:spPr>
          <a:xfrm>
            <a:off x="9811512" y="4579061"/>
            <a:ext cx="1828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25146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54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&amp; field evaluation</a:t>
            </a:r>
            <a:endParaRPr lang="en-US" sz="5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 and field experiment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89367" y="3381064"/>
            <a:ext cx="3657600" cy="2372567"/>
          </a:xfrm>
          <a:prstGeom prst="roundRect">
            <a:avLst>
              <a:gd name="adj" fmla="val 25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4725286" y="3624639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site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702426" y="4104699"/>
            <a:ext cx="3246120" cy="1816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Pot: Net house, Prof. Golam Ali Fakir Seed Pathology Center, BAU (CRD)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Field: Plant Pathology field laboratory, BAU (RCBD), clay loam, pH 6.5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Variety: deep red plant with deep red calyx; sown 30 March 2025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412480" y="1371600"/>
            <a:ext cx="3227832" cy="4343400"/>
          </a:xfrm>
          <a:prstGeom prst="roundRect">
            <a:avLst>
              <a:gd name="adj" fmla="val 2833"/>
            </a:avLst>
          </a:prstGeom>
          <a:solidFill>
            <a:srgbClr val="0B355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641080" y="15087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201168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= Control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= Nativo 75 WG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= Tilt 250 EC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= Folicur 250 EC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= </a:t>
            </a: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 = </a:t>
            </a: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= </a:t>
            </a: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Fungicides @ 500 ppm; bioagents @ 10⁸ CFU/ml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12097" y="5925083"/>
            <a:ext cx="2986507" cy="28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4: Pot and field experiments</a:t>
            </a:r>
            <a:endParaRPr lang="en-US" sz="1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7CFF26-0370-A5E8-0428-B30573B9E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098" y="1410232"/>
            <a:ext cx="2986507" cy="21124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9CA4A87-B831-5BF2-651A-9F778918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601" y="3830379"/>
            <a:ext cx="3071887" cy="19284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89204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Effect of Treatments on </a:t>
            </a: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Leaf (pot experiment)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50164" y="1325880"/>
            <a:ext cx="11091672" cy="327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5: Effect of different treatments on disease incidence (DI) and disease severity (DS) percentage of roselle plant under pot experiment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6508681"/>
              </p:ext>
            </p:extLst>
          </p:nvPr>
        </p:nvGraphicFramePr>
        <p:xfrm>
          <a:off x="548640" y="1691640"/>
          <a:ext cx="11091672" cy="384048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53.91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14.04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21.93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= </a:t>
                      </a: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</a:t>
                      </a: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500 ppm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</a:t>
                      </a: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15.98</a:t>
                      </a: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</a:t>
                      </a: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16.70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25.65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</a:t>
                      </a: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T.</a:t>
                      </a: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harzianum</a:t>
                      </a:r>
                      <a:endParaRPr lang="en-US" sz="1400" i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22.67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31.36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</a:t>
                      </a: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</a:t>
                      </a: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viride</a:t>
                      </a:r>
                      <a:endParaRPr lang="en-US" sz="1400" i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26.48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38.62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</a:t>
                      </a:r>
                      <a:r>
                        <a:rPr lang="en-US" sz="1400" i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T. asperellum</a:t>
                      </a:r>
                      <a:endParaRPr lang="en-US" sz="1400" i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20.89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29.69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97296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 Leaf disease — field condition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50164" y="129727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8: Effect of different treatments on disease incidence (DI) and disease severity (DS) percentage of roselle plant under field condition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226378"/>
              </p:ext>
            </p:extLst>
          </p:nvPr>
        </p:nvGraphicFramePr>
        <p:xfrm>
          <a:off x="548640" y="1691640"/>
          <a:ext cx="11091672" cy="384048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18.24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24.79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14.59 e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e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17.46 f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f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19.64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35.34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23.70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32.71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30.14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39.51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2B53CE86-EAFA-4E83-C5C6-3A4B51F18F58}"/>
              </a:ext>
            </a:extLst>
          </p:cNvPr>
          <p:cNvSpPr txBox="1">
            <a:spLocks/>
          </p:cNvSpPr>
          <p:nvPr/>
        </p:nvSpPr>
        <p:spPr>
          <a:xfrm>
            <a:off x="548640" y="489204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Leaf (Field experiment)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4.11 Calyx disease — pot experiment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72115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11: Effect of different treatments on disease incidence (DI) and disease severity (DS) percentage of roselle calyx under pot experiment</a:t>
            </a:r>
            <a:endParaRPr lang="en-US" sz="13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8916469"/>
              </p:ext>
            </p:extLst>
          </p:nvPr>
        </p:nvGraphicFramePr>
        <p:xfrm>
          <a:off x="548640" y="1691640"/>
          <a:ext cx="11091672" cy="384048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27.67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32972752-7D88-19AE-59CB-B6C2971F366E}"/>
              </a:ext>
            </a:extLst>
          </p:cNvPr>
          <p:cNvSpPr txBox="1">
            <a:spLocks/>
          </p:cNvSpPr>
          <p:nvPr/>
        </p:nvSpPr>
        <p:spPr>
          <a:xfrm>
            <a:off x="548640" y="489204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Calyx (pot experiment)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4.12 Calyx disease — field condition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4124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12: Effect of different treatments on disease incidence (DI) and disease severity (DS) percentage of roselle calyx under field condition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96351"/>
              </p:ext>
            </p:extLst>
          </p:nvPr>
        </p:nvGraphicFramePr>
        <p:xfrm>
          <a:off x="548640" y="1691640"/>
          <a:ext cx="11091672" cy="384048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90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(%) · 180 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7.20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c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c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11.40 b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8.80 d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 bc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14.00 b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b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15.00 bc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13AC38D-AF29-601B-CE56-77922152CB00}"/>
              </a:ext>
            </a:extLst>
          </p:cNvPr>
          <p:cNvSpPr txBox="1">
            <a:spLocks/>
          </p:cNvSpPr>
          <p:nvPr/>
        </p:nvSpPr>
        <p:spPr>
          <a:xfrm>
            <a:off x="548640" y="562356"/>
            <a:ext cx="1092566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Calyx (field experiment)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73965" y="469604"/>
            <a:ext cx="11475011" cy="5088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/>
              <a:t>Effect of Treatments on Agronomic parameters(pot experiment)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4358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6: Effect of different treatments on various agronomic parameters of roselle at 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DAS</a:t>
            </a: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pot experiment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398220"/>
              </p:ext>
            </p:extLst>
          </p:nvPr>
        </p:nvGraphicFramePr>
        <p:xfrm>
          <a:off x="548640" y="1691640"/>
          <a:ext cx="11091672" cy="384048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55.20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40.61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 a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27.33 a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37.67 a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44.15 a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76.81 b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21.67 b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31.33 b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35.19 bc</a:t>
                      </a:r>
                      <a:endParaRPr lang="en-US" sz="14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17.00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23.00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28.14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66.30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16.00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20.67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24.44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71.17 bc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19.33 bc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26.33 c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31.37 cd</a:t>
                      </a:r>
                      <a:endParaRPr lang="en-US" sz="1400" b="1" dirty="0">
                        <a:solidFill>
                          <a:srgbClr val="0070C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Growth at 180 DAS — pot experiment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2832"/>
            <a:ext cx="1109167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7: Effect of different treatments on various agronomic parameters of roselle at </a:t>
            </a: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>
                <a:solidFill>
                  <a:schemeClr val="bg1">
                    <a:lumMod val="1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</a:t>
            </a: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 pot experiment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1950523"/>
              </p:ext>
            </p:extLst>
          </p:nvPr>
        </p:nvGraphicFramePr>
        <p:xfrm>
          <a:off x="548640" y="1691640"/>
          <a:ext cx="11091672" cy="3956304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No.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 leaf weight (g)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105.77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28.17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152.77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43.33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7.67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146.41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165.33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47.33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101.67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167.86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39.67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138.13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130.13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58.00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103.91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121.09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33.50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87.61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138.38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36.67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71.67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114.82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ADF7B812-DC1C-A6F2-827E-942A05A81A45}"/>
              </a:ext>
            </a:extLst>
          </p:cNvPr>
          <p:cNvSpPr txBox="1">
            <a:spLocks/>
          </p:cNvSpPr>
          <p:nvPr/>
        </p:nvSpPr>
        <p:spPr>
          <a:xfrm>
            <a:off x="273965" y="469604"/>
            <a:ext cx="11475011" cy="50880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Agronomic parameters(pot experiment)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Growth at 90 DAS — field condition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50164" y="1322832"/>
            <a:ext cx="1109167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9: Effect of different treatments on various agronomic parameters of roselle at 90 DAS under field experiment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38232"/>
              </p:ext>
            </p:extLst>
          </p:nvPr>
        </p:nvGraphicFramePr>
        <p:xfrm>
          <a:off x="548640" y="1691640"/>
          <a:ext cx="11091672" cy="3956304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70.55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46.67 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61.50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97.15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35.33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8.67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72.60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103.05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38.33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9.00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69.33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75.80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93.49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70.60 ab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80.17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54.33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76.44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28.67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52.00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64.50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86.23 bc</a:t>
                      </a:r>
                      <a:endParaRPr lang="en-US" sz="14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31.00 cd</a:t>
                      </a:r>
                      <a:endParaRPr lang="en-US" sz="14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 b</a:t>
                      </a:r>
                      <a:endParaRPr lang="en-US" sz="14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57.33 d</a:t>
                      </a:r>
                      <a:endParaRPr lang="en-US" sz="14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>
                              <a:lumMod val="10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68.60 abc</a:t>
                      </a:r>
                      <a:endParaRPr lang="en-US" sz="1400" b="1" dirty="0">
                        <a:solidFill>
                          <a:schemeClr val="bg1">
                            <a:lumMod val="10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65909BFA-038B-2D39-1A46-7121015B95D6}"/>
              </a:ext>
            </a:extLst>
          </p:cNvPr>
          <p:cNvSpPr txBox="1">
            <a:spLocks/>
          </p:cNvSpPr>
          <p:nvPr/>
        </p:nvSpPr>
        <p:spPr>
          <a:xfrm>
            <a:off x="273965" y="469604"/>
            <a:ext cx="11785128" cy="58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Agronomic parameters(Field experiment)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4.10 Growth at 180 DAS — field condition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47216"/>
            <a:ext cx="11091672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10: Effect of different treatments on various agronomic parameters of roselle at 180 DAS under field experiment</a:t>
            </a:r>
            <a:endParaRPr lang="en-US" sz="13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778792"/>
              </p:ext>
            </p:extLst>
          </p:nvPr>
        </p:nvGraphicFramePr>
        <p:xfrm>
          <a:off x="548640" y="1691640"/>
          <a:ext cx="11091672" cy="3956304"/>
        </p:xfrm>
        <a:graphic>
          <a:graphicData uri="http://schemas.openxmlformats.org/drawingml/2006/table">
            <a:tbl>
              <a:tblPr/>
              <a:tblGrid>
                <a:gridCol w="2770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 height (cm)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diameter (mm)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branch No.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 of leaves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fresh weight (g)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118.64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44.33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8.33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124.00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154.47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151.33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184.23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172.88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63.33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163.00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196.28 a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148.30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53.67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12.67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179.72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129.74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12.00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138.33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171.13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124.73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49.00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133.67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169.33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140.44 bc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52.67 bc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12.33 bc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144.67 c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20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175.91 bcd</a:t>
                      </a:r>
                      <a:endParaRPr lang="en-US" sz="1400" b="1" dirty="0">
                        <a:solidFill>
                          <a:srgbClr val="002060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82CCDE7C-5544-7968-90DD-8BA5C224D6BD}"/>
              </a:ext>
            </a:extLst>
          </p:cNvPr>
          <p:cNvSpPr txBox="1">
            <a:spLocks/>
          </p:cNvSpPr>
          <p:nvPr/>
        </p:nvSpPr>
        <p:spPr>
          <a:xfrm>
            <a:off x="273965" y="469604"/>
            <a:ext cx="11785128" cy="58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Effect of Treatments on Agronomic parameters(Field experiment)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 DATA at 90 DAS — field condition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43584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13: Effect of different treatments on various agronomic parameters of roselle at 90 DAS under field condition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4601450"/>
              </p:ext>
            </p:extLst>
          </p:nvPr>
        </p:nvGraphicFramePr>
        <p:xfrm>
          <a:off x="548640" y="1691640"/>
          <a:ext cx="11091672" cy="3840480"/>
        </p:xfrm>
        <a:graphic>
          <a:graphicData uri="http://schemas.openxmlformats.org/drawingml/2006/table">
            <a:tbl>
              <a:tblPr/>
              <a:tblGrid>
                <a:gridCol w="3410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17.67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21.61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15.56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41.25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55.45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45.14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25.33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40.26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29.55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24.67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31.28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28.66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23.09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37.14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28.04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 Yield at 180 DAS — field condition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43584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14: Effect of different treatments on various agronomic parameters of roselle at 180 DAS under field condition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311591"/>
              </p:ext>
            </p:extLst>
          </p:nvPr>
        </p:nvGraphicFramePr>
        <p:xfrm>
          <a:off x="548640" y="1691640"/>
          <a:ext cx="11091672" cy="3840480"/>
        </p:xfrm>
        <a:graphic>
          <a:graphicData uri="http://schemas.openxmlformats.org/drawingml/2006/table">
            <a:tbl>
              <a:tblPr/>
              <a:tblGrid>
                <a:gridCol w="3410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Fruit No./plant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Capsule fresh weight (g/plant)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Calyx fresh weight (g/plant)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5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=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183.67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605.20 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377.31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Nativo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926.70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677.82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Tilt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289.33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1071.30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820.14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Folicur 500 ppm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249.67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894.30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628.64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 = T. harzianum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225.33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786.20 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530.98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 = T. viride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215.33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710.44 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451.23 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T6 = T. asperellum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242.00 bc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831.60 cd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549.51 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C2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>
                    <a:lnL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D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E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 followed by the same letter(s) in a column did not differ significantly at 5% level by Tukey’s HSD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A7422585-A655-0B9D-1F8D-FA337A2EE184}"/>
              </a:ext>
            </a:extLst>
          </p:cNvPr>
          <p:cNvSpPr txBox="1">
            <a:spLocks/>
          </p:cNvSpPr>
          <p:nvPr/>
        </p:nvSpPr>
        <p:spPr>
          <a:xfrm>
            <a:off x="548640" y="320040"/>
            <a:ext cx="11091672" cy="5029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>
            <a:lvl1pPr marL="0" indent="0" algn="ctr" defTabSz="914400" rtl="0" eaLnBrk="1" latinLnBrk="0" hangingPunct="1">
              <a:spcBef>
                <a:spcPct val="0"/>
              </a:spcBef>
              <a:buNone/>
              <a:defRPr lang="en-US" sz="3000" b="1" kern="1200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r>
              <a:rPr lang="en-US" dirty="0"/>
              <a:t>Yield DATA at 180 DAS — field condition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discussion points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≠ plant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needed a higher dose than Nativo in vitro but gave the best control on plants — echoes Teramoto et al. (2011)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90488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64808" y="164592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6480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96328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Bioagent ranking shifted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led in dual culture and pots; </a:t>
            </a:r>
            <a:r>
              <a:rPr lang="en-US" sz="16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viride</a:t>
            </a: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led in the field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promotion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 best growth and yield among bioagents — likely root colonization and induced resistance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190488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64808" y="397764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464808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96328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Species still open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Conidial size points to </a:t>
            </a:r>
            <a:r>
              <a:rPr lang="en-US" sz="16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malayensis</a:t>
            </a: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ITS + tef1 + actin/calmodulin sequencing required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777240" y="1325880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325880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spot of roselle in Mymensingh and Tangail is caused by </a:t>
            </a:r>
            <a:r>
              <a:rPr lang="en-US" sz="17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7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sp. — first such study in Bangladesh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585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225856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58568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pathogen grows best at 20–22 °C and infects intact leaves within 4 days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19125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77240" y="3191256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91256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vitro: Nativo, Tilt and Bavistin gave 100% inhibition at ≤500 ppm; </a:t>
            </a:r>
            <a:r>
              <a:rPr lang="en-US" sz="17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asperellum</a:t>
            </a:r>
            <a:r>
              <a:rPr lang="en-US" sz="17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7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harzianum</a:t>
            </a:r>
            <a:r>
              <a:rPr lang="en-US" sz="17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~90%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0B355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777240" y="4123944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D9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123944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250 EC @ 500 ppm from 60 DAS at 25-day intervals gave the best control and more than doubled calyx yield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50566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777240" y="5056632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53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056632"/>
            <a:ext cx="10058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7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spp. are promising, farmer-friendly options for integrated management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 and future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identification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Multilocus sequencing (ITS, tef1, actin or calmodulin) to name the species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90488" y="137160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64808" y="164592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6480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96328" y="1645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management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</a:t>
            </a:r>
            <a:r>
              <a:rPr lang="en-US" sz="16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Trichoderma</a:t>
            </a: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reduced fungicide programmes to curb resistance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0B35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resistance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roselle varieties for resistance to </a:t>
            </a:r>
            <a:r>
              <a:rPr lang="en-US" sz="1600" i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Cercospora</a:t>
            </a: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leaf spot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190488" y="3703320"/>
            <a:ext cx="5449824" cy="2103120"/>
          </a:xfrm>
          <a:prstGeom prst="roundRect">
            <a:avLst>
              <a:gd name="adj" fmla="val 4348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76200" dist="19050" dir="5400000" algn="bl" rotWithShape="0">
              <a:srgbClr val="6A8CA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64808" y="3977640"/>
            <a:ext cx="548640" cy="548640"/>
          </a:xfrm>
          <a:prstGeom prst="ellipse">
            <a:avLst/>
          </a:prstGeom>
          <a:solidFill>
            <a:srgbClr val="B530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464808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196328" y="39776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assessment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46634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diagrammatic severity scale; multi-season, multi-location trials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8792" y="6382512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A5F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5000538B-44A6-80EA-FB42-6277E1511C8D}"/>
              </a:ext>
            </a:extLst>
          </p:cNvPr>
          <p:cNvSpPr txBox="1">
            <a:spLocks noGrp="1"/>
          </p:cNvSpPr>
          <p:nvPr>
            <p:ph type="title" idx="100"/>
          </p:nvPr>
        </p:nvSpPr>
        <p:spPr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solidFill>
              <a:srgbClr val="002060"/>
            </a:solidFill>
          </a:ln>
        </p:spPr>
        <p:txBody>
          <a:bodyPr wrap="square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199" b="1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3199" dirty="0"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Acknowledgement 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312C8C4-C4B5-1C58-12C1-8C4DCF8FF572}"/>
              </a:ext>
            </a:extLst>
          </p:cNvPr>
          <p:cNvSpPr txBox="1"/>
          <p:nvPr/>
        </p:nvSpPr>
        <p:spPr>
          <a:xfrm>
            <a:off x="2411632" y="1920633"/>
            <a:ext cx="9228680" cy="11333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NST Fellowship</a:t>
            </a:r>
            <a:r>
              <a:rPr lang="en-US" sz="24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Ministry of Science and Technology</a:t>
            </a:r>
            <a:endParaRPr lang="en-US" sz="2199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D5C2A877-0725-9552-4B53-986C112B1668}"/>
              </a:ext>
            </a:extLst>
          </p:cNvPr>
          <p:cNvSpPr txBox="1"/>
          <p:nvPr/>
        </p:nvSpPr>
        <p:spPr>
          <a:xfrm>
            <a:off x="2394648" y="4049287"/>
            <a:ext cx="9228680" cy="11333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BAURES project ( No. 111/2024/BAU) </a:t>
            </a:r>
          </a:p>
        </p:txBody>
      </p:sp>
      <p:sp>
        <p:nvSpPr>
          <p:cNvPr id="10" name="objective 1 circle">
            <a:extLst>
              <a:ext uri="{FF2B5EF4-FFF2-40B4-BE49-F238E27FC236}">
                <a16:creationId xmlns:a16="http://schemas.microsoft.com/office/drawing/2014/main" id="{549D93D3-20BA-5D94-7D35-864FA7FEED21}"/>
              </a:ext>
            </a:extLst>
          </p:cNvPr>
          <p:cNvSpPr/>
          <p:nvPr/>
        </p:nvSpPr>
        <p:spPr>
          <a:xfrm>
            <a:off x="961457" y="1920632"/>
            <a:ext cx="1191635" cy="1181473"/>
          </a:xfrm>
          <a:prstGeom prst="ellipse">
            <a:avLst/>
          </a:prstGeom>
          <a:solidFill>
            <a:schemeClr val="tx2">
              <a:lumMod val="75000"/>
            </a:schemeClr>
          </a:solidFill>
          <a:ln/>
        </p:spPr>
        <p:txBody>
          <a:bodyPr/>
          <a:lstStyle/>
          <a:p>
            <a:endParaRPr lang="en-US" sz="1799"/>
          </a:p>
        </p:txBody>
      </p:sp>
      <p:sp>
        <p:nvSpPr>
          <p:cNvPr id="14" name="objective 2 circle">
            <a:extLst>
              <a:ext uri="{FF2B5EF4-FFF2-40B4-BE49-F238E27FC236}">
                <a16:creationId xmlns:a16="http://schemas.microsoft.com/office/drawing/2014/main" id="{243D9AC1-6518-D555-6DFD-A95614338086}"/>
              </a:ext>
            </a:extLst>
          </p:cNvPr>
          <p:cNvSpPr/>
          <p:nvPr/>
        </p:nvSpPr>
        <p:spPr>
          <a:xfrm>
            <a:off x="961457" y="3993038"/>
            <a:ext cx="1191636" cy="1181473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US" sz="1799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248FA5-DDC7-CDCB-C459-405D11B1384E}"/>
              </a:ext>
            </a:extLst>
          </p:cNvPr>
          <p:cNvSpPr txBox="1"/>
          <p:nvPr/>
        </p:nvSpPr>
        <p:spPr>
          <a:xfrm>
            <a:off x="1277282" y="2089079"/>
            <a:ext cx="8758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F3F144-7AE1-B8B0-6F0F-9B1E30437B82}"/>
              </a:ext>
            </a:extLst>
          </p:cNvPr>
          <p:cNvSpPr txBox="1"/>
          <p:nvPr/>
        </p:nvSpPr>
        <p:spPr>
          <a:xfrm>
            <a:off x="1291260" y="4168275"/>
            <a:ext cx="8758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937867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600" b="1" dirty="0">
                <a:solidFill>
                  <a:srgbClr val="0B35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20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200" dirty="0">
                <a:solidFill>
                  <a:srgbClr val="B5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suggestions are welcome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dirty="0">
                <a:solidFill>
                  <a:srgbClr val="4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BAURES Project No. 111/BAU/2024 and the NST Fellowship, Ministry of Science and Technology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37</Slides>
  <Notes>29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Office Theme</vt:lpstr>
      <vt:lpstr>PowerPoint Presentation</vt:lpstr>
      <vt:lpstr>IDENTIFICATION AND CHARACTERIZATION OF Cercospora sp. CAUSING LEAF SPOT ON ROSELLE (Hibiscus sabdariffa L.) AND ITS MANAGEMENT </vt:lpstr>
      <vt:lpstr>OUTLINE</vt:lpstr>
      <vt:lpstr>Introduction</vt:lpstr>
      <vt:lpstr> Significance</vt:lpstr>
      <vt:lpstr> Objectives </vt:lpstr>
      <vt:lpstr>Experimental approach</vt:lpstr>
      <vt:lpstr>Methodology · Isolation and identification</vt:lpstr>
      <vt:lpstr>PowerPoint Presentation</vt:lpstr>
      <vt:lpstr>Treatments</vt:lpstr>
      <vt:lpstr>Treatment application and data collection</vt:lpstr>
      <vt:lpstr>Results</vt:lpstr>
      <vt:lpstr>Morphological identification</vt:lpstr>
      <vt:lpstr>Effect of temperatures</vt:lpstr>
      <vt:lpstr>Pathogenicity tests</vt:lpstr>
      <vt:lpstr>Effect of fungicides on mycelial growth</vt:lpstr>
      <vt:lpstr>In vitro evaluation</vt:lpstr>
      <vt:lpstr>Effect of Fungicides on Radial Mycelial Growth </vt:lpstr>
      <vt:lpstr>Antagonistic effects of bio-agents on Radial Mycelial Growth </vt:lpstr>
      <vt:lpstr>Dual culture plates</vt:lpstr>
      <vt:lpstr>PowerPoint Presentation</vt:lpstr>
      <vt:lpstr>Pot and field experiment</vt:lpstr>
      <vt:lpstr>Effect of Treatments on Leaf (pot experiment)</vt:lpstr>
      <vt:lpstr>4.9 Leaf disease — field condition</vt:lpstr>
      <vt:lpstr>4.11 Calyx disease — pot experiment</vt:lpstr>
      <vt:lpstr>4.12 Calyx disease — field condition</vt:lpstr>
      <vt:lpstr>Effect of Treatments on Agronomic parameters(pot experiment)</vt:lpstr>
      <vt:lpstr>4.8 Growth at 180 DAS — pot experiment</vt:lpstr>
      <vt:lpstr>4.10 Growth at 90 DAS — field condition</vt:lpstr>
      <vt:lpstr>4.10 Growth at 180 DAS — field condition</vt:lpstr>
      <vt:lpstr>Yield DATA at 90 DAS — field condition</vt:lpstr>
      <vt:lpstr>4.13 Yield at 180 DAS — field condition</vt:lpstr>
      <vt:lpstr>Key discussion points</vt:lpstr>
      <vt:lpstr>Conclusions</vt:lpstr>
      <vt:lpstr>Recommendations and future work</vt:lpstr>
      <vt:lpstr> Acknowledgement 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Cercospora Leaf Spot of Roselle — MS Thesis Defence</dc:title>
  <dc:subject>PptxGenJS Presentation</dc:subject>
  <dc:creator>Nisha Mazumder</dc:creator>
  <cp:lastModifiedBy>nmnisha15@gmail.com</cp:lastModifiedBy>
  <cp:revision>19</cp:revision>
  <dcterms:created xsi:type="dcterms:W3CDTF">2026-10-27T09:24:29Z</dcterms:created>
  <dcterms:modified xsi:type="dcterms:W3CDTF">2026-10-27T15:02:56Z</dcterms:modified>
</cp:coreProperties>
</file>