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Inhibition (%)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T. asperellum</c:v>
                  </c:pt>
                  <c:pt idx="1">
                    <c:v>T. harzianum</c:v>
                  </c:pt>
                  <c:pt idx="2">
                    <c:v>T. viride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90.74</c:v>
                </c:pt>
                <c:pt idx="1">
                  <c:v>88.15</c:v>
                </c:pt>
                <c:pt idx="2">
                  <c:v>65.93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F2A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ED7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9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5550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4A5550"/>
                    </a:solidFill>
                    <a:latin typeface="Calibri"/>
                  </a:rPr>
                  <a:t>Mycelial growth inhibition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pic" idx="100" hasCustomPrompt="1"/>
          </p:nvPr>
        </p:nvSpPr>
        <p:spPr>
          <a:xfrm>
            <a:off x="5596128" y="411480"/>
            <a:ext cx="1005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logo</a:t>
            </a:r>
            <a:endParaRPr lang="en-US" sz="1100" dirty="0"/>
          </a:p>
        </p:txBody>
      </p:sp>
      <p:sp>
        <p:nvSpPr>
          <p:cNvPr id="3" name="Text 0"/>
          <p:cNvSpPr/>
          <p:nvPr>
            <p:ph type="pic" idx="101" hasCustomPrompt="1"/>
          </p:nvPr>
        </p:nvSpPr>
        <p:spPr>
          <a:xfrm>
            <a:off x="731520" y="4315968"/>
            <a:ext cx="1143000" cy="14813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 Mazumder  ·  MS Thesis Defence  ·  Department of Plant Pathology, BAU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OW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 Mazumder  ·  MS Thesis Defence  ·  Department of Plant Pathology, BAU</a:t>
            </a:r>
            <a:endParaRPr lang="en-US" sz="1000" dirty="0"/>
          </a:p>
        </p:txBody>
      </p:sp>
      <p:sp>
        <p:nvSpPr>
          <p:cNvPr id="3" name="Text 1"/>
          <p:cNvSpPr/>
          <p:nvPr>
            <p:ph type="pic" idx="101" hasCustomPrompt="1"/>
          </p:nvPr>
        </p:nvSpPr>
        <p:spPr>
          <a:xfrm>
            <a:off x="548640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icon to insert a picture</a:t>
            </a:r>
            <a:endParaRPr lang="en-US" sz="1100" dirty="0"/>
          </a:p>
        </p:txBody>
      </p:sp>
      <p:sp>
        <p:nvSpPr>
          <p:cNvPr id="4" name="Text 1"/>
          <p:cNvSpPr/>
          <p:nvPr>
            <p:ph type="pic" idx="102" hasCustomPrompt="1"/>
          </p:nvPr>
        </p:nvSpPr>
        <p:spPr>
          <a:xfrm>
            <a:off x="2807208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icon to insert a picture</a:t>
            </a:r>
            <a:endParaRPr lang="en-US" sz="1100" dirty="0"/>
          </a:p>
        </p:txBody>
      </p:sp>
      <p:sp>
        <p:nvSpPr>
          <p:cNvPr id="5" name="Text 1"/>
          <p:cNvSpPr/>
          <p:nvPr>
            <p:ph type="pic" idx="103" hasCustomPrompt="1"/>
          </p:nvPr>
        </p:nvSpPr>
        <p:spPr>
          <a:xfrm>
            <a:off x="5065776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icon to insert a picture</a:t>
            </a:r>
            <a:endParaRPr lang="en-US" sz="1100" dirty="0"/>
          </a:p>
        </p:txBody>
      </p:sp>
      <p:sp>
        <p:nvSpPr>
          <p:cNvPr id="6" name="Text 1"/>
          <p:cNvSpPr/>
          <p:nvPr>
            <p:ph type="pic" idx="104" hasCustomPrompt="1"/>
          </p:nvPr>
        </p:nvSpPr>
        <p:spPr>
          <a:xfrm>
            <a:off x="7324344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icon to insert a picture</a:t>
            </a:r>
            <a:endParaRPr lang="en-US" sz="1100" dirty="0"/>
          </a:p>
        </p:txBody>
      </p:sp>
      <p:sp>
        <p:nvSpPr>
          <p:cNvPr id="7" name="Text 1"/>
          <p:cNvSpPr/>
          <p:nvPr>
            <p:ph type="pic" idx="105" hasCustomPrompt="1"/>
          </p:nvPr>
        </p:nvSpPr>
        <p:spPr>
          <a:xfrm>
            <a:off x="9582912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icon to insert a picture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 Mazumder  ·  MS Thesis Defence  ·  Department of Plant Pathology, BAU</a:t>
            </a:r>
            <a:endParaRPr lang="en-US" sz="1000" dirty="0"/>
          </a:p>
        </p:txBody>
      </p:sp>
      <p:sp>
        <p:nvSpPr>
          <p:cNvPr id="3" name="Text 1"/>
          <p:cNvSpPr/>
          <p:nvPr>
            <p:ph type="pic" idx="101" hasCustomPrompt="1"/>
          </p:nvPr>
        </p:nvSpPr>
        <p:spPr>
          <a:xfrm>
            <a:off x="548640" y="1481328"/>
            <a:ext cx="274320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icon to insert a picture</a:t>
            </a:r>
            <a:endParaRPr lang="en-US" sz="1100" dirty="0"/>
          </a:p>
        </p:txBody>
      </p:sp>
      <p:sp>
        <p:nvSpPr>
          <p:cNvPr id="4" name="Text 1"/>
          <p:cNvSpPr/>
          <p:nvPr>
            <p:ph type="pic" idx="102" hasCustomPrompt="1"/>
          </p:nvPr>
        </p:nvSpPr>
        <p:spPr>
          <a:xfrm>
            <a:off x="3447288" y="1481328"/>
            <a:ext cx="274320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icon to insert a picture</a:t>
            </a:r>
            <a:endParaRPr lang="en-US" sz="1100" dirty="0"/>
          </a:p>
        </p:txBody>
      </p:sp>
      <p:sp>
        <p:nvSpPr>
          <p:cNvPr id="5" name="Text 1"/>
          <p:cNvSpPr/>
          <p:nvPr>
            <p:ph type="pic" idx="103" hasCustomPrompt="1"/>
          </p:nvPr>
        </p:nvSpPr>
        <p:spPr>
          <a:xfrm>
            <a:off x="548640" y="3694176"/>
            <a:ext cx="274320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icon to insert a picture</a:t>
            </a:r>
            <a:endParaRPr lang="en-US" sz="1100" dirty="0"/>
          </a:p>
        </p:txBody>
      </p:sp>
      <p:sp>
        <p:nvSpPr>
          <p:cNvPr id="6" name="Text 1"/>
          <p:cNvSpPr/>
          <p:nvPr>
            <p:ph type="pic" idx="104" hasCustomPrompt="1"/>
          </p:nvPr>
        </p:nvSpPr>
        <p:spPr>
          <a:xfrm>
            <a:off x="3447288" y="3694176"/>
            <a:ext cx="274320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icon to insert a picture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OW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 Mazumder  ·  MS Thesis Defence  ·  Department of Plant Pathology, BAU</a:t>
            </a:r>
            <a:endParaRPr lang="en-US" sz="1000" dirty="0"/>
          </a:p>
        </p:txBody>
      </p:sp>
      <p:sp>
        <p:nvSpPr>
          <p:cNvPr id="3" name="Text 1"/>
          <p:cNvSpPr/>
          <p:nvPr>
            <p:ph type="pic" idx="101" hasCustomPrompt="1"/>
          </p:nvPr>
        </p:nvSpPr>
        <p:spPr>
          <a:xfrm>
            <a:off x="548640" y="1481328"/>
            <a:ext cx="2624328" cy="26243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icon to insert a picture</a:t>
            </a:r>
            <a:endParaRPr lang="en-US" sz="1100" dirty="0"/>
          </a:p>
        </p:txBody>
      </p:sp>
      <p:sp>
        <p:nvSpPr>
          <p:cNvPr id="4" name="Text 1"/>
          <p:cNvSpPr/>
          <p:nvPr>
            <p:ph type="pic" idx="102" hasCustomPrompt="1"/>
          </p:nvPr>
        </p:nvSpPr>
        <p:spPr>
          <a:xfrm>
            <a:off x="3364992" y="1481328"/>
            <a:ext cx="2624328" cy="26243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icon to insert a picture</a:t>
            </a:r>
            <a:endParaRPr lang="en-US" sz="1100" dirty="0"/>
          </a:p>
        </p:txBody>
      </p:sp>
      <p:sp>
        <p:nvSpPr>
          <p:cNvPr id="5" name="Text 1"/>
          <p:cNvSpPr/>
          <p:nvPr>
            <p:ph type="pic" idx="103" hasCustomPrompt="1"/>
          </p:nvPr>
        </p:nvSpPr>
        <p:spPr>
          <a:xfrm>
            <a:off x="6181344" y="1481328"/>
            <a:ext cx="2624328" cy="26243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icon to insert a picture</a:t>
            </a:r>
            <a:endParaRPr lang="en-US" sz="1100" dirty="0"/>
          </a:p>
        </p:txBody>
      </p:sp>
      <p:sp>
        <p:nvSpPr>
          <p:cNvPr id="6" name="Text 1"/>
          <p:cNvSpPr/>
          <p:nvPr>
            <p:ph type="pic" idx="104" hasCustomPrompt="1"/>
          </p:nvPr>
        </p:nvSpPr>
        <p:spPr>
          <a:xfrm>
            <a:off x="8997696" y="1481328"/>
            <a:ext cx="2624328" cy="26243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icon to insert a picture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 Mazumder  ·  MS Thesis Defence  ·  Department of Plant Pathology, BAU</a:t>
            </a:r>
            <a:endParaRPr lang="en-US" sz="1000" dirty="0"/>
          </a:p>
        </p:txBody>
      </p:sp>
      <p:sp>
        <p:nvSpPr>
          <p:cNvPr id="3" name="Text 1"/>
          <p:cNvSpPr/>
          <p:nvPr>
            <p:ph type="pic" idx="101" hasCustomPrompt="1"/>
          </p:nvPr>
        </p:nvSpPr>
        <p:spPr>
          <a:xfrm>
            <a:off x="548640" y="1481328"/>
            <a:ext cx="6492240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icon to insert a picture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 Mazumder  ·  MS Thesis Defence  ·  Department of Plant Pathology, BAU</a:t>
            </a:r>
            <a:endParaRPr lang="en-US" sz="1000" dirty="0"/>
          </a:p>
        </p:txBody>
      </p:sp>
      <p:sp>
        <p:nvSpPr>
          <p:cNvPr id="3" name="Text 1"/>
          <p:cNvSpPr/>
          <p:nvPr>
            <p:ph type="pic" idx="101" hasCustomPrompt="1"/>
          </p:nvPr>
        </p:nvSpPr>
        <p:spPr>
          <a:xfrm>
            <a:off x="548640" y="1481328"/>
            <a:ext cx="3154680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icon to insert a picture</a:t>
            </a:r>
            <a:endParaRPr lang="en-US" sz="1100" dirty="0"/>
          </a:p>
        </p:txBody>
      </p:sp>
      <p:sp>
        <p:nvSpPr>
          <p:cNvPr id="4" name="Text 1"/>
          <p:cNvSpPr/>
          <p:nvPr>
            <p:ph type="pic" idx="102" hasCustomPrompt="1"/>
          </p:nvPr>
        </p:nvSpPr>
        <p:spPr>
          <a:xfrm>
            <a:off x="3886200" y="1481328"/>
            <a:ext cx="3154680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icon to insert a picture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IR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 Mazumder  ·  MS Thesis Defence  ·  Department of Plant Pathology, BAU</a:t>
            </a:r>
            <a:endParaRPr lang="en-US" sz="1000" dirty="0"/>
          </a:p>
        </p:txBody>
      </p:sp>
      <p:sp>
        <p:nvSpPr>
          <p:cNvPr id="3" name="Text 1"/>
          <p:cNvSpPr/>
          <p:nvPr>
            <p:ph type="pic" idx="101" hasCustomPrompt="1"/>
          </p:nvPr>
        </p:nvSpPr>
        <p:spPr>
          <a:xfrm>
            <a:off x="5623560" y="1481328"/>
            <a:ext cx="2926080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icon to insert a picture</a:t>
            </a:r>
            <a:endParaRPr lang="en-US" sz="1100" dirty="0"/>
          </a:p>
        </p:txBody>
      </p:sp>
      <p:sp>
        <p:nvSpPr>
          <p:cNvPr id="4" name="Text 1"/>
          <p:cNvSpPr/>
          <p:nvPr>
            <p:ph type="pic" idx="102" hasCustomPrompt="1"/>
          </p:nvPr>
        </p:nvSpPr>
        <p:spPr>
          <a:xfrm>
            <a:off x="8714232" y="1481328"/>
            <a:ext cx="2926080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icon to insert a picture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Background" Type="http://schemas.openxmlformats.org/officeDocument/2006/relationships/image" Target="../media/background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Background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60520"/>
            <a:ext cx="3611880" cy="178308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0"/>
          <p:cNvSpPr/>
          <p:nvPr>
            <p:ph type="pic" idx="100" hasCustomPrompt="1"/>
          </p:nvPr>
        </p:nvSpPr>
        <p:spPr>
          <a:xfrm>
            <a:off x="5596128" y="4114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" name="Text 0"/>
          <p:cNvSpPr/>
          <p:nvPr>
            <p:ph type="pic" idx="101" hasCustomPrompt="1"/>
          </p:nvPr>
        </p:nvSpPr>
        <p:spPr>
          <a:xfrm>
            <a:off x="731520" y="4315968"/>
            <a:ext cx="114300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THESIS DEFENCE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01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Plant Pathology  ·  Bangladesh Agricultural University, Mymensingh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286000"/>
            <a:ext cx="9994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 AND CHARACTERIZATION OF </a:t>
            </a:r>
            <a:r>
              <a:rPr lang="en-US" sz="2700" b="1" i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Cercospora</a:t>
            </a:r>
            <a:r>
              <a:rPr lang="en-US" sz="27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sp. CAUSING LEAF SPOT ON ROSELLE (</a:t>
            </a:r>
            <a:r>
              <a:rPr lang="en-US" sz="2700" b="1" i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Hibiscus sabdariffa</a:t>
            </a:r>
            <a:r>
              <a:rPr lang="en-US" sz="27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L.) AND ITS MANAGEMENT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2029968" y="4315968"/>
            <a:ext cx="2057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Nisha Mazumder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No.: 24120508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No.: 49427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Session: 2018–19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4160520"/>
            <a:ext cx="3566160" cy="178308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4568" y="4315968"/>
            <a:ext cx="3200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Prof. Dr. Mohammad Delwar Hossain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Department of Plant Pathology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Agricultural University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Mymensingh-2202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74152" y="4160520"/>
            <a:ext cx="3566160" cy="178308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4315968"/>
            <a:ext cx="3200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CO-SUPERVISOR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Prof. Dr. Islam Hamim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and Head, Department of Plant Pathology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Agricultural University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Mymensingh-2202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002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A5C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1600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significance of the study and objectives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74520" y="2551176"/>
            <a:ext cx="8686800" cy="0"/>
          </a:xfrm>
          <a:prstGeom prst="line">
            <a:avLst/>
          </a:prstGeom>
          <a:noFill/>
          <a:ln w="9525">
            <a:solidFill>
              <a:srgbClr val="D3DED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67919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A5C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67919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 and Methods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Laboratory, pot and field experiments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874520" y="3630168"/>
            <a:ext cx="8686800" cy="0"/>
          </a:xfrm>
          <a:prstGeom prst="line">
            <a:avLst/>
          </a:prstGeom>
          <a:noFill/>
          <a:ln w="9525">
            <a:solidFill>
              <a:srgbClr val="D3DED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758184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A5C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375818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Identification, in vitro evaluation, pot and field evaluation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874520" y="4709160"/>
            <a:ext cx="8686800" cy="0"/>
          </a:xfrm>
          <a:prstGeom prst="line">
            <a:avLst/>
          </a:prstGeom>
          <a:noFill/>
          <a:ln w="9525">
            <a:solidFill>
              <a:srgbClr val="D3DED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837176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A5C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483717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and Conclusions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Discussion, conclusions and recommendations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955280" y="150876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7A5C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834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 ·  Significance  ·  Objectives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Roselle: a multipurpose crop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38728" cy="420624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731520" cy="73152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crop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3756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Roselle (</a:t>
            </a:r>
            <a:r>
              <a:rPr lang="en-US" sz="15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Hibiscus sabdariffa</a:t>
            </a: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L.) is a multipurpose annual crop of the family Malvaceae, locally known as ‘Chukur’ or ‘Mesta’ (Islam, 2019).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325112" y="1600200"/>
            <a:ext cx="3538728" cy="420624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45152" y="1920240"/>
            <a:ext cx="731520" cy="73152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103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45152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Its uses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45152" y="333756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Grown for bast fibre, calyces (tea, jam and syrup), edible leaves and seed oil (Chew et al., 2024).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8101584" y="1600200"/>
            <a:ext cx="3538728" cy="420624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21624" y="1920240"/>
            <a:ext cx="731520" cy="73152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2103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21624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Its value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21624" y="333756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Calyces are rich in anthocyanins and phenolics with antihypertensive, antioxidant and antimicrobial activity (Da-Costa-Rocha et al., 2014).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Significance of the study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20840" cy="420624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6263640" cy="3840480"/>
          </a:xfrm>
          <a:prstGeom prst="rect">
            <a:avLst/>
          </a:prstGeom>
          <a:noFill/>
          <a:ln/>
        </p:spPr>
        <p:txBody>
          <a:bodyPr wrap="square" lIns="50800" tIns="50800" rIns="76200" bIns="5080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diseases reduce photosynthetic leaf area, calyx number and fibre quality.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spot fungi of different genera (</a:t>
            </a:r>
            <a:r>
              <a:rPr lang="en-US" sz="18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Corynespora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Coniella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produce near-identical lesions, so symptoms alone cannot confirm the cause.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leaf spots occur on 17 </a:t>
            </a:r>
            <a:r>
              <a:rPr lang="en-US" sz="18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Hibiscus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species and can cause complete crop loss (Park et al., 2017).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leaf spot of uncertain cause appeared in roselle fields of Mymensingh and Tangail.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43800" y="1600200"/>
            <a:ext cx="4096512" cy="2011680"/>
          </a:xfrm>
          <a:prstGeom prst="rect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18120" y="1783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25603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incidence of </a:t>
            </a:r>
            <a:r>
              <a:rPr lang="en-US" sz="1350" i="1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Corynespora</a:t>
            </a:r>
            <a:r>
              <a:rPr lang="en-US" sz="135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leaf and calyx spot of roselle in Mexico (Ortega-Acosta et al., 2016)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543800" y="3794760"/>
            <a:ext cx="4096512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D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18120" y="3977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prior report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4663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</a:t>
            </a:r>
            <a:r>
              <a:rPr lang="en-US" sz="13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leaf spot of roselle, its identity or its management in Bangladesh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 study was undertaken with the following objectives: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150876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78608"/>
            <a:ext cx="658368" cy="65836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578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48840"/>
            <a:ext cx="95371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isolate and identify the causal fungus of leaf spot disease of roselle on the basis of its cultural and morphological characteristics.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91672" cy="150876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4361688"/>
            <a:ext cx="658368" cy="65836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361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931920"/>
            <a:ext cx="95371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the efficacy of </a:t>
            </a:r>
            <a:r>
              <a:rPr lang="en-US" sz="19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Trichoderma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spp. (</a:t>
            </a:r>
            <a:r>
              <a:rPr lang="en-US" sz="19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asperellum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9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harzianum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9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viride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selected fungicides in the management of </a:t>
            </a:r>
            <a:r>
              <a:rPr lang="en-US" sz="19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leaf spot of roselle.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955280" y="150876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7A5C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834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 and Methods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 ·  Pot experiment  ·  Field experiment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METHODS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38728" cy="452628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19072"/>
            <a:ext cx="566928" cy="56692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60804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6733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</a:t>
            </a:r>
            <a:endParaRPr lang="en-US" sz="19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  ·  3 replications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60320"/>
            <a:ext cx="3200400" cy="3383280"/>
          </a:xfrm>
          <a:prstGeom prst="rect">
            <a:avLst/>
          </a:prstGeom>
          <a:noFill/>
          <a:ln/>
        </p:spPr>
        <p:txBody>
          <a:bodyPr wrap="square" lIns="50800" tIns="50800" rIns="76200" bIns="5080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diseased leaves from Mymensingh and Tangail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on PDA and single-spore purification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and morphological identification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at 10, 15, 20, 25 and 30 °C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Pathogenicity test (Koch’s postulates)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food: 4 fungicides × 5 doses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culture: 3 </a:t>
            </a:r>
            <a:r>
              <a:rPr lang="en-US" sz="13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Trichoderma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spp.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25112" y="1508760"/>
            <a:ext cx="3538728" cy="452628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9432" y="1719072"/>
            <a:ext cx="566928" cy="56692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164" y="1860804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12664" y="16733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 experiment</a:t>
            </a:r>
            <a:endParaRPr lang="en-US" sz="19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house, SPC, BAU  ·  CRD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507992" y="2560320"/>
            <a:ext cx="3200400" cy="3383280"/>
          </a:xfrm>
          <a:prstGeom prst="rect">
            <a:avLst/>
          </a:prstGeom>
          <a:noFill/>
          <a:ln/>
        </p:spPr>
        <p:txBody>
          <a:bodyPr wrap="square" lIns="50800" tIns="50800" rIns="76200" bIns="5080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Sterilized clay loam soil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red roselle variety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treatments (T0–T6)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and growth data at 90 and 180 DAS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01584" y="1508760"/>
            <a:ext cx="3538728" cy="452628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75904" y="1719072"/>
            <a:ext cx="566928" cy="56692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636" y="1860804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89136" y="16733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experiment</a:t>
            </a:r>
            <a:endParaRPr lang="en-US" sz="19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Pathology field, BAU  ·  RCBD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284464" y="2560320"/>
            <a:ext cx="3200400" cy="3383280"/>
          </a:xfrm>
          <a:prstGeom prst="rect">
            <a:avLst/>
          </a:prstGeom>
          <a:noFill/>
          <a:ln/>
        </p:spPr>
        <p:txBody>
          <a:bodyPr wrap="square" lIns="50800" tIns="50800" rIns="76200" bIns="5080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Sown on 30 March 2025, line sowing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manures and fertilizers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7 treatments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Disease, growth and yield data at 90 and 180 DAS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pic" idx="101" hasCustomPrompt="1"/>
          </p:nvPr>
        </p:nvSpPr>
        <p:spPr>
          <a:xfrm>
            <a:off x="548640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type="pic" idx="102" hasCustomPrompt="1"/>
          </p:nvPr>
        </p:nvSpPr>
        <p:spPr>
          <a:xfrm>
            <a:off x="2807208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type="pic" idx="103" hasCustomPrompt="1"/>
          </p:nvPr>
        </p:nvSpPr>
        <p:spPr>
          <a:xfrm>
            <a:off x="5065776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type="pic" idx="104" hasCustomPrompt="1"/>
          </p:nvPr>
        </p:nvSpPr>
        <p:spPr>
          <a:xfrm>
            <a:off x="7324344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" name="Text 1"/>
          <p:cNvSpPr/>
          <p:nvPr>
            <p:ph type="pic" idx="105" hasCustomPrompt="1"/>
          </p:nvPr>
        </p:nvSpPr>
        <p:spPr>
          <a:xfrm>
            <a:off x="9582912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METHODS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and identification of the pathogen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Infected leaves collected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807208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Surface sterilization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65776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Plating on PDA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24344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Single-spore pure culture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582912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Microscopic observation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11091672" cy="1508760"/>
          </a:xfrm>
          <a:prstGeom prst="rect">
            <a:avLst/>
          </a:prstGeom>
          <a:noFill/>
          <a:ln/>
        </p:spPr>
        <p:txBody>
          <a:bodyPr wrap="square" lIns="50800" tIns="50800" rIns="76200" bIns="5080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Infected leaves collected from Mymensingh and Tangail; surface sterilized with 70% ethanol and 1% NaOCl.</a:t>
            </a:r>
            <a:endParaRPr lang="en-US" sz="14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Plated on PDA at 30 ± 2 °C for 7–9 days; pure culture obtained by single-spore isolation.</a:t>
            </a:r>
            <a:endParaRPr lang="en-US" sz="14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on the basis of colony characters, conidiophores and conidia (Chupp, 1954; Crous and Braun, 2003).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150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Illustration.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and identification of the pathogen (Park et al., 2017)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pic" idx="101" hasCustomPrompt="1"/>
          </p:nvPr>
        </p:nvSpPr>
        <p:spPr>
          <a:xfrm>
            <a:off x="548640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type="pic" idx="102" hasCustomPrompt="1"/>
          </p:nvPr>
        </p:nvSpPr>
        <p:spPr>
          <a:xfrm>
            <a:off x="2807208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type="pic" idx="103" hasCustomPrompt="1"/>
          </p:nvPr>
        </p:nvSpPr>
        <p:spPr>
          <a:xfrm>
            <a:off x="5065776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type="pic" idx="104" hasCustomPrompt="1"/>
          </p:nvPr>
        </p:nvSpPr>
        <p:spPr>
          <a:xfrm>
            <a:off x="7324344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" name="Text 1"/>
          <p:cNvSpPr/>
          <p:nvPr>
            <p:ph type="pic" idx="105" hasCustomPrompt="1"/>
          </p:nvPr>
        </p:nvSpPr>
        <p:spPr>
          <a:xfrm>
            <a:off x="9582912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METHODS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Pathogenicity test and effect of temperature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Culture on PDA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807208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Mycelial disc cut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65776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Disc on attached leaf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24344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Control: sterile PDA disc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582912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Re-isolation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11091672" cy="1600200"/>
          </a:xfrm>
          <a:prstGeom prst="rect">
            <a:avLst/>
          </a:prstGeom>
          <a:noFill/>
          <a:ln/>
        </p:spPr>
        <p:txBody>
          <a:bodyPr wrap="square" lIns="50800" tIns="50800" rIns="76200" bIns="5080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grown on PDA at 25 ± 2 °C for 7 days; mycelial disc cut with a cork borer and placed on a non-wounded attached leaf, secured with moist cotton and cellophane tape.</a:t>
            </a:r>
            <a:endParaRPr lang="en-US" sz="14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Sterile PDA disc used as the control; pathogen re-isolated from lesions to fulfil Koch’s postulates.</a:t>
            </a:r>
            <a:endParaRPr lang="en-US" sz="14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temperature: mycelial discs on PDA incubated at 10, 15, 20, 25 and 30 °C; radial growth measured at 10 DAI.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150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Illustration.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Pathogenicity test on 2-month-old pot-grown roselle plants (3 replications)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METHODS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vitro evaluation of fungicides and bioagents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9824" cy="342900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Fungicides</a:t>
            </a:r>
            <a:endParaRPr lang="en-US" sz="2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food technique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5074920" cy="1600200"/>
          </a:xfrm>
          <a:prstGeom prst="rect">
            <a:avLst/>
          </a:prstGeom>
          <a:noFill/>
          <a:ln/>
        </p:spPr>
        <p:txBody>
          <a:bodyPr wrap="square" lIns="50800" tIns="50800" rIns="76200" bIns="5080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 75 WG (Tebuconazole 50% + Trifloxystrobin 25%)</a:t>
            </a:r>
            <a:endParaRPr lang="en-US" sz="14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 250 EC (Propiconazole 25%)</a:t>
            </a:r>
            <a:endParaRPr lang="en-US" sz="14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Bavistin 50 WP (Carbendazim 50%)</a:t>
            </a:r>
            <a:endParaRPr lang="en-US" sz="14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Folicur 250 EC (Tebuconazole 25%)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69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50, 100, 250, 500 and 1000 ppm in PDA; 5 mm pathogen disc; 30 ± 2 °C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0488" y="1508760"/>
            <a:ext cx="5449824" cy="342900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64808" y="1645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Bioagents</a:t>
            </a:r>
            <a:endParaRPr lang="en-US" sz="2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culture technique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373368" y="2423160"/>
            <a:ext cx="5074920" cy="1600200"/>
          </a:xfrm>
          <a:prstGeom prst="rect">
            <a:avLst/>
          </a:prstGeom>
          <a:noFill/>
          <a:ln/>
        </p:spPr>
        <p:txBody>
          <a:bodyPr wrap="square" lIns="50800" tIns="50800" rIns="76200" bIns="5080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Trichoderma asperellum</a:t>
            </a: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(AB935955)</a:t>
            </a:r>
            <a:endParaRPr lang="en-US" sz="14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Trichoderma harzianum</a:t>
            </a: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(AB935952)</a:t>
            </a:r>
            <a:endParaRPr lang="en-US" sz="14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Trichoderma viride</a:t>
            </a: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(TV6)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64808" y="4069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mm discs of pathogen and antagonist on opposite sides of a PDA plate; 25 ± 2 °C until control plates were full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1672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4D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12064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 inhibition,  L = [(C − T) / C] × 100</a:t>
            </a:r>
            <a:endParaRPr lang="en-US" sz="19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 = radial growth in the control and T = radial growth in the treatment (Vincent, 1947)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pic" idx="101" hasCustomPrompt="1"/>
          </p:nvPr>
        </p:nvSpPr>
        <p:spPr>
          <a:xfrm>
            <a:off x="5623560" y="1481328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type="pic" idx="102" hasCustomPrompt="1"/>
          </p:nvPr>
        </p:nvSpPr>
        <p:spPr>
          <a:xfrm>
            <a:off x="8714232" y="1481328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METHODS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 and field experiments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sites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4846320" cy="2103120"/>
          </a:xfrm>
          <a:prstGeom prst="rect">
            <a:avLst/>
          </a:prstGeom>
          <a:noFill/>
          <a:ln/>
        </p:spPr>
        <p:txBody>
          <a:bodyPr wrap="square" lIns="50800" tIns="50800" rIns="76200" bIns="5080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Pot: net house, Prof. Golam Ali Fakir Seed Pathology Center, BAU (CRD).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Plant Pathology field laboratory, BAU (RCBD); clay loam soil, pH 6.5.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Variety: deep red plant with deep red calyx; sown on 30 March 2025.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4846320" cy="1069848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160520"/>
            <a:ext cx="44805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Fungicides @ 500 ppm;  bioagents @ 10⁸ CFU/ml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5285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Pot experiment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714232" y="5285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 Field experiment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METHODS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Treatments and spray schedule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675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480560"/>
                <a:gridCol w="14630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Untreated control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Nativo 75 WG (tebuconazole + trifloxystrobin)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ppm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Tilt 250 EC (propiconazole)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ppm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Folicur 250 EC (tebuconazole)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ppm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Trichoderma harzianum</a:t>
                      </a: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(AB935952)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10⁸ CFU/ml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Trichoderma viride</a:t>
                      </a: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(TV6)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10⁸ CFU/ml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Trichoderma asperellum</a:t>
                      </a: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(AB935955)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10⁸ CFU/ml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58952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sequence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781544" y="2377440"/>
            <a:ext cx="0" cy="402336"/>
          </a:xfrm>
          <a:prstGeom prst="line">
            <a:avLst/>
          </a:prstGeom>
          <a:noFill/>
          <a:ln w="19050">
            <a:solidFill>
              <a:srgbClr val="D3DE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89520" y="1993392"/>
            <a:ext cx="384048" cy="38404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193852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spray of treatments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781544" y="3163824"/>
            <a:ext cx="0" cy="402336"/>
          </a:xfrm>
          <a:prstGeom prst="line">
            <a:avLst/>
          </a:prstGeom>
          <a:noFill/>
          <a:ln w="19050">
            <a:solidFill>
              <a:srgbClr val="D3DE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0" y="2779776"/>
            <a:ext cx="384048" cy="38404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272491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+ 48 h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spore suspension applied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781544" y="3950208"/>
            <a:ext cx="0" cy="402336"/>
          </a:xfrm>
          <a:prstGeom prst="line">
            <a:avLst/>
          </a:prstGeom>
          <a:noFill/>
          <a:ln w="19050">
            <a:solidFill>
              <a:srgbClr val="D3DED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89520" y="3566160"/>
            <a:ext cx="384048" cy="38404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8952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351129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+ 48 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spray of treatments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589520" y="4352544"/>
            <a:ext cx="384048" cy="38404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8952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138160" y="42976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25 days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sprays until harvest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7589520" y="51663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after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Abo-Elyousr et al. (2017)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Recorded: disease incidence and severity (0–5 scale) on leaves and calyces; growth and yield traits.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METHODS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assessment and data collection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rating scale (0–5)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(Apeyuan et al., 2017)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94560"/>
                <a:gridCol w="19202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area infected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infection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&gt;0–4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mild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&gt;4–12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&gt;12–29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&gt;29–57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&gt;57–100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severe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828800"/>
            <a:ext cx="5605272" cy="114300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63640" y="182880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incidence (%)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(Number of infected leaves or calyces ÷ Total number examined) × 100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35040" y="3127248"/>
            <a:ext cx="5605272" cy="114300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63640" y="3127248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severity (%)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Σ(Rating × Number in that rating) ÷ (Maximum rating × Total number) × 100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035040" y="4425696"/>
            <a:ext cx="5605272" cy="114300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4425696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and yield (90 and 180 DAS)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height, base diameter, branches, leaves, leaf weight, fruit number, capsule and calyx weight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955280" y="150876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7A5C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6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834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 ·  In vitro evaluation  ·  Pot and field evaluation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pic" idx="101" hasCustomPrompt="1"/>
          </p:nvPr>
        </p:nvSpPr>
        <p:spPr>
          <a:xfrm>
            <a:off x="548640" y="1481328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type="pic" idx="102" hasCustomPrompt="1"/>
          </p:nvPr>
        </p:nvSpPr>
        <p:spPr>
          <a:xfrm>
            <a:off x="3447288" y="1481328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type="pic" idx="103" hasCustomPrompt="1"/>
          </p:nvPr>
        </p:nvSpPr>
        <p:spPr>
          <a:xfrm>
            <a:off x="548640" y="3694176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type="pic" idx="104" hasCustomPrompt="1"/>
          </p:nvPr>
        </p:nvSpPr>
        <p:spPr>
          <a:xfrm>
            <a:off x="3447288" y="3694176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IDENTIFICATION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Symptoms of the disease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00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Early symptom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3300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Developed spot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13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Coalesced spots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5513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Defoliation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1481328"/>
            <a:ext cx="5193792" cy="425196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1691640"/>
            <a:ext cx="4846320" cy="3931920"/>
          </a:xfrm>
          <a:prstGeom prst="rect">
            <a:avLst/>
          </a:prstGeom>
          <a:noFill/>
          <a:ln/>
        </p:spPr>
        <p:txBody>
          <a:bodyPr wrap="square" lIns="50800" tIns="50800" rIns="76200" bIns="5080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circular to irregular, brown to reddish-brown necrotic spots, often restricted by leaf veins.</a:t>
            </a:r>
            <a:endParaRPr lang="en-US" sz="16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enlarged to about 10 mm, with pale brown to greyish-white centres and a dark reddish-purple margin.</a:t>
            </a:r>
            <a:endParaRPr lang="en-US" sz="16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humid conditions, centres turned grey from abundant conidiophores and conidia.</a:t>
            </a:r>
            <a:endParaRPr lang="en-US" sz="16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advanced stage, spots coalesced; leaves became chlorotic, dried and dropped prematurely.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436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  </a:t>
            </a:r>
            <a:r>
              <a:rPr lang="en-US" sz="110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leaf spot symptoms on roselle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pic" idx="101" hasCustomPrompt="1"/>
          </p:nvPr>
        </p:nvSpPr>
        <p:spPr>
          <a:xfrm>
            <a:off x="548640" y="1481328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type="pic" idx="102" hasCustomPrompt="1"/>
          </p:nvPr>
        </p:nvSpPr>
        <p:spPr>
          <a:xfrm>
            <a:off x="3447288" y="1481328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type="pic" idx="103" hasCustomPrompt="1"/>
          </p:nvPr>
        </p:nvSpPr>
        <p:spPr>
          <a:xfrm>
            <a:off x="548640" y="3694176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type="pic" idx="104" hasCustomPrompt="1"/>
          </p:nvPr>
        </p:nvSpPr>
        <p:spPr>
          <a:xfrm>
            <a:off x="3447288" y="3694176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IDENTIFICATION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Isolation and morphological identification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00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Diseased leaves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3300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Upper view of colony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13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Mycelium and conidiophores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5513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Conidia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1481328"/>
            <a:ext cx="5193792" cy="91440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148132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Colony on PDA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moderate growth; greyish-white, olive-grey to dark grey mycelium of branched, septate hyphae.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46520" y="2505456"/>
            <a:ext cx="5193792" cy="91440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505456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Conidiophores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Pigmented, septate, arising in fascicles.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46520" y="3529584"/>
            <a:ext cx="5193792" cy="91440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352958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Conidia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Hyaline to pale olivaceous, cylindrical to obclavate, multiseptate.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46520" y="4572000"/>
            <a:ext cx="5193792" cy="1161288"/>
          </a:xfrm>
          <a:prstGeom prst="rect">
            <a:avLst/>
          </a:prstGeom>
          <a:solidFill>
            <a:srgbClr val="FFFFFF"/>
          </a:solidFill>
          <a:ln w="15875">
            <a:solidFill>
              <a:srgbClr val="1E4D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29400" y="4572000"/>
            <a:ext cx="48463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Provisionally identified as </a:t>
            </a:r>
            <a:r>
              <a:rPr lang="en-US" sz="13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sp. (Crous and Braun, 2003). Conidial size suggests </a:t>
            </a:r>
            <a:r>
              <a:rPr lang="en-US" sz="13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malayensis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multilocus sequencing is needed for species-level identification.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436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structures of </a:t>
            </a:r>
            <a:r>
              <a:rPr lang="en-US" sz="110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pic" idx="101" hasCustomPrompt="1"/>
          </p:nvPr>
        </p:nvSpPr>
        <p:spPr>
          <a:xfrm>
            <a:off x="548640" y="1481328"/>
            <a:ext cx="649224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IDENTIFICATION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Effect of temperature on mycelial growth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0" y="1481328"/>
            <a:ext cx="4325112" cy="1600200"/>
          </a:xfrm>
          <a:prstGeom prst="rect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0" y="1481328"/>
            <a:ext cx="3840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90.00 mm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rgbClr val="C9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radial growth at 20 °C (10 DAI)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3291840"/>
            <a:ext cx="4325112" cy="2377440"/>
          </a:xfrm>
          <a:prstGeom prst="rect">
            <a:avLst/>
          </a:prstGeom>
          <a:noFill/>
          <a:ln/>
        </p:spPr>
        <p:txBody>
          <a:bodyPr wrap="square" lIns="50800" tIns="50800" rIns="76200" bIns="5080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Temperatures tested: 10, 15, 20, 25 and 30 °C.</a:t>
            </a:r>
            <a:endParaRPr lang="en-US" sz="16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at 20 °C was significantly higher than at the other temperatures at 10 DAI.</a:t>
            </a:r>
            <a:endParaRPr lang="en-US" sz="16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range for radial growth: 20–22 °C; lowest growth at 10 °C.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7607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temperature on the radial mycelial growth of </a:t>
            </a:r>
            <a:r>
              <a:rPr lang="en-US" sz="110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sp. on PDA at 10 DAI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pic" idx="101" hasCustomPrompt="1"/>
          </p:nvPr>
        </p:nvSpPr>
        <p:spPr>
          <a:xfrm>
            <a:off x="548640" y="1481328"/>
            <a:ext cx="31546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type="pic" idx="102" hasCustomPrompt="1"/>
          </p:nvPr>
        </p:nvSpPr>
        <p:spPr>
          <a:xfrm>
            <a:off x="3886200" y="1481328"/>
            <a:ext cx="31546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IDENTIFICATION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 Pathogenicity test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2852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Healthy leaves (control)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86200" y="52852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Infected leaves, 4 DAI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1481328"/>
            <a:ext cx="4325112" cy="406908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0" y="1691640"/>
            <a:ext cx="3977640" cy="3749040"/>
          </a:xfrm>
          <a:prstGeom prst="rect">
            <a:avLst/>
          </a:prstGeom>
          <a:noFill/>
          <a:ln/>
        </p:spPr>
        <p:txBody>
          <a:bodyPr wrap="square" lIns="50800" tIns="50800" rIns="76200" bIns="5080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on non-detached leaves of pot-grown plants, without wounding the tissue.</a:t>
            </a:r>
            <a:endParaRPr lang="en-US" sz="16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brown necrotic lesions appeared 4 days after inoculation.</a:t>
            </a:r>
            <a:endParaRPr lang="en-US" sz="16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leaves remained healthy.</a:t>
            </a:r>
            <a:endParaRPr lang="en-US" sz="16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twice with similar results; the pathogen was re-isolated, fulfilling Koch’s postulates.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7607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Pathogenicity test of </a:t>
            </a:r>
            <a:r>
              <a:rPr lang="en-US" sz="110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sp. on roselle: (a) healthy leaves; (b) infected leaves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pic" idx="101" hasCustomPrompt="1"/>
          </p:nvPr>
        </p:nvSpPr>
        <p:spPr>
          <a:xfrm>
            <a:off x="548640" y="1481328"/>
            <a:ext cx="649224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IN VITRO EVALUATION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Effect of fungicides on mycelial growth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0" y="1481328"/>
            <a:ext cx="4325112" cy="416052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1691640"/>
            <a:ext cx="3977640" cy="3840480"/>
          </a:xfrm>
          <a:prstGeom prst="rect">
            <a:avLst/>
          </a:prstGeom>
          <a:noFill/>
          <a:ln/>
        </p:spPr>
        <p:txBody>
          <a:bodyPr wrap="square" lIns="50800" tIns="50800" rIns="76200" bIns="5080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showed the highest growth (90.00 mm) at 10 DAI.</a:t>
            </a:r>
            <a:endParaRPr lang="en-US" sz="16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inhibition (0.00 mm growth): Nativo 75 WG @ 250, 500 and 1000 ppm; Tilt 250 EC @ 500 and 1000 ppm; Bavistin @ 500 and 1000 ppm; Folicur @ 1000 ppm.</a:t>
            </a:r>
            <a:endParaRPr lang="en-US" sz="16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inhibition: Folicur @ 50 ppm (25.66%, 43.15% and 49.08% at 6, 8 and 10 DAI).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7607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7.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fungicides and doses on radial mycelial growth inhibition of </a:t>
            </a:r>
            <a:r>
              <a:rPr lang="en-US" sz="110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sp. at (a) 6, (b) 8 and (c) 10 DAI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pic" idx="101" hasCustomPrompt="1"/>
          </p:nvPr>
        </p:nvSpPr>
        <p:spPr>
          <a:xfrm>
            <a:off x="548640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type="pic" idx="102" hasCustomPrompt="1"/>
          </p:nvPr>
        </p:nvSpPr>
        <p:spPr>
          <a:xfrm>
            <a:off x="2807208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type="pic" idx="103" hasCustomPrompt="1"/>
          </p:nvPr>
        </p:nvSpPr>
        <p:spPr>
          <a:xfrm>
            <a:off x="5065776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type="pic" idx="104" hasCustomPrompt="1"/>
          </p:nvPr>
        </p:nvSpPr>
        <p:spPr>
          <a:xfrm>
            <a:off x="7324344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" name="Text 1"/>
          <p:cNvSpPr/>
          <p:nvPr>
            <p:ph type="pic" idx="105" hasCustomPrompt="1"/>
          </p:nvPr>
        </p:nvSpPr>
        <p:spPr>
          <a:xfrm>
            <a:off x="9582912" y="1481328"/>
            <a:ext cx="2057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IN VITRO EVALUATION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Fungicides at 500 ppm on PDA (10 DAI)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Control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807208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Nativo 75 WG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65776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Tilt 250 EC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24344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Bavistin 50 WP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582912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Folicur 250 EC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91672" cy="132588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160520"/>
            <a:ext cx="10725912" cy="1097280"/>
          </a:xfrm>
          <a:prstGeom prst="rect">
            <a:avLst/>
          </a:prstGeom>
          <a:noFill/>
          <a:ln/>
        </p:spPr>
        <p:txBody>
          <a:bodyPr wrap="square" lIns="50800" tIns="50800" rIns="76200" bIns="5080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untreated control plate was fully covered (90.00 mm) at 10 DAI.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 75 WG, Tilt 250 EC and Bavistin at 500 ppm completely inhibited mycelial growth.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7150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8.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fungicides at 500 ppm on radial mycelial growth of </a:t>
            </a:r>
            <a:r>
              <a:rPr lang="en-US" sz="110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sp. at 10 DAI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IN VITRO EVALUATION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 Antagonistic effect of bioagents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81328"/>
          <a:ext cx="6492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481328"/>
            <a:ext cx="4325112" cy="416052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0" y="1691640"/>
            <a:ext cx="3977640" cy="3840480"/>
          </a:xfrm>
          <a:prstGeom prst="rect">
            <a:avLst/>
          </a:prstGeom>
          <a:noFill/>
          <a:ln/>
        </p:spPr>
        <p:txBody>
          <a:bodyPr wrap="square" lIns="50800" tIns="50800" rIns="76200" bIns="5080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Mycelial growth at 10 DAI ranged from 8.33 mm to 90.00 mm (control).</a:t>
            </a:r>
            <a:endParaRPr lang="en-US" sz="16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inhibition by </a:t>
            </a:r>
            <a:r>
              <a:rPr lang="en-US" sz="16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asperellum</a:t>
            </a:r>
            <a:r>
              <a:rPr lang="en-US" sz="16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(90.74%), statistically similar to </a:t>
            </a:r>
            <a:r>
              <a:rPr lang="en-US" sz="16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harzianum</a:t>
            </a:r>
            <a:r>
              <a:rPr lang="en-US" sz="16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(88.15%).</a:t>
            </a:r>
            <a:endParaRPr lang="en-US" sz="16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viride</a:t>
            </a:r>
            <a:r>
              <a:rPr lang="en-US" sz="16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gave the lowest inhibition (65.93%) and was moderately effective.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607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9.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Antagonistic effect of fungal bioagents on radial mycelial growth inhibition (%) of </a:t>
            </a:r>
            <a:r>
              <a:rPr lang="en-US" sz="110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sp. at 10 DAI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pic" idx="101" hasCustomPrompt="1"/>
          </p:nvPr>
        </p:nvSpPr>
        <p:spPr>
          <a:xfrm>
            <a:off x="548640" y="1481328"/>
            <a:ext cx="2624328" cy="2624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" name="Text 1"/>
          <p:cNvSpPr/>
          <p:nvPr>
            <p:ph type="pic" idx="102" hasCustomPrompt="1"/>
          </p:nvPr>
        </p:nvSpPr>
        <p:spPr>
          <a:xfrm>
            <a:off x="3364992" y="1481328"/>
            <a:ext cx="2624328" cy="2624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type="pic" idx="103" hasCustomPrompt="1"/>
          </p:nvPr>
        </p:nvSpPr>
        <p:spPr>
          <a:xfrm>
            <a:off x="6181344" y="1481328"/>
            <a:ext cx="2624328" cy="2624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type="pic" idx="104" hasCustomPrompt="1"/>
          </p:nvPr>
        </p:nvSpPr>
        <p:spPr>
          <a:xfrm>
            <a:off x="8997696" y="1481328"/>
            <a:ext cx="2624328" cy="2624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IN VITRO EVALUATION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 Dual culture plates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605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harzianum</a:t>
            </a: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(AB935952) vs </a:t>
            </a:r>
            <a:r>
              <a:rPr lang="en-US" sz="12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364992" y="41605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viride</a:t>
            </a: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(TV6) vs </a:t>
            </a:r>
            <a:r>
              <a:rPr lang="en-US" sz="12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181344" y="41605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asperellum</a:t>
            </a: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(AB935955) vs </a:t>
            </a:r>
            <a:r>
              <a:rPr lang="en-US" sz="12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97696" y="41605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</a:t>
            </a:r>
            <a:r>
              <a:rPr lang="en-US" sz="12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91672" cy="68580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5720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Mycelial growth inhibition at 10 DAI:   </a:t>
            </a:r>
            <a:r>
              <a:rPr lang="en-US" sz="15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asperellum</a:t>
            </a: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90.74%   ·   </a:t>
            </a:r>
            <a:r>
              <a:rPr lang="en-US" sz="15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harzianum</a:t>
            </a: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88.15%   ·   </a:t>
            </a:r>
            <a:r>
              <a:rPr lang="en-US" sz="15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viride</a:t>
            </a: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65.93%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5321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10.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Antagonistic effect of fungal bioagents on radial mycelial growth of </a:t>
            </a:r>
            <a:r>
              <a:rPr lang="en-US" sz="110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sp. causing leaf spot of roselle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POT EXPERIMENT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 Leaf disease incidence and severity (pot)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5.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different treatments on disease incidence (DI) and disease severity (DS) percentage of roselle plant under pot experiment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87118"/>
                <a:gridCol w="2087118"/>
                <a:gridCol w="2087118"/>
                <a:gridCol w="2087118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(%) 90 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 (%) 90 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(%) 180 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 (%) 180 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 =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53.91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31.33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73.41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39.33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= Nativo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14.04 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21.93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= Tilt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12.10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5.33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15.98 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8.67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= Folicur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16.70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8.67 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25.65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13.33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harzianum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22.67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12.67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31.36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viride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26.48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14.67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38.62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18.67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asperellum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20.89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29.69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16.67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937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followed by the same letter(s) in a column did not differ significantly at the 5% level (Tukey’s HSD).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5596128"/>
            <a:ext cx="11091672" cy="530352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596128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(Tilt 250 EC) gave the lowest leaf disease incidence and severity at both 90 and 180 DAS; among the bioagents, </a:t>
            </a:r>
            <a:r>
              <a:rPr lang="en-US" sz="13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asperellum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(T6) was the most effective.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POT EXPERIMENT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 Plant growth at 90 DAS (pot)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6.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different treatments on various agronomic parameters of roselle at 90 DAS under pot experiment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87118"/>
                <a:gridCol w="2087118"/>
                <a:gridCol w="2087118"/>
                <a:gridCol w="2087118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height (cm)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diameter (mm)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no.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leaf weight (g)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 =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55.20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12.67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17.67 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= Nativo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86.40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25.33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35.33 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40.61 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= Tilt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93.10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27.33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37.67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44.15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= Folicur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76.81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21.67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31.33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35.19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harzianum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67.33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 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23.00 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28.14 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viride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66.30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20.67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24.44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asperellum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71.17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19.33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26.33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31.37 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937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followed by the same letter(s) in a column did not differ significantly at the 5% level (Tukey’s HSD).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5596128"/>
            <a:ext cx="11091672" cy="530352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596128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(Tilt 250 EC) recorded the highest values for all growth parameters, statistically at par with T1 (Nativo 75 WG); </a:t>
            </a:r>
            <a:r>
              <a:rPr lang="en-US" sz="13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asperellum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the best bioagent.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POT EXPERIMENT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 Plant growth at 180 DAS (pot)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7.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different treatments on various agronomic parameters of roselle at 180 DAS under pot experiment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69694"/>
                <a:gridCol w="1669694"/>
                <a:gridCol w="1669694"/>
                <a:gridCol w="1669694"/>
                <a:gridCol w="1669694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height (cm)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diameter (mm)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branch no.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no.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leaf weight (g)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 =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105.77 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28.17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43.33 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73.77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= Nativo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152.77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43.33 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7.67 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146.41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= Tilt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165.33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47.33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101.67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167.86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= Folicur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146.33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39.67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6.33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79.33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138.13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harzianum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130.13 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35.33 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58.00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103.91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viride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121.09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33.50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5.33 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52.67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87.61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asperellum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138.38 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36.67 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6.33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71.67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114.82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937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followed by the same letter(s) in a column did not differ significantly at the 5% level (Tukey’s HSD).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5596128"/>
            <a:ext cx="11091672" cy="530352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596128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(Tilt 250 EC) recorded the highest values for all growth parameters at 180 DAS; </a:t>
            </a:r>
            <a:r>
              <a:rPr lang="en-US" sz="13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asperellum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performed best among the bioagents.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FIELD EXPERIMENT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 Leaf disease incidence and severity (field)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8.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different treatments on disease incidence (DI) and disease severity (DS) percentage of roselle plant under field condition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87118"/>
                <a:gridCol w="2087118"/>
                <a:gridCol w="2087118"/>
                <a:gridCol w="2087118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(%) 90 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 (%) 90 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(%) 180 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 (%) 180 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 =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56.33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33.33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77.30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57.33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= Nativo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18.24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8.67 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24.79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14.67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= Tilt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14.59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6.67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17.46 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 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= Folicur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19.64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11.33 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29.67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15.33 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harzianum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26.63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15.33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35.34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19.33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viride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23.70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32.71 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 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asperellum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30.14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16.67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39.51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937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followed by the same letter(s) in a column did not differ significantly at the 5% level (Tukey’s HSD).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5596128"/>
            <a:ext cx="11091672" cy="530352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596128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(Tilt 250 EC) again gave the lowest leaf disease incidence and severity; among the bioagents, </a:t>
            </a:r>
            <a:r>
              <a:rPr lang="en-US" sz="13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viride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(T5) performed best under field conditions.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FIELD EXPERIMENT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4.10 Plant growth at 90 DAS (field)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9.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different treatments on various agronomic parameters of roselle at 90 DAS under field experiment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69694"/>
                <a:gridCol w="1669694"/>
                <a:gridCol w="1669694"/>
                <a:gridCol w="1669694"/>
                <a:gridCol w="1669694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height (cm)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diameter (mm)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branch no.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 of leaves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fresh weight (g)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 =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70.55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26.67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5.33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46.67 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61.50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= Nativo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97.15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35.33 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8.67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65.67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72.60 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= Tilt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103.05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38.33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69.33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75.80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= Folicur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93.49 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33.33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7.33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59.33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70.60 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harzianum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80.17 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28.67 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54.33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viride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76.44 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28.67 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6.67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52.00 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64.50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asperellum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86.23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31.00 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57.33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68.60 abc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937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followed by the same letter(s) in a column did not differ significantly at the 5% level (Tukey’s HSD).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5596128"/>
            <a:ext cx="11091672" cy="530352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596128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(Tilt 250 EC) recorded the highest values for all growth parameters at 90 DAS; </a:t>
            </a:r>
            <a:r>
              <a:rPr lang="en-US" sz="13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asperellum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generally the best bioagent.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FIELD EXPERIMENT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4.10 Plant growth at 180 DAS (field)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10.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different treatments on various agronomic parameters of roselle at 180 DAS under field experiment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69694"/>
                <a:gridCol w="1669694"/>
                <a:gridCol w="1669694"/>
                <a:gridCol w="1669694"/>
                <a:gridCol w="1669694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height (cm)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diameter (mm)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branch no.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 of leaves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fresh weight (g)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 =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118.64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44.33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8.33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124.00 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154.47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= Nativo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151.33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54.43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13.67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154.67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184.23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= Tilt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172.88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63.33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16.67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163.00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196.28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= Folicur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148.30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53.67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12.67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147.33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179.72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harzianum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129.74 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51.33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138.33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171.13 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viride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124.73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49.00 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11.33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133.67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169.33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asperellum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140.44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52.67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12.33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144.67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175.91 bcd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937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followed by the same letter(s) in a column did not differ significantly at the 5% level (Tukey’s HSD).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5596128"/>
            <a:ext cx="11091672" cy="530352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596128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(Tilt 250 EC) recorded the highest values for all growth parameters at 180 DAS; </a:t>
            </a:r>
            <a:r>
              <a:rPr lang="en-US" sz="13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asperellum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the best bioagent.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POT EXPERIMENT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4.11 Calyx disease incidence and severity (pot)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11.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different treatments on disease incidence (DI) and disease severity (DS) percentage of roselle calyx under pot experiment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87118"/>
                <a:gridCol w="2087118"/>
                <a:gridCol w="2087118"/>
                <a:gridCol w="2087118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(%) 90 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(%) 180 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 (%) 90 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 (%) 180 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 =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27.67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26.00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= Nativo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5.33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= Tilt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= Folicur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harzianum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7.67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viride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asperellum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937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followed by the same letter(s) in a column did not differ significantly at the 5% level (Tukey’s HSD).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5596128"/>
            <a:ext cx="11091672" cy="530352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596128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(Tilt 250 EC) recorded the lowest calyx disease incidence and severity at both stages; </a:t>
            </a:r>
            <a:r>
              <a:rPr lang="en-US" sz="13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harzianum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(T4) was the most effective bioagent.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FIELD EXPERIMENT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4.12 Calyx disease incidence and severity (field)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12.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different treatments on disease incidence (DI) and disease severity (DS) percentage of roselle calyx under field condition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87118"/>
                <a:gridCol w="2087118"/>
                <a:gridCol w="2087118"/>
                <a:gridCol w="2087118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(%) 90 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(%) 180 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 (%) 90 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 (%) 180 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 =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52.00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34.00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= Nativo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7.20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9.20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= Tilt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8.80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= Folicur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 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harzianum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viride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asperellum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937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followed by the same letter(s) in a column did not differ significantly at the 5% level (Tukey’s HSD).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5596128"/>
            <a:ext cx="11091672" cy="530352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596128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(Tilt 250 EC) gave the lowest calyx disease incidence at both stages and the lowest severity at 180 DAS; at 90 DAS, severity did not differ among the treatments.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FIELD EXPERIMENT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4.13 Yield attributes at 90 DAS (field)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13.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different treatments on various agronomic parameters of roselle at 90 DAS under field condition</a:t>
            </a:r>
            <a:endParaRPr lang="en-US" sz="11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82824"/>
                <a:gridCol w="2782824"/>
                <a:gridCol w="2782824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 no./plant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Capsule fresh weight (g/plant)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Calyx fresh weight (g/plant)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 =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17.67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21.61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15.56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= Nativo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30.33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51.13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41.25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= Tilt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32.33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55.45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45.14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= Folicur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25.33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40.26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29.55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harzianum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24.67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31.28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26.17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viride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22.33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28.66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23.09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asperellum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37.14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28.04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937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followed by the same letter(s) in a column did not differ significantly at the 5% level (Tukey’s HSD).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5596128"/>
            <a:ext cx="11091672" cy="530352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596128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(Tilt 250 EC) gave the highest yield attributes, at par with T1 (Nativo 75 WG); its calyx weight was about 2.9 times that of the control.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FIELD EXPERIMENT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4.13 Yield attributes at 180 DAS (field)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14.  </a:t>
            </a:r>
            <a:r>
              <a:rPr lang="en-US" sz="11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different treatments on various agronomic parameters of roselle at 180 DAS under field condition</a:t>
            </a:r>
            <a:endParaRPr lang="en-US" sz="11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82824"/>
                <a:gridCol w="2782824"/>
                <a:gridCol w="2782824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 no./plant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Capsule fresh weight (g/plant)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Calyx fresh weight (g/plant)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 =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183.67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605.20 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377.31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= Nativo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251.67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926.70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677.82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= Tilt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289.33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1071.30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820.14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= Folicur 500 ppm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249.67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894.30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628.64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harzianum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225.33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786.20 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530.98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viride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215.33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710.44 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451.23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 = </a:t>
                      </a:r>
                      <a:r>
                        <a:rPr lang="en-US" sz="1250" i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asperellum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242.00 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831.60 cd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549.51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937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followed by the same letter(s) in a column did not differ significantly at the 5% level (Tukey’s HSD).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5596128"/>
            <a:ext cx="11091672" cy="530352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596128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(Tilt 250 EC) gave the highest yield; calyx weight (820.14 g/plant) was more than double the control (377.31 g/plant). </a:t>
            </a:r>
            <a:r>
              <a:rPr lang="en-US" sz="13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asperellum</a:t>
            </a: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the best bioagent.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955280" y="150876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7A5C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834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and Conclusions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 ·  Conclusions  ·  Recommendations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discussion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9824" cy="210312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373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vitro versus in planta efficacy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3172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 250 EC needed a higher dose than Nativo 75 WG for complete inhibition in vitro, but gave the best control on plants, consistent with Teramoto et al. (2011).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488" y="1508760"/>
            <a:ext cx="5449824" cy="210312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08" y="1783080"/>
            <a:ext cx="457200" cy="45720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480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04888" y="17373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Variation in bioagent performance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104888" y="233172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asperellum</a:t>
            </a: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the most effective bioagent in dual culture and in pots, whereas </a:t>
            </a:r>
            <a:r>
              <a:rPr lang="en-US" sz="14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viride</a:t>
            </a: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4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harzianum</a:t>
            </a: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performed better in the field.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49824" cy="210312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0233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promotion by </a:t>
            </a:r>
            <a:r>
              <a:rPr lang="en-US" sz="1700" b="1" i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Trichoderma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61772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asperellum</a:t>
            </a: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gave the best growth and yield among the bioagents, possibly through root colonization and induced resistance.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90488" y="3794760"/>
            <a:ext cx="5449824" cy="210312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4808" y="4069080"/>
            <a:ext cx="457200" cy="45720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64808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04888" y="40233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Species identity unresolved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104888" y="461772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Conidial size points to </a:t>
            </a:r>
            <a:r>
              <a:rPr lang="en-US" sz="14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malayensis</a:t>
            </a: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sequencing of ITS, tef1 and actin or calmodulin genes is required for confirmation.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758952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55064"/>
            <a:ext cx="411480" cy="41148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55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481328"/>
            <a:ext cx="9994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spot of roselle in Mymensingh and Tangail is caused by </a:t>
            </a:r>
            <a:r>
              <a:rPr lang="en-US" sz="16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sp.; this is the first such study in Bangladesh.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68296"/>
            <a:ext cx="11091672" cy="758952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542032"/>
            <a:ext cx="411480" cy="41148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368296"/>
            <a:ext cx="9994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pathogen grows best at 20–22 °C and infects intact leaves within 4 days.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255264"/>
            <a:ext cx="11091672" cy="758952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429000"/>
            <a:ext cx="411480" cy="41148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255264"/>
            <a:ext cx="9994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vitro, Nativo 75 WG, Tilt 250 EC and Bavistin 50 WP gave 100% inhibition at ≤ 500 ppm; </a:t>
            </a:r>
            <a:r>
              <a:rPr lang="en-US" sz="16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asperellum</a:t>
            </a: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6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harzianum</a:t>
            </a: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gave about 90% inhibition.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142232"/>
            <a:ext cx="11091672" cy="758952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315968"/>
            <a:ext cx="411480" cy="41148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315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142232"/>
            <a:ext cx="9994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 250 EC @ 500 ppm, sprayed from 60 DAS at 25-day intervals, gave the best control and more than doubled calyx yield.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091672" cy="758952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5202936"/>
            <a:ext cx="411480" cy="411480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5202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029200"/>
            <a:ext cx="9994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Trichoderma</a:t>
            </a: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spp. are promising, farmer-friendly options for integrated management.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and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9824" cy="210312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92481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7830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Molecular identification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4231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Multilocus sequencing (ITS, tef1, actin or calmodulin) to identify the species.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90488" y="1508760"/>
            <a:ext cx="5449824" cy="210312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1783080"/>
            <a:ext cx="566928" cy="56692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192481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42048" y="17830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management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242048" y="24231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</a:t>
            </a:r>
            <a:r>
              <a:rPr lang="en-US" sz="15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Trichoderma</a:t>
            </a: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reduced fungicide programmes to limit fungicide resistance.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449824" cy="210312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069080"/>
            <a:ext cx="566928" cy="56692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421081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40690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resistance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47091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roselle varieties for resistance to </a:t>
            </a:r>
            <a:r>
              <a:rPr lang="en-US" sz="15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Cercospora</a:t>
            </a: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leaf spot.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190488" y="3794760"/>
            <a:ext cx="5449824" cy="2103120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4069080"/>
            <a:ext cx="566928" cy="566928"/>
          </a:xfrm>
          <a:prstGeom prst="ellipse">
            <a:avLst/>
          </a:prstGeom>
          <a:solidFill>
            <a:srgbClr val="1E4D3A"/>
          </a:solidFill>
          <a:ln w="12700">
            <a:solidFill>
              <a:srgbClr val="1E4D3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21081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42048" y="40690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 assessment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242048" y="47091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diagrammatic severity scale; multi-season, multi-location trials.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55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955280" y="150876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103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5C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394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research was supported by BAURES Project No. 111/BAU/2024 and the NST Fellowship, Ministry of Science and Technology.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Department of Plant Pathology, Bangladesh Agricultural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 Thesis Defence: Cercospora leaf spot of roselle</dc:title>
  <dc:subject>PptxGenJS Presentation</dc:subject>
  <dc:creator>Nisha Mazumder</dc:creator>
  <cp:lastModifiedBy>Nisha Mazumder</cp:lastModifiedBy>
  <cp:revision>1</cp:revision>
  <dcterms:created xsi:type="dcterms:W3CDTF">2026-10-27T10:29:55Z</dcterms:created>
  <dcterms:modified xsi:type="dcterms:W3CDTF">2026-10-27T10:29:55Z</dcterms:modified>
</cp:coreProperties>
</file>