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discount %</c:v>
                </c:pt>
              </c:strCache>
            </c:strRef>
          </c:tx>
          <c:spPr>
            <a:solidFill>
              <a:srgbClr val="0F7C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On-Demand</c:v>
                  </c:pt>
                  <c:pt idx="1">
                    <c:v>Savings Plans</c:v>
                  </c:pt>
                  <c:pt idx="2">
                    <c:v>Reserved Instances</c:v>
                  </c:pt>
                  <c:pt idx="3">
                    <c:v>Spot Instances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72</c:v>
                </c:pt>
                <c:pt idx="2">
                  <c:v>72</c:v>
                </c:pt>
                <c:pt idx="3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22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session covers what the cloud is, how it is delivered, what it costs, how to keep it secure, and ends with a hands-on lab. About 60–75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flow. Each block builds on the previous one; the lab at the end ties 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based on NIST SP 800-145. Emphasise elasticity and metered billing: they are what make cloud different from a rented data-centre 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Pizza analogy: IaaS = buy ingredients and bake at home, PaaS = takeaway, SaaS = dine in. Serverless (FaaS, e.g. AWS Lambda) sits between PaaS and SaaS.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enterprises today run hybrid or multi-cloud. Startups usually begin on a single public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the concept once, then map it to each provider. Service names change over time; always check current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SaaS the provider owns almost everything except your data and users. With IaaS you own the OS upward.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'up to' values from AWS pricing pages; Azure and GCP offer equivalents (Reserved VM Instances, Committed Use Discounts, Spot/Preemptible). Tip: set a billing alarm on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as Code (Terraform, CloudFormation) sits alongside this pipeline so infrastructure changes are reviewed like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do three things: MFA on root, least-privilege IAM, and a billing alarm.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Bucket names are global, so add a date or initials. Keep the bucket private and serve through CloudFront OAC, not a public bucket policy. Always clean up to avoid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Projects beat certificates: publish each project on GitHub with a README and an architecture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Point Nisha to the DOCX handout for deeper notes and exercises, and the PDF quick-reference for revision.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0F7C8C">
              <a:alpha val="30000"/>
            </a:srgbClr>
          </a:solidFill>
          <a:ln w="12700">
            <a:solidFill>
              <a:srgbClr val="1226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F4A259">
              <a:alpha val="20000"/>
            </a:srgbClr>
          </a:solidFill>
          <a:ln w="12700">
            <a:solidFill>
              <a:srgbClr val="12263A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KIT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 Essentials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core concepts to your first deployment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Nisha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blocks, about 75 minutes including the lab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6852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1554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 is and the five NIST traits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47288" y="1554480"/>
            <a:ext cx="502920" cy="50292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47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93208" y="1554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47288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deployment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47288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SaaS; public, private, hybrid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71616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54496" y="1554480"/>
            <a:ext cx="502920" cy="50292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255" y="168523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00416" y="1554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54496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54496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database, networking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37687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286000" y="32461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cost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responsibility, pricing models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64408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447288" y="3246120"/>
            <a:ext cx="502920" cy="50292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047" y="337687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93208" y="32461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3447288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&amp; DevOps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3447288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Kubernetes, CI/CD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071616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54496" y="3246120"/>
            <a:ext cx="502920" cy="50292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255" y="3376879"/>
            <a:ext cx="241402" cy="2414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900416" y="32461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6254496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6254496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 static website in ~20 minutes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computing?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access to shared computing resources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storage, databases, networking and software delivered over the internet, provisioned in minutes and billed for what you use.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don't buy: turn capital expense into operating expense.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NIST characteristics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438912" cy="438912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117" y="1668597"/>
            <a:ext cx="210678" cy="2106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166360" y="1536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self-service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7739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without a human in the loop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2157984"/>
            <a:ext cx="438912" cy="438912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117" y="2272101"/>
            <a:ext cx="210678" cy="21067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21396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network access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23774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it from any device, anywhere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0" y="2761488"/>
            <a:ext cx="438912" cy="438912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117" y="2875605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6360" y="2743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pooling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29809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hardware shared securely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0" y="3364992"/>
            <a:ext cx="438912" cy="438912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117" y="3479109"/>
            <a:ext cx="210678" cy="21067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66360" y="3346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elasticity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166360" y="35844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and in with demand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0" y="3968496"/>
            <a:ext cx="438912" cy="438912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117" y="4082613"/>
            <a:ext cx="210678" cy="21067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166360" y="39502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service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166360" y="4187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usage, pay-as-you-go billing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models: who manages what?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right, you manage less and the provider manages more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D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6971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572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OS, runtime, app, data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29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Azure VMs, Compute Engine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64408" y="132588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D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93008" y="1554480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654" y="16971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178808" y="1572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3493008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493008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app code and data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493008" y="3429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3493008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Beanstalk, App Service, App Engine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71616" y="132588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D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0216" y="1554480"/>
            <a:ext cx="548640" cy="54864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862" y="1697126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86016" y="1572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800" dirty="0"/>
          </a:p>
        </p:txBody>
      </p:sp>
      <p:sp>
        <p:nvSpPr>
          <p:cNvPr id="24" name="Text 19"/>
          <p:cNvSpPr txBox="1"/>
          <p:nvPr/>
        </p:nvSpPr>
        <p:spPr>
          <a:xfrm>
            <a:off x="6300216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300216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users and settings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300216" y="3429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300216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Microsoft 365, Salesforce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08760"/>
            <a:ext cx="731520" cy="73152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698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cloud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828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provider infrastructure (AWS, Azure, GCP). Fastest start, no hardware.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508760"/>
            <a:ext cx="731520" cy="73152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955" y="169895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9788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cloud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897880" y="1828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to one organisation, on-prem or hosted. More control, higher cost.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246120"/>
            <a:ext cx="731520" cy="73152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343631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cloud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566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+ public, connected. Keep sensitive data local, burst to public.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37760" y="3246120"/>
            <a:ext cx="731520" cy="73152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955" y="343631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9788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897880" y="3566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public providers. Avoids lock-in, adds operational complexity.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building blocks across providers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concepts, different names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210312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Azure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/ Aurora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/ Bigtable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Run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Kubernetes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Entra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responsibility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partnership, and the split moves with the service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4630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security IN the cloud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identities &amp; access, app code, OS patching (IaaS), network rules, encryption settings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29184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50581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31546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security OF the cloud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centres, hardware, host virtualisation, global network, managed-service internals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943600" y="1325880"/>
            <a:ext cx="2743200" cy="3200400"/>
          </a:xfrm>
          <a:prstGeom prst="rect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26480" y="150876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cloud breaches are customer-side misconfigurations: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storage buckets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Over-privileged IAM roles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access keys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security groups (0.0.0.0/0)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models: pay less for commitment or flexibility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published maximum discounts versus On-Demand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7784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6184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commitment. Best for spiky or unknown workloads.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404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Plans / RIs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 3 year commitment. Best for steady baseline load.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3483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3776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capacity, can be reclaimed at 2 minutes' notice. Batch jobs, CI runners.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delivery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modern teams ship to the cloud many times a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0392" y="1600200"/>
            <a:ext cx="822960" cy="82296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814170"/>
            <a:ext cx="395021" cy="3950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83080" y="2011680"/>
            <a:ext cx="658368" cy="0"/>
          </a:xfrm>
          <a:prstGeom prst="line">
            <a:avLst/>
          </a:prstGeom>
          <a:noFill/>
          <a:ln w="25400">
            <a:solidFill>
              <a:srgbClr val="5E7A86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457200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pull requests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51176" y="1600200"/>
            <a:ext cx="822960" cy="82296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146" y="1814170"/>
            <a:ext cx="395021" cy="39502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83864" y="2011680"/>
            <a:ext cx="658368" cy="0"/>
          </a:xfrm>
          <a:prstGeom prst="line">
            <a:avLst/>
          </a:prstGeom>
          <a:noFill/>
          <a:ln w="25400">
            <a:solidFill>
              <a:srgbClr val="5E7A86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2157984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157984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GitHub Actions, Jenkins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51960" y="1600200"/>
            <a:ext cx="822960" cy="82296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930" y="1814170"/>
            <a:ext cx="395021" cy="39502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184648" y="2011680"/>
            <a:ext cx="658368" cy="0"/>
          </a:xfrm>
          <a:prstGeom prst="line">
            <a:avLst/>
          </a:prstGeom>
          <a:noFill/>
          <a:ln w="25400">
            <a:solidFill>
              <a:srgbClr val="5E7A86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3858768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858768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+ scan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52744" y="1600200"/>
            <a:ext cx="822960" cy="82296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714" y="1814170"/>
            <a:ext cx="395021" cy="39502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85432" y="2011680"/>
            <a:ext cx="658368" cy="0"/>
          </a:xfrm>
          <a:prstGeom prst="line">
            <a:avLst/>
          </a:prstGeom>
          <a:noFill/>
          <a:ln w="25400">
            <a:solidFill>
              <a:srgbClr val="5E7A86"/>
            </a:solidFill>
            <a:prstDash val="solid"/>
            <a:tailEnd type="triangle"/>
          </a:ln>
        </p:spPr>
      </p:sp>
      <p:sp>
        <p:nvSpPr>
          <p:cNvPr id="22" name="Text 16"/>
          <p:cNvSpPr txBox="1"/>
          <p:nvPr/>
        </p:nvSpPr>
        <p:spPr>
          <a:xfrm>
            <a:off x="5559552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559552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GitOps (Argo CD)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653528" y="1600200"/>
            <a:ext cx="822960" cy="82296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498" y="1814170"/>
            <a:ext cx="395021" cy="3950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60336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260336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traces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B3850"/>
          </a:solidFill>
          <a:ln w="12700">
            <a:solidFill>
              <a:srgbClr val="1B385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8580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security left. Scan code (SonarQube), dependencies and images (Trivy, OWASP) inside the pipeline, before anything reaches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essentials: the day-one checklist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14008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root account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MFA, then stop using it for daily work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234440"/>
            <a:ext cx="640080" cy="64008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61" y="14008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IAM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what each role needs, review often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640080" cy="64008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25438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everywhere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 (KMS) and in transit (TLS)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2377440"/>
            <a:ext cx="640080" cy="64008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861" y="254386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code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secrets manager, rotate keys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1" y="3686861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logging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28016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/ Activity Log, alerts on anomalies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663440" y="3520440"/>
            <a:ext cx="640080" cy="64008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861" y="3686861"/>
            <a:ext cx="307238" cy="30723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&amp; test restore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Snapshots, versioning, multi-AZ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lab: host a static website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20 minutes, within the AWS Free Tier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80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S3 bucket with a globally unique name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index.html and error.html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84048" cy="38404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77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static website hosting on the bucket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926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CloudFront distribution with Origin Access Control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74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CloudFront URL and confirm the page loads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84048" cy="384048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023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up: delete the distribution and the bucket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1280160"/>
            <a:ext cx="3200400" cy="31089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0" y="14630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the CLI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s3 mb s3://nisha-site-2026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s3 sync ./site s3://nisha-site-2026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s3 website s3://nisha-site-2026 --index-document index.html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learning path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7315200" cy="0"/>
          </a:xfrm>
          <a:prstGeom prst="line">
            <a:avLst/>
          </a:prstGeom>
          <a:noFill/>
          <a:ln w="38100">
            <a:solidFill>
              <a:srgbClr val="0F7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691640"/>
            <a:ext cx="365760" cy="365760"/>
          </a:xfrm>
          <a:prstGeom prst="ellipse">
            <a:avLst/>
          </a:prstGeom>
          <a:solidFill>
            <a:srgbClr val="0F7C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" y="233172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43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Practitioner or AZ-900. Linux, networking basics, Git.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5760" cy="365760"/>
          </a:xfrm>
          <a:prstGeom prst="ellipse">
            <a:avLst/>
          </a:prstGeom>
          <a:solidFill>
            <a:srgbClr val="0F7C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Architect Associate. Build 3 small projects with IaC.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1691640"/>
            <a:ext cx="365760" cy="365760"/>
          </a:xfrm>
          <a:prstGeom prst="ellipse">
            <a:avLst/>
          </a:prstGeom>
          <a:solidFill>
            <a:srgbClr val="F4A25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33172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751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(CKA), DevOps, or Cloud AI (ML/GenAI services).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Essentials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325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= on-demand, elastic, metered resources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1952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18562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service model that minimises what you must manage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32304"/>
            <a:ext cx="292608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23865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security IN the cloud: IAM, data, configuration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62656"/>
            <a:ext cx="292608" cy="29260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05840" y="29169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pricing to workload shape and set billing alarms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93008"/>
            <a:ext cx="292608" cy="29260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05840" y="34472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everything: IaC, CI/CD, observability</a:t>
            </a:r>
            <a:endParaRPr lang="en-US" sz="1500" dirty="0"/>
          </a:p>
        </p:txBody>
      </p:sp>
      <p:sp>
        <p:nvSpPr>
          <p:cNvPr id="13" name="Shape 6"/>
          <p:cNvSpPr/>
          <p:nvPr/>
        </p:nvSpPr>
        <p:spPr>
          <a:xfrm>
            <a:off x="6858000" y="1737360"/>
            <a:ext cx="1737360" cy="1737360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6858000" y="17373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30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 and quick-reference guide included in this kit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Essentials — Session for Nisha</dc:title>
  <dc:subject>PptxGenJS Presentation</dc:subject>
  <dc:creator>Bipro Barai</dc:creator>
  <cp:lastModifiedBy>Bipro Barai</cp:lastModifiedBy>
  <cp:revision>1</cp:revision>
  <dcterms:created xsi:type="dcterms:W3CDTF">2026-09-27T04:22:12Z</dcterms:created>
  <dcterms:modified xsi:type="dcterms:W3CDTF">2026-09-27T04:22:12Z</dcterms:modified>
</cp:coreProperties>
</file>